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6256000" cy="9144000"/>
  <p:notesSz cx="9144000" cy="16256000"/>
  <p:embeddedFontLst>
    <p:embeddedFont>
      <p:font typeface="Liter" panose="020B0604020202020204" charset="0"/>
      <p:regular r:id="rId21"/>
    </p:embeddedFont>
    <p:embeddedFont>
      <p:font typeface="Quattrocento Sans" panose="020B0502050000020003" pitchFamily="3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11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Severity Score</c:v>
                </c:pt>
              </c:strCache>
            </c:strRef>
          </c:tx>
          <c:spPr>
            <a:solidFill>
              <a:srgbClr val="00D4FF"/>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SMS Metadata</c:v>
                </c:pt>
                <c:pt idx="1">
                  <c:v>OTP Exposure</c:v>
                </c:pt>
                <c:pt idx="2">
                  <c:v>Trust Abuse</c:v>
                </c:pt>
                <c:pt idx="3">
                  <c:v>Unauthorized Pair</c:v>
                </c:pt>
                <c:pt idx="4">
                  <c:v>Excess Permissions</c:v>
                </c:pt>
                <c:pt idx="5">
                  <c:v>Auth Weakness</c:v>
                </c:pt>
                <c:pt idx="6">
                  <c:v>Wireless Risks</c:v>
                </c:pt>
              </c:strCache>
            </c:strRef>
          </c:cat>
          <c:val>
            <c:numRef>
              <c:f>Sheet1!$B$2:$B$8</c:f>
              <c:numCache>
                <c:formatCode>General</c:formatCode>
                <c:ptCount val="7"/>
                <c:pt idx="0">
                  <c:v>75</c:v>
                </c:pt>
                <c:pt idx="1">
                  <c:v>95</c:v>
                </c:pt>
                <c:pt idx="2">
                  <c:v>70</c:v>
                </c:pt>
                <c:pt idx="3">
                  <c:v>60</c:v>
                </c:pt>
                <c:pt idx="4">
                  <c:v>65</c:v>
                </c:pt>
                <c:pt idx="5">
                  <c:v>85</c:v>
                </c:pt>
                <c:pt idx="6">
                  <c:v>55</c:v>
                </c:pt>
              </c:numCache>
            </c:numRef>
          </c:val>
          <c:extLst>
            <c:ext xmlns:c16="http://schemas.microsoft.com/office/drawing/2014/chart" uri="{C3380CC4-5D6E-409C-BE32-E72D297353CC}">
              <c16:uniqueId val="{00000000-E9F0-4C8F-8B8B-808F4FCFF9C7}"/>
            </c:ext>
          </c:extLst>
        </c:ser>
        <c:dLbls>
          <c:showLegendKey val="0"/>
          <c:showVal val="1"/>
          <c:showCatName val="0"/>
          <c:showSerName val="0"/>
          <c:showPercent val="0"/>
          <c:showBubbleSize val="0"/>
        </c:dLbls>
        <c:gapWidth val="67"/>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8B9DC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0E6F1"/>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901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Bluetooth MAP-Based SMS Monitoring and OTP Authentication Security Analysis. This research project was conducted as part of our Wireless and Mobile Security course at COMSATS University Islamabad, Wah Campus. Today we will demonstrate how Bluetooth MAP protocol vulnerabilities can expose SMS messages and OTP codes, and discuss the security implications of wireless communication protocols.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our project team. We are three cybersecurity students from COMSATS University Islamabad, Wah Campus, enrolled in the BS Cyber Security program. Each team member contributed to different aspects of this project including Bluetooth exploitation, web authentication development, dashboard creation, and security analysis.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the introduction to our project. Bluetooth Message Access Profile (MAP) is a Bluetooth protocol that enables message exchange between devices, commonly used in hands-free car systems, smartwatches, and other wearable devices. SMS-based OTP authentication is still widely used by banks, social media platforms, and online services. Our project investigates the security gap where Bluetooth MAP permissions, once granted, can be exploited to monitor SMS messages including OTP codes, potentially compromising two-factor authentication systems.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six primary project objectives. We aimed to comprehensively investigate Bluetooth MAP protocol vulnerabilities from discovery to mitigation. Each objective was designed to build upon the previous one, creating a complete security analysis pipeline from Bluetooth exploitation to real-time dashboard visualization and finally to security awareness and mitigation recommendations.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high-level overview of our project. We built an end-to-end security analysis system that combines Bluetooth exploitation tools with modern web authentication. The system operates in a controlled laboratory environment using Kali Linux with specialized Bluetooth tools, integrated with Firebase OTP authentication for realistic simulation, and provides a real-time monitoring dashboard for comprehensive security demonstration.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the system components used in our project. The hardware layer includes a Bluetooth USB adapter for wireless communication, an Android smartphone as the target device, and a Kali Linux machine as the attack platform. On the software side, we used standard Bluetooth utilities (bluetoothctl, hciconfig, sdptool), the mapAccountHijack Python tool for MAP exploitation, Firebase Authentication for OTP simulation, a Flask-based monitoring dashboard, and an HTML/CSS/JavaScript login portal as the target interface.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complete system architecture diagram. The flow begins with the Windows Login Portal where a user attempts to authenticate. The request goes to Firebase Authentication which sends an OTP via SMS to the Android Smartphone. Our attack system running on Kali Linux uses the Bluetooth MAP Service to connect to the smartphone via mapAccountHijack tool, intercepting the SMS messages. The intercepted data is then displayed on the Flask Dashboard for real-time security analysis.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covers the Bluetooth environment setup on Kali Linux. This foundational phase involves configuring the Bluetooth adapter using hciconfig to bring up the interface, setting the controller to discoverable mode using bluetoothctl, and verifying the adapter status. We also needed to ensure proper USB passthrough from the host to the virtual machine, which required installing the VirtualBox Extension Pack. This phase establishes the basic Bluetooth communication capability required for all subsequent phases.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focuses on MAP service discovery. Using bluetoothctl, we scan for nearby Bluetooth devices and identify our target Android smartphone. After pairing with the device, we use sdptool to search for the MAP service record on the target. This reveals the service record handle and the MAP message folder structure, which provides the connection parameters needed for MAP communication. The three primary tools used are bluetoothctl for device management, hciconfig for adapter configuration, and sdptool for service discovery.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is the core SMS monitoring phase where we use the mapAccountHijack tool to actively exploit the Bluetooth MAP service. This Python-based tool connects to the target device's MAP service and provides several capabilities: SMS monitoring to read incoming and outgoing messages, folder access to navigate through inbox, sent, and drafts folders, metadata retrieval to get sender information and timestamps, and real-time event monitoring to capture new messages as they arrive. This phase demonstrates the actual security vulnerability of Bluetooth MAP permissions.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covers the OTP authentication simulation. We built a responsive login portal using HTML, CSS, and JavaScript with a modern UI design. The portal integrates Firebase Authentication for phone-based OTP verification, simulating a real-world authentication flow. The features include a login page, OTP verification screen, forgot password functionality, and password reset capability. This phase demonstrates how OTP codes sent via SMS can be intercepted by our Bluetooth MAP monitoring system, highlighting the vulnerability of SMS-based two-factor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covers the Flask Dashboard development. We built a comprehensive real-time monitoring dashboard using the Python Flask framework. The dashboard communicates with the mapAccountHijack tool via HTTP JSON endpoints to receive intercepted SMS data. It provides real-time event display showing incoming messages as they are intercepted, timestamp logging for each event, SMS activity monitoring with message counters, and an overall security analysis dashboard with threat metrics. This component serves as the visualization layer that makes the security vulnerabilities tangible and demonstrable.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first set of problems we encountered during development. Problem 1 was the Bluetooth adapter not being detected in VirtualBox, which we solved by installing the VirtualBox Extension Pack and manually attaching the USB adapter. Problem 2 involved the phone not being discoverable, resolved by enabling discoverability and pairing via bluetoothctl. Problem 3 was Python dependency errors due to Kali Linux package restrictions, which we fixed by creating a virtual environment. Problem 4 involved MAP tool installation issues related to Python compatibility, solved by installing required modules and adjusting the environment.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second set of problems encountered. Problem 5 was a Bluetooth service failure with "No such device" error, caused by the USB adapter disconnecting, which we fixed by reattaching and restarting the Bluetooth service. Problem 6 was Firebase's SMS testing limitation - Firebase testing mode does not send real SMS messages, so we used testing OTPs and separate controlled SMS demonstrations. Problem 7 was the dashboard not showing events due to backend communication mismatch between mapAccountHijack and Flask, which we resolved by implementing HTTP JSON communication between the components.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our comprehensive security analysis. We identified seven major threat vectors: SMS Metadata Exposure where attackers can read message sender and timestamp information, OTP Exposure allowing interception of authentication codes, Bluetooth Trust Abuse exploiting previously granted permissions, Unauthorized Pairing through social engineering, Excessive Permissions where MAP access grants more capability than needed, Authentication Weaknesses in SMS-based OTP systems, and general Wireless Communication Risks inherent to Bluetooth protocols. The risk analysis chart visualizes the severity of each threat.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mitigation strategies to address the identified Bluetooth MAP and OTP security vulnerabilities. These recommendations include: disabling Bluetooth when not needed to reduce attack surface, removing unused trusted devices to prevent abuse of old pairings, restricting MAP permissions on smartphones to limit exposure, using authenticator apps instead of SMS OTP, adopting hardware security keys for critical accounts, implementing stronger multi-factor authentication beyond SMS, and promoting user awareness about Bluetooth security risks.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all the results we achieved during this project. We successfully completed all eight major milestones: Bluetooth device pairing between Kali Linux and the Android smartphone, MAP service discovery using sdptool, Bluetooth communication establishment, SMS event monitoring with real-time interception, Flask dashboard integration for visualization, Firebase OTP authentication simulation, real-time visualization of intercepted data, and a comprehensive wireless security demonstration. These results validate our research objectives and demonstrate the practical security implications of Bluetooth MAP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concluding slide. The project successfully demonstrated Bluetooth MAP communication and SMS event monitoring in a controlled laboratory environment. Our research highlighted critical security implications of Bluetooth permissions and SMS-based authentication systems. The key takeaway is the importance of stronger multi-factor authentication methods that do not rely on SMS, such as authenticator apps and hardware security keys. We would now like to open the floor for any questions from the audience.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D1F"/>
        </a:solidFill>
        <a:effectLst/>
      </p:bgPr>
    </p:bg>
    <p:spTree>
      <p:nvGrpSpPr>
        <p:cNvPr id="1" name=""/>
        <p:cNvGrpSpPr/>
        <p:nvPr/>
      </p:nvGrpSpPr>
      <p:grpSpPr>
        <a:xfrm>
          <a:off x="0" y="0"/>
          <a:ext cx="0" cy="0"/>
          <a:chOff x="0" y="0"/>
          <a:chExt cx="0" cy="0"/>
        </a:xfrm>
      </p:grpSpPr>
      <p:pic>
        <p:nvPicPr>
          <p:cNvPr id="3" name="Image 0" descr="https://kimi-img.moonshot.cn/pub/slides/okc/ofj3fxaw5mk46/mnt/agents/output/bluetooth-security/images/4_Abstract_concepts_of_cybersecurity.png"/>
          <p:cNvPicPr>
            <a:picLocks noChangeAspect="1"/>
          </p:cNvPicPr>
          <p:nvPr/>
        </p:nvPicPr>
        <p:blipFill>
          <a:blip r:embed="rId3">
            <a:alphaModFix amt="30000"/>
          </a:blip>
          <a:srcRect l="44" r="44"/>
          <a:stretch/>
        </p:blipFill>
        <p:spPr>
          <a:xfrm>
            <a:off x="0" y="0"/>
            <a:ext cx="16256000" cy="9144000"/>
          </a:xfrm>
          <a:prstGeom prst="rect">
            <a:avLst/>
          </a:prstGeom>
        </p:spPr>
      </p:pic>
      <p:sp>
        <p:nvSpPr>
          <p:cNvPr id="4" name="Shape 0"/>
          <p:cNvSpPr/>
          <p:nvPr/>
        </p:nvSpPr>
        <p:spPr>
          <a:xfrm>
            <a:off x="0" y="0"/>
            <a:ext cx="16256000" cy="9144000"/>
          </a:xfrm>
          <a:prstGeom prst="rect">
            <a:avLst/>
          </a:prstGeom>
          <a:gradFill flip="none" rotWithShape="1">
            <a:gsLst>
              <a:gs pos="0">
                <a:srgbClr val="060D1F">
                  <a:alpha val="0"/>
                </a:srgbClr>
              </a:gs>
              <a:gs pos="50000">
                <a:srgbClr val="060D1F">
                  <a:alpha val="80000"/>
                </a:srgbClr>
              </a:gs>
              <a:gs pos="100000">
                <a:srgbClr val="060D1F"/>
              </a:gs>
            </a:gsLst>
            <a:lin ang="10800000" scaled="1"/>
          </a:gradFill>
          <a:ln/>
        </p:spPr>
      </p:sp>
      <p:sp>
        <p:nvSpPr>
          <p:cNvPr id="5" name="Shape 1"/>
          <p:cNvSpPr/>
          <p:nvPr/>
        </p:nvSpPr>
        <p:spPr>
          <a:xfrm>
            <a:off x="6858000" y="2286000"/>
            <a:ext cx="2540000" cy="38100"/>
          </a:xfrm>
          <a:prstGeom prst="rect">
            <a:avLst/>
          </a:prstGeom>
          <a:solidFill>
            <a:srgbClr val="00D4FF"/>
          </a:solidFill>
          <a:ln/>
        </p:spPr>
      </p:sp>
      <p:sp>
        <p:nvSpPr>
          <p:cNvPr id="6" name="Text 2"/>
          <p:cNvSpPr/>
          <p:nvPr/>
        </p:nvSpPr>
        <p:spPr>
          <a:xfrm>
            <a:off x="1524000" y="2540000"/>
            <a:ext cx="13208000" cy="1524000"/>
          </a:xfrm>
          <a:prstGeom prst="rect">
            <a:avLst/>
          </a:prstGeom>
          <a:noFill/>
          <a:ln/>
        </p:spPr>
        <p:txBody>
          <a:bodyPr wrap="square" lIns="0" tIns="0" rIns="0" bIns="0" rtlCol="0" anchor="ctr"/>
          <a:lstStyle/>
          <a:p>
            <a:pPr algn="ctr">
              <a:lnSpc>
                <a:spcPct val="120000"/>
              </a:lnSpc>
            </a:pPr>
            <a:r>
              <a:rPr lang="en-US" sz="4000" b="1" dirty="0">
                <a:solidFill>
                  <a:srgbClr val="FFFFFF"/>
                </a:solidFill>
                <a:latin typeface="Liter" pitchFamily="34" charset="0"/>
                <a:ea typeface="Liter" pitchFamily="34" charset="-122"/>
                <a:cs typeface="Liter" pitchFamily="34" charset="-120"/>
              </a:rPr>
              <a:t>Bluetooth MAP-Based SMS Monitoring</a:t>
            </a:r>
            <a:endParaRPr lang="en-US" sz="4000" dirty="0"/>
          </a:p>
          <a:p>
            <a:pPr algn="ctr">
              <a:lnSpc>
                <a:spcPct val="120000"/>
              </a:lnSpc>
            </a:pPr>
            <a:r>
              <a:rPr lang="en-US" sz="4000" b="1" dirty="0">
                <a:solidFill>
                  <a:srgbClr val="FFFFFF"/>
                </a:solidFill>
                <a:latin typeface="Liter" pitchFamily="34" charset="0"/>
                <a:ea typeface="Liter" pitchFamily="34" charset="-122"/>
                <a:cs typeface="Liter" pitchFamily="34" charset="-120"/>
              </a:rPr>
              <a:t>and OTP Authentication Security Analysis</a:t>
            </a:r>
            <a:endParaRPr lang="en-US" sz="4000" dirty="0"/>
          </a:p>
        </p:txBody>
      </p:sp>
      <p:sp>
        <p:nvSpPr>
          <p:cNvPr id="7" name="Shape 3"/>
          <p:cNvSpPr/>
          <p:nvPr/>
        </p:nvSpPr>
        <p:spPr>
          <a:xfrm>
            <a:off x="6858000" y="4318000"/>
            <a:ext cx="2540000" cy="38100"/>
          </a:xfrm>
          <a:prstGeom prst="rect">
            <a:avLst/>
          </a:prstGeom>
          <a:solidFill>
            <a:srgbClr val="00D4FF"/>
          </a:solidFill>
          <a:ln/>
        </p:spPr>
      </p:sp>
      <p:sp>
        <p:nvSpPr>
          <p:cNvPr id="8" name="Text 4"/>
          <p:cNvSpPr/>
          <p:nvPr/>
        </p:nvSpPr>
        <p:spPr>
          <a:xfrm>
            <a:off x="3048000" y="4572000"/>
            <a:ext cx="10160000" cy="508000"/>
          </a:xfrm>
          <a:prstGeom prst="rect">
            <a:avLst/>
          </a:prstGeom>
          <a:noFill/>
          <a:ln/>
        </p:spPr>
        <p:txBody>
          <a:bodyPr wrap="none" lIns="0" tIns="0" rIns="0" bIns="0" rtlCol="0" anchor="ctr"/>
          <a:lstStyle/>
          <a:p>
            <a:pPr algn="ctr">
              <a:lnSpc>
                <a:spcPct val="140000"/>
              </a:lnSpc>
            </a:pPr>
            <a:r>
              <a:rPr lang="en-US" sz="2000" dirty="0">
                <a:solidFill>
                  <a:srgbClr val="00D4FF"/>
                </a:solidFill>
                <a:latin typeface="Liter" pitchFamily="34" charset="0"/>
                <a:ea typeface="Liter" pitchFamily="34" charset="-122"/>
                <a:cs typeface="Liter" pitchFamily="34" charset="-120"/>
              </a:rPr>
              <a:t>Wireless and Mobile Security</a:t>
            </a:r>
            <a:endParaRPr lang="en-US" sz="2000" dirty="0"/>
          </a:p>
        </p:txBody>
      </p:sp>
      <p:sp>
        <p:nvSpPr>
          <p:cNvPr id="9" name="Text 5"/>
          <p:cNvSpPr/>
          <p:nvPr/>
        </p:nvSpPr>
        <p:spPr>
          <a:xfrm>
            <a:off x="3048000" y="7874000"/>
            <a:ext cx="10160000" cy="381000"/>
          </a:xfrm>
          <a:prstGeom prst="rect">
            <a:avLst/>
          </a:prstGeom>
          <a:noFill/>
          <a:ln/>
        </p:spPr>
        <p:txBody>
          <a:bodyPr wrap="none" lIns="0" tIns="0" rIns="0" bIns="0" rtlCol="0" anchor="ctr"/>
          <a:lstStyle/>
          <a:p>
            <a:pPr algn="ctr"/>
            <a:r>
              <a:rPr lang="en-US" dirty="0">
                <a:solidFill>
                  <a:srgbClr val="8B9DC3"/>
                </a:solidFill>
                <a:effectLst/>
                <a:latin typeface="QuattrocentoSans"/>
              </a:rPr>
              <a:t> University Of Wah</a:t>
            </a:r>
            <a:endParaRPr lang="en-US" dirty="0">
              <a:effectLst/>
            </a:endParaRPr>
          </a:p>
        </p:txBody>
      </p:sp>
      <p:sp>
        <p:nvSpPr>
          <p:cNvPr id="10" name="Shape 6"/>
          <p:cNvSpPr/>
          <p:nvPr/>
        </p:nvSpPr>
        <p:spPr>
          <a:xfrm>
            <a:off x="7670800" y="5334000"/>
            <a:ext cx="914400" cy="914400"/>
          </a:xfrm>
          <a:custGeom>
            <a:avLst/>
            <a:gdLst/>
            <a:ahLst/>
            <a:cxnLst/>
            <a:rect l="l" t="t" r="r" b="b"/>
            <a:pathLst>
              <a:path w="914400" h="914400">
                <a:moveTo>
                  <a:pt x="457200" y="0"/>
                </a:moveTo>
                <a:cubicBezTo>
                  <a:pt x="465415" y="0"/>
                  <a:pt x="473631" y="1786"/>
                  <a:pt x="481132" y="5179"/>
                </a:cubicBezTo>
                <a:lnTo>
                  <a:pt x="817602" y="147876"/>
                </a:lnTo>
                <a:cubicBezTo>
                  <a:pt x="856893" y="164485"/>
                  <a:pt x="886182" y="203240"/>
                  <a:pt x="886004" y="250031"/>
                </a:cubicBezTo>
                <a:cubicBezTo>
                  <a:pt x="885111" y="427196"/>
                  <a:pt x="812244" y="751344"/>
                  <a:pt x="504527" y="898684"/>
                </a:cubicBezTo>
                <a:cubicBezTo>
                  <a:pt x="474702" y="912971"/>
                  <a:pt x="440055" y="912971"/>
                  <a:pt x="410230" y="898684"/>
                </a:cubicBezTo>
                <a:cubicBezTo>
                  <a:pt x="102334" y="751344"/>
                  <a:pt x="29647" y="427196"/>
                  <a:pt x="28754" y="250031"/>
                </a:cubicBezTo>
                <a:cubicBezTo>
                  <a:pt x="28575" y="203240"/>
                  <a:pt x="57864" y="164485"/>
                  <a:pt x="97155" y="147876"/>
                </a:cubicBezTo>
                <a:lnTo>
                  <a:pt x="433447" y="5179"/>
                </a:lnTo>
                <a:cubicBezTo>
                  <a:pt x="440948" y="1786"/>
                  <a:pt x="448985" y="0"/>
                  <a:pt x="457200" y="0"/>
                </a:cubicBezTo>
                <a:close/>
                <a:moveTo>
                  <a:pt x="457200" y="119301"/>
                </a:moveTo>
                <a:lnTo>
                  <a:pt x="457200" y="794564"/>
                </a:lnTo>
                <a:cubicBezTo>
                  <a:pt x="703659" y="675263"/>
                  <a:pt x="769918" y="410944"/>
                  <a:pt x="771525" y="252710"/>
                </a:cubicBezTo>
                <a:lnTo>
                  <a:pt x="457200" y="119479"/>
                </a:lnTo>
                <a:lnTo>
                  <a:pt x="457200" y="119479"/>
                </a:lnTo>
                <a:close/>
              </a:path>
            </a:pathLst>
          </a:custGeom>
          <a:solidFill>
            <a:srgbClr val="00D4FF">
              <a:alpha val="60000"/>
            </a:srgbClr>
          </a:solidFill>
          <a:ln/>
        </p:spPr>
      </p:sp>
      <p:sp>
        <p:nvSpPr>
          <p:cNvPr id="11" name="Shape 7"/>
          <p:cNvSpPr/>
          <p:nvPr/>
        </p:nvSpPr>
        <p:spPr>
          <a:xfrm>
            <a:off x="6502400" y="5461000"/>
            <a:ext cx="304800" cy="609600"/>
          </a:xfrm>
          <a:custGeom>
            <a:avLst/>
            <a:gdLst/>
            <a:ahLst/>
            <a:cxnLst/>
            <a:rect l="l" t="t" r="r" b="b"/>
            <a:pathLst>
              <a:path w="304800" h="609600">
                <a:moveTo>
                  <a:pt x="196334" y="309563"/>
                </a:moveTo>
                <a:lnTo>
                  <a:pt x="306586" y="186571"/>
                </a:lnTo>
                <a:lnTo>
                  <a:pt x="132874" y="0"/>
                </a:lnTo>
                <a:lnTo>
                  <a:pt x="132874" y="245626"/>
                </a:lnTo>
                <a:lnTo>
                  <a:pt x="30242" y="143113"/>
                </a:lnTo>
                <a:lnTo>
                  <a:pt x="-7144" y="180499"/>
                </a:lnTo>
                <a:lnTo>
                  <a:pt x="121563" y="309563"/>
                </a:lnTo>
                <a:lnTo>
                  <a:pt x="-7144" y="438626"/>
                </a:lnTo>
                <a:lnTo>
                  <a:pt x="30242" y="476012"/>
                </a:lnTo>
                <a:lnTo>
                  <a:pt x="132874" y="373499"/>
                </a:lnTo>
                <a:lnTo>
                  <a:pt x="136088" y="609600"/>
                </a:lnTo>
                <a:lnTo>
                  <a:pt x="312896" y="432673"/>
                </a:lnTo>
                <a:lnTo>
                  <a:pt x="196334" y="309563"/>
                </a:lnTo>
                <a:close/>
                <a:moveTo>
                  <a:pt x="245031" y="186928"/>
                </a:moveTo>
                <a:lnTo>
                  <a:pt x="185499" y="246459"/>
                </a:lnTo>
                <a:lnTo>
                  <a:pt x="185142" y="127040"/>
                </a:lnTo>
                <a:lnTo>
                  <a:pt x="245031" y="186928"/>
                </a:lnTo>
                <a:close/>
                <a:moveTo>
                  <a:pt x="185499" y="372666"/>
                </a:moveTo>
                <a:lnTo>
                  <a:pt x="245031" y="432197"/>
                </a:lnTo>
                <a:lnTo>
                  <a:pt x="185142" y="492085"/>
                </a:lnTo>
                <a:lnTo>
                  <a:pt x="185499" y="372666"/>
                </a:lnTo>
                <a:close/>
              </a:path>
            </a:pathLst>
          </a:custGeom>
          <a:solidFill>
            <a:srgbClr val="00D4FF">
              <a:alpha val="40000"/>
            </a:srgbClr>
          </a:solidFill>
          <a:ln/>
        </p:spPr>
      </p:sp>
      <p:sp>
        <p:nvSpPr>
          <p:cNvPr id="12" name="Shape 8"/>
          <p:cNvSpPr/>
          <p:nvPr/>
        </p:nvSpPr>
        <p:spPr>
          <a:xfrm>
            <a:off x="9448800" y="5461000"/>
            <a:ext cx="304800" cy="609600"/>
          </a:xfrm>
          <a:custGeom>
            <a:avLst/>
            <a:gdLst/>
            <a:ahLst/>
            <a:cxnLst/>
            <a:rect l="l" t="t" r="r" b="b"/>
            <a:pathLst>
              <a:path w="304800" h="609600">
                <a:moveTo>
                  <a:pt x="196334" y="309563"/>
                </a:moveTo>
                <a:lnTo>
                  <a:pt x="306586" y="186571"/>
                </a:lnTo>
                <a:lnTo>
                  <a:pt x="132874" y="0"/>
                </a:lnTo>
                <a:lnTo>
                  <a:pt x="132874" y="245626"/>
                </a:lnTo>
                <a:lnTo>
                  <a:pt x="30242" y="143113"/>
                </a:lnTo>
                <a:lnTo>
                  <a:pt x="-7144" y="180499"/>
                </a:lnTo>
                <a:lnTo>
                  <a:pt x="121563" y="309563"/>
                </a:lnTo>
                <a:lnTo>
                  <a:pt x="-7144" y="438626"/>
                </a:lnTo>
                <a:lnTo>
                  <a:pt x="30242" y="476012"/>
                </a:lnTo>
                <a:lnTo>
                  <a:pt x="132874" y="373499"/>
                </a:lnTo>
                <a:lnTo>
                  <a:pt x="136088" y="609600"/>
                </a:lnTo>
                <a:lnTo>
                  <a:pt x="312896" y="432673"/>
                </a:lnTo>
                <a:lnTo>
                  <a:pt x="196334" y="309563"/>
                </a:lnTo>
                <a:close/>
                <a:moveTo>
                  <a:pt x="245031" y="186928"/>
                </a:moveTo>
                <a:lnTo>
                  <a:pt x="185499" y="246459"/>
                </a:lnTo>
                <a:lnTo>
                  <a:pt x="185142" y="127040"/>
                </a:lnTo>
                <a:lnTo>
                  <a:pt x="245031" y="186928"/>
                </a:lnTo>
                <a:close/>
                <a:moveTo>
                  <a:pt x="185499" y="372666"/>
                </a:moveTo>
                <a:lnTo>
                  <a:pt x="245031" y="432197"/>
                </a:lnTo>
                <a:lnTo>
                  <a:pt x="185142" y="492085"/>
                </a:lnTo>
                <a:lnTo>
                  <a:pt x="185499" y="372666"/>
                </a:lnTo>
                <a:close/>
              </a:path>
            </a:pathLst>
          </a:custGeom>
          <a:solidFill>
            <a:srgbClr val="00D4FF">
              <a:alpha val="40000"/>
            </a:srgbClr>
          </a:solidFill>
          <a:ln/>
        </p:spPr>
      </p:sp>
      <p:sp>
        <p:nvSpPr>
          <p:cNvPr id="13" name="Shape 9"/>
          <p:cNvSpPr/>
          <p:nvPr/>
        </p:nvSpPr>
        <p:spPr>
          <a:xfrm>
            <a:off x="0" y="8890000"/>
            <a:ext cx="16256000" cy="254000"/>
          </a:xfrm>
          <a:prstGeom prst="rect">
            <a:avLst/>
          </a:prstGeom>
          <a:gradFill flip="none" rotWithShape="1">
            <a:gsLst>
              <a:gs pos="0">
                <a:srgbClr val="00D4FF">
                  <a:alpha val="0"/>
                </a:srgbClr>
              </a:gs>
              <a:gs pos="50000">
                <a:srgbClr val="00D4FF"/>
              </a:gs>
              <a:gs pos="100000">
                <a:srgbClr val="00D4FF">
                  <a:alpha val="0"/>
                </a:srgbClr>
              </a:gs>
            </a:gsLst>
            <a:lin ang="0" scaled="1"/>
          </a:gra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0" y="0"/>
            <a:ext cx="9017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00D4FF"/>
                </a:solidFill>
                <a:latin typeface="Liter" pitchFamily="34" charset="0"/>
                <a:ea typeface="Liter" pitchFamily="34" charset="-122"/>
                <a:cs typeface="Liter" pitchFamily="34" charset="-120"/>
              </a:rPr>
              <a:t>TEAM</a:t>
            </a:r>
            <a:r>
              <a:rPr lang="en-US" sz="1200" kern="0" spc="100" dirty="0">
                <a:solidFill>
                  <a:srgbClr val="8B9DC3"/>
                </a:solidFill>
                <a:latin typeface="Liter" pitchFamily="34" charset="0"/>
                <a:ea typeface="Liter" pitchFamily="34" charset="-122"/>
                <a:cs typeface="Liter" pitchFamily="34" charset="-120"/>
              </a:rPr>
              <a:t> | INTRODUCTION | OBJECTIVES | OVERVIEW | ARCHITECTURE | PHASES | CHALLENGES | SECURITY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Project Team Members</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016000" y="2032000"/>
            <a:ext cx="4318000" cy="533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9" name="Shape 6"/>
          <p:cNvSpPr/>
          <p:nvPr/>
        </p:nvSpPr>
        <p:spPr>
          <a:xfrm>
            <a:off x="5969000" y="2032000"/>
            <a:ext cx="4318000" cy="533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0" name="Shape 7"/>
          <p:cNvSpPr/>
          <p:nvPr/>
        </p:nvSpPr>
        <p:spPr>
          <a:xfrm>
            <a:off x="10922000" y="2032000"/>
            <a:ext cx="4318000" cy="533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1" name="Shape 8"/>
          <p:cNvSpPr/>
          <p:nvPr/>
        </p:nvSpPr>
        <p:spPr>
          <a:xfrm>
            <a:off x="2797175" y="2540000"/>
            <a:ext cx="755650" cy="863600"/>
          </a:xfrm>
          <a:custGeom>
            <a:avLst/>
            <a:gdLst/>
            <a:ahLst/>
            <a:cxnLst/>
            <a:rect l="l" t="t" r="r" b="b"/>
            <a:pathLst>
              <a:path w="755650" h="863600">
                <a:moveTo>
                  <a:pt x="407005" y="-21927"/>
                </a:moveTo>
                <a:cubicBezTo>
                  <a:pt x="387777" y="-25807"/>
                  <a:pt x="368042" y="-25807"/>
                  <a:pt x="348813" y="-21927"/>
                </a:cubicBezTo>
                <a:lnTo>
                  <a:pt x="32554" y="41325"/>
                </a:lnTo>
                <a:cubicBezTo>
                  <a:pt x="13662" y="45035"/>
                  <a:pt x="0" y="61734"/>
                  <a:pt x="0" y="80962"/>
                </a:cubicBezTo>
                <a:cubicBezTo>
                  <a:pt x="0" y="98336"/>
                  <a:pt x="10964" y="113516"/>
                  <a:pt x="26988" y="119082"/>
                </a:cubicBezTo>
                <a:lnTo>
                  <a:pt x="26988" y="242888"/>
                </a:lnTo>
                <a:lnTo>
                  <a:pt x="506" y="375464"/>
                </a:lnTo>
                <a:cubicBezTo>
                  <a:pt x="169" y="376982"/>
                  <a:pt x="0" y="378668"/>
                  <a:pt x="0" y="380355"/>
                </a:cubicBezTo>
                <a:cubicBezTo>
                  <a:pt x="0" y="393849"/>
                  <a:pt x="10964" y="404981"/>
                  <a:pt x="24626" y="404981"/>
                </a:cubicBezTo>
                <a:lnTo>
                  <a:pt x="83493" y="404981"/>
                </a:lnTo>
                <a:cubicBezTo>
                  <a:pt x="96986" y="404981"/>
                  <a:pt x="108119" y="394018"/>
                  <a:pt x="108119" y="380355"/>
                </a:cubicBezTo>
                <a:cubicBezTo>
                  <a:pt x="108119" y="378668"/>
                  <a:pt x="107950" y="377150"/>
                  <a:pt x="107613" y="375464"/>
                </a:cubicBezTo>
                <a:lnTo>
                  <a:pt x="80962" y="242888"/>
                </a:lnTo>
                <a:lnTo>
                  <a:pt x="80962" y="130383"/>
                </a:lnTo>
                <a:lnTo>
                  <a:pt x="161925" y="146576"/>
                </a:lnTo>
                <a:lnTo>
                  <a:pt x="161925" y="242888"/>
                </a:lnTo>
                <a:cubicBezTo>
                  <a:pt x="161925" y="362139"/>
                  <a:pt x="258574" y="458787"/>
                  <a:pt x="377825" y="458787"/>
                </a:cubicBezTo>
                <a:cubicBezTo>
                  <a:pt x="497076" y="458787"/>
                  <a:pt x="593725" y="362139"/>
                  <a:pt x="593725" y="242888"/>
                </a:cubicBezTo>
                <a:lnTo>
                  <a:pt x="593725" y="146576"/>
                </a:lnTo>
                <a:lnTo>
                  <a:pt x="723096" y="120769"/>
                </a:lnTo>
                <a:cubicBezTo>
                  <a:pt x="741988" y="116890"/>
                  <a:pt x="755650" y="100191"/>
                  <a:pt x="755650" y="80962"/>
                </a:cubicBezTo>
                <a:cubicBezTo>
                  <a:pt x="755650" y="61734"/>
                  <a:pt x="741988" y="45035"/>
                  <a:pt x="723096" y="41325"/>
                </a:cubicBezTo>
                <a:lnTo>
                  <a:pt x="407005" y="-21927"/>
                </a:lnTo>
                <a:close/>
                <a:moveTo>
                  <a:pt x="377825" y="377825"/>
                </a:moveTo>
                <a:cubicBezTo>
                  <a:pt x="303272" y="377825"/>
                  <a:pt x="242888" y="317440"/>
                  <a:pt x="242888" y="242888"/>
                </a:cubicBezTo>
                <a:lnTo>
                  <a:pt x="512763" y="242888"/>
                </a:lnTo>
                <a:cubicBezTo>
                  <a:pt x="512763" y="317440"/>
                  <a:pt x="452378" y="377825"/>
                  <a:pt x="377825" y="377825"/>
                </a:cubicBezTo>
                <a:close/>
                <a:moveTo>
                  <a:pt x="202575" y="539919"/>
                </a:moveTo>
                <a:cubicBezTo>
                  <a:pt x="99010" y="587484"/>
                  <a:pt x="26988" y="692061"/>
                  <a:pt x="26988" y="813504"/>
                </a:cubicBezTo>
                <a:cubicBezTo>
                  <a:pt x="26988" y="841167"/>
                  <a:pt x="49421" y="863600"/>
                  <a:pt x="77083" y="863600"/>
                </a:cubicBezTo>
                <a:lnTo>
                  <a:pt x="337344" y="863600"/>
                </a:lnTo>
                <a:lnTo>
                  <a:pt x="337344" y="617339"/>
                </a:lnTo>
                <a:lnTo>
                  <a:pt x="240526" y="544810"/>
                </a:lnTo>
                <a:cubicBezTo>
                  <a:pt x="229562" y="536545"/>
                  <a:pt x="214888" y="534353"/>
                  <a:pt x="202406" y="540087"/>
                </a:cubicBezTo>
                <a:close/>
                <a:moveTo>
                  <a:pt x="418306" y="863600"/>
                </a:moveTo>
                <a:lnTo>
                  <a:pt x="678567" y="863600"/>
                </a:lnTo>
                <a:cubicBezTo>
                  <a:pt x="706229" y="863600"/>
                  <a:pt x="728663" y="841167"/>
                  <a:pt x="728663" y="813504"/>
                </a:cubicBezTo>
                <a:cubicBezTo>
                  <a:pt x="728663" y="692061"/>
                  <a:pt x="656640" y="587484"/>
                  <a:pt x="553075" y="540087"/>
                </a:cubicBezTo>
                <a:cubicBezTo>
                  <a:pt x="540593" y="534353"/>
                  <a:pt x="525919" y="536545"/>
                  <a:pt x="514955" y="544810"/>
                </a:cubicBezTo>
                <a:lnTo>
                  <a:pt x="418138" y="617339"/>
                </a:lnTo>
                <a:lnTo>
                  <a:pt x="418138" y="863600"/>
                </a:lnTo>
                <a:close/>
              </a:path>
            </a:pathLst>
          </a:custGeom>
          <a:solidFill>
            <a:srgbClr val="00D4FF"/>
          </a:solidFill>
          <a:ln/>
        </p:spPr>
      </p:sp>
      <p:sp>
        <p:nvSpPr>
          <p:cNvPr id="12" name="Shape 9"/>
          <p:cNvSpPr/>
          <p:nvPr/>
        </p:nvSpPr>
        <p:spPr>
          <a:xfrm>
            <a:off x="7750175" y="2540000"/>
            <a:ext cx="755650" cy="863600"/>
          </a:xfrm>
          <a:custGeom>
            <a:avLst/>
            <a:gdLst/>
            <a:ahLst/>
            <a:cxnLst/>
            <a:rect l="l" t="t" r="r" b="b"/>
            <a:pathLst>
              <a:path w="755650" h="863600">
                <a:moveTo>
                  <a:pt x="407005" y="-21927"/>
                </a:moveTo>
                <a:cubicBezTo>
                  <a:pt x="387777" y="-25807"/>
                  <a:pt x="368042" y="-25807"/>
                  <a:pt x="348813" y="-21927"/>
                </a:cubicBezTo>
                <a:lnTo>
                  <a:pt x="32554" y="41325"/>
                </a:lnTo>
                <a:cubicBezTo>
                  <a:pt x="13662" y="45035"/>
                  <a:pt x="0" y="61734"/>
                  <a:pt x="0" y="80962"/>
                </a:cubicBezTo>
                <a:cubicBezTo>
                  <a:pt x="0" y="98336"/>
                  <a:pt x="10964" y="113516"/>
                  <a:pt x="26988" y="119082"/>
                </a:cubicBezTo>
                <a:lnTo>
                  <a:pt x="26988" y="242888"/>
                </a:lnTo>
                <a:lnTo>
                  <a:pt x="506" y="375464"/>
                </a:lnTo>
                <a:cubicBezTo>
                  <a:pt x="169" y="376982"/>
                  <a:pt x="0" y="378668"/>
                  <a:pt x="0" y="380355"/>
                </a:cubicBezTo>
                <a:cubicBezTo>
                  <a:pt x="0" y="393849"/>
                  <a:pt x="10964" y="404981"/>
                  <a:pt x="24626" y="404981"/>
                </a:cubicBezTo>
                <a:lnTo>
                  <a:pt x="83493" y="404981"/>
                </a:lnTo>
                <a:cubicBezTo>
                  <a:pt x="96986" y="404981"/>
                  <a:pt x="108119" y="394018"/>
                  <a:pt x="108119" y="380355"/>
                </a:cubicBezTo>
                <a:cubicBezTo>
                  <a:pt x="108119" y="378668"/>
                  <a:pt x="107950" y="377150"/>
                  <a:pt x="107613" y="375464"/>
                </a:cubicBezTo>
                <a:lnTo>
                  <a:pt x="80962" y="242888"/>
                </a:lnTo>
                <a:lnTo>
                  <a:pt x="80962" y="130383"/>
                </a:lnTo>
                <a:lnTo>
                  <a:pt x="161925" y="146576"/>
                </a:lnTo>
                <a:lnTo>
                  <a:pt x="161925" y="242888"/>
                </a:lnTo>
                <a:cubicBezTo>
                  <a:pt x="161925" y="362139"/>
                  <a:pt x="258574" y="458787"/>
                  <a:pt x="377825" y="458787"/>
                </a:cubicBezTo>
                <a:cubicBezTo>
                  <a:pt x="497076" y="458787"/>
                  <a:pt x="593725" y="362139"/>
                  <a:pt x="593725" y="242888"/>
                </a:cubicBezTo>
                <a:lnTo>
                  <a:pt x="593725" y="146576"/>
                </a:lnTo>
                <a:lnTo>
                  <a:pt x="723096" y="120769"/>
                </a:lnTo>
                <a:cubicBezTo>
                  <a:pt x="741988" y="116890"/>
                  <a:pt x="755650" y="100191"/>
                  <a:pt x="755650" y="80962"/>
                </a:cubicBezTo>
                <a:cubicBezTo>
                  <a:pt x="755650" y="61734"/>
                  <a:pt x="741988" y="45035"/>
                  <a:pt x="723096" y="41325"/>
                </a:cubicBezTo>
                <a:lnTo>
                  <a:pt x="407005" y="-21927"/>
                </a:lnTo>
                <a:close/>
                <a:moveTo>
                  <a:pt x="377825" y="377825"/>
                </a:moveTo>
                <a:cubicBezTo>
                  <a:pt x="303272" y="377825"/>
                  <a:pt x="242888" y="317440"/>
                  <a:pt x="242888" y="242888"/>
                </a:cubicBezTo>
                <a:lnTo>
                  <a:pt x="512763" y="242888"/>
                </a:lnTo>
                <a:cubicBezTo>
                  <a:pt x="512763" y="317440"/>
                  <a:pt x="452378" y="377825"/>
                  <a:pt x="377825" y="377825"/>
                </a:cubicBezTo>
                <a:close/>
                <a:moveTo>
                  <a:pt x="202575" y="539919"/>
                </a:moveTo>
                <a:cubicBezTo>
                  <a:pt x="99010" y="587484"/>
                  <a:pt x="26988" y="692061"/>
                  <a:pt x="26988" y="813504"/>
                </a:cubicBezTo>
                <a:cubicBezTo>
                  <a:pt x="26988" y="841167"/>
                  <a:pt x="49421" y="863600"/>
                  <a:pt x="77083" y="863600"/>
                </a:cubicBezTo>
                <a:lnTo>
                  <a:pt x="337344" y="863600"/>
                </a:lnTo>
                <a:lnTo>
                  <a:pt x="337344" y="617339"/>
                </a:lnTo>
                <a:lnTo>
                  <a:pt x="240526" y="544810"/>
                </a:lnTo>
                <a:cubicBezTo>
                  <a:pt x="229562" y="536545"/>
                  <a:pt x="214888" y="534353"/>
                  <a:pt x="202406" y="540087"/>
                </a:cubicBezTo>
                <a:close/>
                <a:moveTo>
                  <a:pt x="418306" y="863600"/>
                </a:moveTo>
                <a:lnTo>
                  <a:pt x="678567" y="863600"/>
                </a:lnTo>
                <a:cubicBezTo>
                  <a:pt x="706229" y="863600"/>
                  <a:pt x="728663" y="841167"/>
                  <a:pt x="728663" y="813504"/>
                </a:cubicBezTo>
                <a:cubicBezTo>
                  <a:pt x="728663" y="692061"/>
                  <a:pt x="656640" y="587484"/>
                  <a:pt x="553075" y="540087"/>
                </a:cubicBezTo>
                <a:cubicBezTo>
                  <a:pt x="540593" y="534353"/>
                  <a:pt x="525919" y="536545"/>
                  <a:pt x="514955" y="544810"/>
                </a:cubicBezTo>
                <a:lnTo>
                  <a:pt x="418138" y="617339"/>
                </a:lnTo>
                <a:lnTo>
                  <a:pt x="418138" y="863600"/>
                </a:lnTo>
                <a:close/>
              </a:path>
            </a:pathLst>
          </a:custGeom>
          <a:solidFill>
            <a:srgbClr val="00D4FF"/>
          </a:solidFill>
          <a:ln/>
        </p:spPr>
      </p:sp>
      <p:sp>
        <p:nvSpPr>
          <p:cNvPr id="13" name="Shape 10"/>
          <p:cNvSpPr/>
          <p:nvPr/>
        </p:nvSpPr>
        <p:spPr>
          <a:xfrm>
            <a:off x="12703175" y="2540000"/>
            <a:ext cx="755650" cy="863600"/>
          </a:xfrm>
          <a:custGeom>
            <a:avLst/>
            <a:gdLst/>
            <a:ahLst/>
            <a:cxnLst/>
            <a:rect l="l" t="t" r="r" b="b"/>
            <a:pathLst>
              <a:path w="755650" h="863600">
                <a:moveTo>
                  <a:pt x="407005" y="-21927"/>
                </a:moveTo>
                <a:cubicBezTo>
                  <a:pt x="387777" y="-25807"/>
                  <a:pt x="368042" y="-25807"/>
                  <a:pt x="348813" y="-21927"/>
                </a:cubicBezTo>
                <a:lnTo>
                  <a:pt x="32554" y="41325"/>
                </a:lnTo>
                <a:cubicBezTo>
                  <a:pt x="13662" y="45035"/>
                  <a:pt x="0" y="61734"/>
                  <a:pt x="0" y="80962"/>
                </a:cubicBezTo>
                <a:cubicBezTo>
                  <a:pt x="0" y="98336"/>
                  <a:pt x="10964" y="113516"/>
                  <a:pt x="26988" y="119082"/>
                </a:cubicBezTo>
                <a:lnTo>
                  <a:pt x="26988" y="242888"/>
                </a:lnTo>
                <a:lnTo>
                  <a:pt x="506" y="375464"/>
                </a:lnTo>
                <a:cubicBezTo>
                  <a:pt x="169" y="376982"/>
                  <a:pt x="0" y="378668"/>
                  <a:pt x="0" y="380355"/>
                </a:cubicBezTo>
                <a:cubicBezTo>
                  <a:pt x="0" y="393849"/>
                  <a:pt x="10964" y="404981"/>
                  <a:pt x="24626" y="404981"/>
                </a:cubicBezTo>
                <a:lnTo>
                  <a:pt x="83493" y="404981"/>
                </a:lnTo>
                <a:cubicBezTo>
                  <a:pt x="96986" y="404981"/>
                  <a:pt x="108119" y="394018"/>
                  <a:pt x="108119" y="380355"/>
                </a:cubicBezTo>
                <a:cubicBezTo>
                  <a:pt x="108119" y="378668"/>
                  <a:pt x="107950" y="377150"/>
                  <a:pt x="107613" y="375464"/>
                </a:cubicBezTo>
                <a:lnTo>
                  <a:pt x="80962" y="242888"/>
                </a:lnTo>
                <a:lnTo>
                  <a:pt x="80962" y="130383"/>
                </a:lnTo>
                <a:lnTo>
                  <a:pt x="161925" y="146576"/>
                </a:lnTo>
                <a:lnTo>
                  <a:pt x="161925" y="242888"/>
                </a:lnTo>
                <a:cubicBezTo>
                  <a:pt x="161925" y="362139"/>
                  <a:pt x="258574" y="458787"/>
                  <a:pt x="377825" y="458787"/>
                </a:cubicBezTo>
                <a:cubicBezTo>
                  <a:pt x="497076" y="458787"/>
                  <a:pt x="593725" y="362139"/>
                  <a:pt x="593725" y="242888"/>
                </a:cubicBezTo>
                <a:lnTo>
                  <a:pt x="593725" y="146576"/>
                </a:lnTo>
                <a:lnTo>
                  <a:pt x="723096" y="120769"/>
                </a:lnTo>
                <a:cubicBezTo>
                  <a:pt x="741988" y="116890"/>
                  <a:pt x="755650" y="100191"/>
                  <a:pt x="755650" y="80962"/>
                </a:cubicBezTo>
                <a:cubicBezTo>
                  <a:pt x="755650" y="61734"/>
                  <a:pt x="741988" y="45035"/>
                  <a:pt x="723096" y="41325"/>
                </a:cubicBezTo>
                <a:lnTo>
                  <a:pt x="407005" y="-21927"/>
                </a:lnTo>
                <a:close/>
                <a:moveTo>
                  <a:pt x="377825" y="377825"/>
                </a:moveTo>
                <a:cubicBezTo>
                  <a:pt x="303272" y="377825"/>
                  <a:pt x="242888" y="317440"/>
                  <a:pt x="242888" y="242888"/>
                </a:cubicBezTo>
                <a:lnTo>
                  <a:pt x="512763" y="242888"/>
                </a:lnTo>
                <a:cubicBezTo>
                  <a:pt x="512763" y="317440"/>
                  <a:pt x="452378" y="377825"/>
                  <a:pt x="377825" y="377825"/>
                </a:cubicBezTo>
                <a:close/>
                <a:moveTo>
                  <a:pt x="202575" y="539919"/>
                </a:moveTo>
                <a:cubicBezTo>
                  <a:pt x="99010" y="587484"/>
                  <a:pt x="26988" y="692061"/>
                  <a:pt x="26988" y="813504"/>
                </a:cubicBezTo>
                <a:cubicBezTo>
                  <a:pt x="26988" y="841167"/>
                  <a:pt x="49421" y="863600"/>
                  <a:pt x="77083" y="863600"/>
                </a:cubicBezTo>
                <a:lnTo>
                  <a:pt x="337344" y="863600"/>
                </a:lnTo>
                <a:lnTo>
                  <a:pt x="337344" y="617339"/>
                </a:lnTo>
                <a:lnTo>
                  <a:pt x="240526" y="544810"/>
                </a:lnTo>
                <a:cubicBezTo>
                  <a:pt x="229562" y="536545"/>
                  <a:pt x="214888" y="534353"/>
                  <a:pt x="202406" y="540087"/>
                </a:cubicBezTo>
                <a:close/>
                <a:moveTo>
                  <a:pt x="418306" y="863600"/>
                </a:moveTo>
                <a:lnTo>
                  <a:pt x="678567" y="863600"/>
                </a:lnTo>
                <a:cubicBezTo>
                  <a:pt x="706229" y="863600"/>
                  <a:pt x="728663" y="841167"/>
                  <a:pt x="728663" y="813504"/>
                </a:cubicBezTo>
                <a:cubicBezTo>
                  <a:pt x="728663" y="692061"/>
                  <a:pt x="656640" y="587484"/>
                  <a:pt x="553075" y="540087"/>
                </a:cubicBezTo>
                <a:cubicBezTo>
                  <a:pt x="540593" y="534353"/>
                  <a:pt x="525919" y="536545"/>
                  <a:pt x="514955" y="544810"/>
                </a:cubicBezTo>
                <a:lnTo>
                  <a:pt x="418138" y="617339"/>
                </a:lnTo>
                <a:lnTo>
                  <a:pt x="418138" y="863600"/>
                </a:lnTo>
                <a:close/>
              </a:path>
            </a:pathLst>
          </a:custGeom>
          <a:solidFill>
            <a:srgbClr val="00D4FF"/>
          </a:solidFill>
          <a:ln/>
        </p:spPr>
      </p:sp>
      <p:sp>
        <p:nvSpPr>
          <p:cNvPr id="14" name="Text 11"/>
          <p:cNvSpPr/>
          <p:nvPr/>
        </p:nvSpPr>
        <p:spPr>
          <a:xfrm>
            <a:off x="1270000" y="3683000"/>
            <a:ext cx="3810000" cy="4572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Liter" pitchFamily="34" charset="0"/>
                <a:ea typeface="Liter" pitchFamily="34" charset="-122"/>
                <a:cs typeface="Liter" pitchFamily="34" charset="-120"/>
              </a:rPr>
              <a:t>Hassan Iftikhar</a:t>
            </a:r>
            <a:endParaRPr lang="en-US" sz="1600" dirty="0"/>
          </a:p>
        </p:txBody>
      </p:sp>
      <p:sp>
        <p:nvSpPr>
          <p:cNvPr id="15" name="Text 12"/>
          <p:cNvSpPr/>
          <p:nvPr/>
        </p:nvSpPr>
        <p:spPr>
          <a:xfrm>
            <a:off x="1270000" y="4191000"/>
            <a:ext cx="3810000" cy="355600"/>
          </a:xfrm>
          <a:prstGeom prst="rect">
            <a:avLst/>
          </a:prstGeom>
          <a:noFill/>
          <a:ln/>
        </p:spPr>
        <p:txBody>
          <a:bodyPr wrap="none" lIns="0" tIns="0" rIns="0" bIns="0" rtlCol="0" anchor="ctr"/>
          <a:lstStyle/>
          <a:p>
            <a:pPr algn="ctr">
              <a:lnSpc>
                <a:spcPct val="100000"/>
              </a:lnSpc>
            </a:pPr>
            <a:r>
              <a:rPr lang="en-US" sz="1800" dirty="0">
                <a:solidFill>
                  <a:srgbClr val="00D4FF"/>
                </a:solidFill>
                <a:latin typeface="Quattrocento Sans" pitchFamily="34" charset="0"/>
                <a:ea typeface="Quattrocento Sans" pitchFamily="34" charset="-122"/>
                <a:cs typeface="Quattrocento Sans" pitchFamily="34" charset="-120"/>
              </a:rPr>
              <a:t>BS-CY-002</a:t>
            </a:r>
            <a:endParaRPr lang="en-US" sz="1600" dirty="0"/>
          </a:p>
        </p:txBody>
      </p:sp>
      <p:sp>
        <p:nvSpPr>
          <p:cNvPr id="16" name="Text 13"/>
          <p:cNvSpPr/>
          <p:nvPr/>
        </p:nvSpPr>
        <p:spPr>
          <a:xfrm>
            <a:off x="6223000" y="3683000"/>
            <a:ext cx="3810000" cy="4572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Liter" pitchFamily="34" charset="0"/>
                <a:ea typeface="Liter" pitchFamily="34" charset="-122"/>
                <a:cs typeface="Liter" pitchFamily="34" charset="-120"/>
              </a:rPr>
              <a:t>Albash Ahmed</a:t>
            </a:r>
            <a:endParaRPr lang="en-US" sz="1600" dirty="0"/>
          </a:p>
        </p:txBody>
      </p:sp>
      <p:sp>
        <p:nvSpPr>
          <p:cNvPr id="17" name="Text 14"/>
          <p:cNvSpPr/>
          <p:nvPr/>
        </p:nvSpPr>
        <p:spPr>
          <a:xfrm>
            <a:off x="6223000" y="4191000"/>
            <a:ext cx="3810000" cy="355600"/>
          </a:xfrm>
          <a:prstGeom prst="rect">
            <a:avLst/>
          </a:prstGeom>
          <a:noFill/>
          <a:ln/>
        </p:spPr>
        <p:txBody>
          <a:bodyPr wrap="none" lIns="0" tIns="0" rIns="0" bIns="0" rtlCol="0" anchor="ctr"/>
          <a:lstStyle/>
          <a:p>
            <a:pPr algn="ctr">
              <a:lnSpc>
                <a:spcPct val="100000"/>
              </a:lnSpc>
            </a:pPr>
            <a:r>
              <a:rPr lang="en-US" sz="1800" dirty="0">
                <a:solidFill>
                  <a:srgbClr val="00D4FF"/>
                </a:solidFill>
                <a:latin typeface="Quattrocento Sans" pitchFamily="34" charset="0"/>
                <a:ea typeface="Quattrocento Sans" pitchFamily="34" charset="-122"/>
                <a:cs typeface="Quattrocento Sans" pitchFamily="34" charset="-120"/>
              </a:rPr>
              <a:t>BS-CY-024</a:t>
            </a:r>
            <a:endParaRPr lang="en-US" sz="1600" dirty="0"/>
          </a:p>
        </p:txBody>
      </p:sp>
      <p:sp>
        <p:nvSpPr>
          <p:cNvPr id="18" name="Text 15"/>
          <p:cNvSpPr/>
          <p:nvPr/>
        </p:nvSpPr>
        <p:spPr>
          <a:xfrm>
            <a:off x="11176000" y="3683000"/>
            <a:ext cx="3810000" cy="457200"/>
          </a:xfrm>
          <a:prstGeom prst="rect">
            <a:avLst/>
          </a:prstGeom>
          <a:noFill/>
          <a:ln/>
        </p:spPr>
        <p:txBody>
          <a:bodyPr wrap="none" lIns="0" tIns="0" rIns="0" bIns="0" rtlCol="0" anchor="ctr"/>
          <a:lstStyle/>
          <a:p>
            <a:pPr algn="ctr">
              <a:lnSpc>
                <a:spcPct val="100000"/>
              </a:lnSpc>
            </a:pPr>
            <a:r>
              <a:rPr lang="en-US" sz="2400" b="1" dirty="0">
                <a:solidFill>
                  <a:srgbClr val="FFFFFF"/>
                </a:solidFill>
                <a:latin typeface="Liter" pitchFamily="34" charset="0"/>
                <a:ea typeface="Liter" pitchFamily="34" charset="-122"/>
                <a:cs typeface="Liter" pitchFamily="34" charset="-120"/>
              </a:rPr>
              <a:t>Azfar Waqas</a:t>
            </a:r>
            <a:endParaRPr lang="en-US" sz="1600" dirty="0"/>
          </a:p>
        </p:txBody>
      </p:sp>
      <p:sp>
        <p:nvSpPr>
          <p:cNvPr id="19" name="Text 16"/>
          <p:cNvSpPr/>
          <p:nvPr/>
        </p:nvSpPr>
        <p:spPr>
          <a:xfrm>
            <a:off x="11176000" y="4191000"/>
            <a:ext cx="3810000" cy="355600"/>
          </a:xfrm>
          <a:prstGeom prst="rect">
            <a:avLst/>
          </a:prstGeom>
          <a:noFill/>
          <a:ln/>
        </p:spPr>
        <p:txBody>
          <a:bodyPr wrap="none" lIns="0" tIns="0" rIns="0" bIns="0" rtlCol="0" anchor="ctr"/>
          <a:lstStyle/>
          <a:p>
            <a:pPr algn="ctr">
              <a:lnSpc>
                <a:spcPct val="100000"/>
              </a:lnSpc>
            </a:pPr>
            <a:r>
              <a:rPr lang="en-US" sz="1800" dirty="0">
                <a:solidFill>
                  <a:srgbClr val="00D4FF"/>
                </a:solidFill>
                <a:latin typeface="Quattrocento Sans" pitchFamily="34" charset="0"/>
                <a:ea typeface="Quattrocento Sans" pitchFamily="34" charset="-122"/>
                <a:cs typeface="Quattrocento Sans" pitchFamily="34" charset="-120"/>
              </a:rPr>
              <a:t>BS-CY-013</a:t>
            </a:r>
            <a:endParaRPr lang="en-US" sz="1600" dirty="0"/>
          </a:p>
        </p:txBody>
      </p:sp>
      <p:sp>
        <p:nvSpPr>
          <p:cNvPr id="20" name="Shape 17"/>
          <p:cNvSpPr/>
          <p:nvPr/>
        </p:nvSpPr>
        <p:spPr>
          <a:xfrm>
            <a:off x="1905000" y="4826000"/>
            <a:ext cx="2540000" cy="12700"/>
          </a:xfrm>
          <a:prstGeom prst="rect">
            <a:avLst/>
          </a:prstGeom>
          <a:solidFill>
            <a:srgbClr val="1E3A6E"/>
          </a:solidFill>
          <a:ln/>
        </p:spPr>
      </p:sp>
      <p:sp>
        <p:nvSpPr>
          <p:cNvPr id="21" name="Shape 18"/>
          <p:cNvSpPr/>
          <p:nvPr/>
        </p:nvSpPr>
        <p:spPr>
          <a:xfrm>
            <a:off x="6858000" y="4826000"/>
            <a:ext cx="2540000" cy="12700"/>
          </a:xfrm>
          <a:prstGeom prst="rect">
            <a:avLst/>
          </a:prstGeom>
          <a:solidFill>
            <a:srgbClr val="1E3A6E"/>
          </a:solidFill>
          <a:ln/>
        </p:spPr>
      </p:sp>
      <p:sp>
        <p:nvSpPr>
          <p:cNvPr id="22" name="Shape 19"/>
          <p:cNvSpPr/>
          <p:nvPr/>
        </p:nvSpPr>
        <p:spPr>
          <a:xfrm>
            <a:off x="11811000" y="4826000"/>
            <a:ext cx="2540000" cy="12700"/>
          </a:xfrm>
          <a:prstGeom prst="rect">
            <a:avLst/>
          </a:prstGeom>
          <a:solidFill>
            <a:srgbClr val="1E3A6E"/>
          </a:solidFill>
          <a:ln/>
        </p:spPr>
      </p:sp>
      <p:sp>
        <p:nvSpPr>
          <p:cNvPr id="23" name="Text 20"/>
          <p:cNvSpPr/>
          <p:nvPr/>
        </p:nvSpPr>
        <p:spPr>
          <a:xfrm>
            <a:off x="1270000" y="5080000"/>
            <a:ext cx="3810000" cy="762000"/>
          </a:xfrm>
          <a:prstGeom prst="rect">
            <a:avLst/>
          </a:prstGeom>
          <a:noFill/>
          <a:ln/>
        </p:spPr>
        <p:txBody>
          <a:bodyPr wrap="square" lIns="0" tIns="0" rIns="0" bIns="0" rtlCol="0" anchor="t"/>
          <a:lstStyle/>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BS Cyber Security</a:t>
            </a:r>
            <a:endParaRPr lang="en-US" sz="1600" dirty="0"/>
          </a:p>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 University Of Wah</a:t>
            </a:r>
            <a:endParaRPr lang="en-US" sz="1600" dirty="0"/>
          </a:p>
        </p:txBody>
      </p:sp>
      <p:sp>
        <p:nvSpPr>
          <p:cNvPr id="24" name="Text 21"/>
          <p:cNvSpPr/>
          <p:nvPr/>
        </p:nvSpPr>
        <p:spPr>
          <a:xfrm>
            <a:off x="6223000" y="5080000"/>
            <a:ext cx="3810000" cy="762000"/>
          </a:xfrm>
          <a:prstGeom prst="rect">
            <a:avLst/>
          </a:prstGeom>
          <a:noFill/>
          <a:ln/>
        </p:spPr>
        <p:txBody>
          <a:bodyPr wrap="square" lIns="0" tIns="0" rIns="0" bIns="0" rtlCol="0" anchor="t"/>
          <a:lstStyle/>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BS Cyber Security</a:t>
            </a:r>
            <a:endParaRPr lang="en-US" sz="1600" dirty="0"/>
          </a:p>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 University Of Wah</a:t>
            </a:r>
            <a:endParaRPr lang="en-US" sz="1600" dirty="0"/>
          </a:p>
        </p:txBody>
      </p:sp>
      <p:sp>
        <p:nvSpPr>
          <p:cNvPr id="25" name="Text 22"/>
          <p:cNvSpPr/>
          <p:nvPr/>
        </p:nvSpPr>
        <p:spPr>
          <a:xfrm>
            <a:off x="11176000" y="5080000"/>
            <a:ext cx="3810000" cy="762000"/>
          </a:xfrm>
          <a:prstGeom prst="rect">
            <a:avLst/>
          </a:prstGeom>
          <a:noFill/>
          <a:ln/>
        </p:spPr>
        <p:txBody>
          <a:bodyPr wrap="square" lIns="0" tIns="0" rIns="0" bIns="0" rtlCol="0" anchor="t"/>
          <a:lstStyle/>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BS Cyber Security</a:t>
            </a:r>
            <a:endParaRPr lang="en-US" sz="1600" dirty="0"/>
          </a:p>
          <a:p>
            <a:pPr algn="ctr">
              <a:lnSpc>
                <a:spcPct val="150000"/>
              </a:lnSpc>
            </a:pPr>
            <a:r>
              <a:rPr lang="en-US" sz="1600" dirty="0">
                <a:solidFill>
                  <a:srgbClr val="8B9DC3"/>
                </a:solidFill>
                <a:latin typeface="Quattrocento Sans" pitchFamily="34" charset="0"/>
                <a:ea typeface="Quattrocento Sans" pitchFamily="34" charset="-122"/>
                <a:cs typeface="Quattrocento Sans" pitchFamily="34" charset="-120"/>
              </a:rPr>
              <a:t> University Of Wah</a:t>
            </a:r>
            <a:endParaRPr lang="en-US" sz="1600" dirty="0"/>
          </a:p>
        </p:txBody>
      </p:sp>
      <p:sp>
        <p:nvSpPr>
          <p:cNvPr id="26" name="Shape 23"/>
          <p:cNvSpPr/>
          <p:nvPr/>
        </p:nvSpPr>
        <p:spPr>
          <a:xfrm>
            <a:off x="2997200" y="6223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00D4FF">
              <a:alpha val="50000"/>
            </a:srgbClr>
          </a:solidFill>
          <a:ln/>
        </p:spPr>
      </p:sp>
      <p:sp>
        <p:nvSpPr>
          <p:cNvPr id="27" name="Shape 24"/>
          <p:cNvSpPr/>
          <p:nvPr/>
        </p:nvSpPr>
        <p:spPr>
          <a:xfrm>
            <a:off x="7950200" y="6223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00D4FF">
              <a:alpha val="50000"/>
            </a:srgbClr>
          </a:solidFill>
          <a:ln/>
        </p:spPr>
      </p:sp>
      <p:sp>
        <p:nvSpPr>
          <p:cNvPr id="28" name="Shape 25"/>
          <p:cNvSpPr/>
          <p:nvPr/>
        </p:nvSpPr>
        <p:spPr>
          <a:xfrm>
            <a:off x="12903200" y="6223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00D4FF">
              <a:alpha val="50000"/>
            </a:srgbClr>
          </a:solidFill>
          <a:ln/>
        </p:spPr>
      </p:sp>
      <p:sp>
        <p:nvSpPr>
          <p:cNvPr id="29" name="Shape 26"/>
          <p:cNvSpPr/>
          <p:nvPr/>
        </p:nvSpPr>
        <p:spPr>
          <a:xfrm>
            <a:off x="762000" y="8382000"/>
            <a:ext cx="14732000" cy="12700"/>
          </a:xfrm>
          <a:prstGeom prst="rect">
            <a:avLst/>
          </a:prstGeom>
          <a:solidFill>
            <a:srgbClr val="1E3A6E"/>
          </a:solidFill>
          <a:ln/>
        </p:spPr>
      </p:sp>
      <p:sp>
        <p:nvSpPr>
          <p:cNvPr id="30" name="Text 27"/>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1" name="Text 28"/>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2 / 18</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901700" y="0"/>
            <a:ext cx="1524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a:t>
            </a:r>
            <a:r>
              <a:rPr lang="en-US" sz="1200" kern="0" spc="100" dirty="0">
                <a:solidFill>
                  <a:srgbClr val="00D4FF"/>
                </a:solidFill>
                <a:latin typeface="Liter" pitchFamily="34" charset="0"/>
                <a:ea typeface="Liter" pitchFamily="34" charset="-122"/>
                <a:cs typeface="Liter" pitchFamily="34" charset="-120"/>
              </a:rPr>
              <a:t>INTRODUCTION</a:t>
            </a:r>
            <a:r>
              <a:rPr lang="en-US" sz="1200" kern="0" spc="100" dirty="0">
                <a:solidFill>
                  <a:srgbClr val="8B9DC3"/>
                </a:solidFill>
                <a:latin typeface="Liter" pitchFamily="34" charset="0"/>
                <a:ea typeface="Liter" pitchFamily="34" charset="-122"/>
                <a:cs typeface="Liter" pitchFamily="34" charset="-120"/>
              </a:rPr>
              <a:t> | OBJECTIVES | OVERVIEW | ARCHITECTURE | PHASES | CHALLENGES | SECURITY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Introduction</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Text 5"/>
          <p:cNvSpPr/>
          <p:nvPr/>
        </p:nvSpPr>
        <p:spPr>
          <a:xfrm>
            <a:off x="762000" y="1587500"/>
            <a:ext cx="8128000" cy="6350000"/>
          </a:xfrm>
          <a:prstGeom prst="rect">
            <a:avLst/>
          </a:prstGeom>
          <a:noFill/>
          <a:ln/>
        </p:spPr>
        <p:txBody>
          <a:bodyPr wrap="square" lIns="0" tIns="0" rIns="0" bIns="0" rtlCol="0" anchor="t"/>
          <a:lstStyle/>
          <a:p>
            <a:pPr>
              <a:lnSpc>
                <a:spcPct val="160000"/>
              </a:lnSpc>
            </a:pPr>
            <a:r>
              <a:rPr lang="en-US" sz="1800" b="1" dirty="0">
                <a:solidFill>
                  <a:srgbClr val="00D4FF"/>
                </a:solidFill>
                <a:latin typeface="QuattrocentoSans" pitchFamily="34" charset="0"/>
                <a:ea typeface="QuattrocentoSans" pitchFamily="34" charset="-122"/>
                <a:cs typeface="QuattrocentoSans" pitchFamily="34" charset="-120"/>
              </a:rPr>
              <a:t>Bluetooth Message Access Profile (MAP)</a:t>
            </a:r>
            <a:r>
              <a:rPr lang="en-US" sz="1800" dirty="0">
                <a:solidFill>
                  <a:srgbClr val="E8EDF5"/>
                </a:solidFill>
                <a:latin typeface="QuattrocentoSans" pitchFamily="34" charset="0"/>
                <a:ea typeface="QuattrocentoSans" pitchFamily="34" charset="-122"/>
                <a:cs typeface="QuattrocentoSans" pitchFamily="34" charset="-120"/>
              </a:rPr>
              <a:t> enables message exchange between devices over Bluetooth connections.</a:t>
            </a:r>
            <a:endParaRPr lang="en-US" sz="1800" dirty="0"/>
          </a:p>
          <a:p>
            <a:pPr>
              <a:lnSpc>
                <a:spcPct val="160000"/>
              </a:lnSpc>
              <a:spcBef>
                <a:spcPts val="1200"/>
              </a:spcBef>
            </a:pPr>
            <a:r>
              <a:rPr lang="en-US" sz="1800" dirty="0">
                <a:solidFill>
                  <a:srgbClr val="E8EDF5"/>
                </a:solidFill>
                <a:latin typeface="QuattrocentoSans" pitchFamily="34" charset="0"/>
                <a:ea typeface="QuattrocentoSans" pitchFamily="34" charset="-122"/>
                <a:cs typeface="QuattrocentoSans" pitchFamily="34" charset="-120"/>
              </a:rPr>
              <a:t>Widely used in:</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Hands-free car systems</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Smartwatches and wearables</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Automotive infotainment systems</a:t>
            </a:r>
            <a:endParaRPr lang="en-US" sz="1800" dirty="0"/>
          </a:p>
          <a:p>
            <a:pPr>
              <a:lnSpc>
                <a:spcPct val="160000"/>
              </a:lnSpc>
              <a:spcBef>
                <a:spcPts val="1200"/>
              </a:spcBef>
            </a:pPr>
            <a:r>
              <a:rPr lang="en-US" sz="1800" b="1" dirty="0">
                <a:solidFill>
                  <a:srgbClr val="00D4FF"/>
                </a:solidFill>
                <a:latin typeface="QuattrocentoSans" pitchFamily="34" charset="0"/>
                <a:ea typeface="QuattrocentoSans" pitchFamily="34" charset="-122"/>
                <a:cs typeface="QuattrocentoSans" pitchFamily="34" charset="-120"/>
              </a:rPr>
              <a:t>SMS-based OTP authentication</a:t>
            </a:r>
            <a:r>
              <a:rPr lang="en-US" sz="1800" dirty="0">
                <a:solidFill>
                  <a:srgbClr val="E8EDF5"/>
                </a:solidFill>
                <a:latin typeface="QuattrocentoSans" pitchFamily="34" charset="0"/>
                <a:ea typeface="QuattrocentoSans" pitchFamily="34" charset="-122"/>
                <a:cs typeface="QuattrocentoSans" pitchFamily="34" charset="-120"/>
              </a:rPr>
              <a:t> remains a common security mechanism for banks, social media, and online services.</a:t>
            </a:r>
            <a:endParaRPr lang="en-US" sz="1800" dirty="0"/>
          </a:p>
          <a:p>
            <a:pPr>
              <a:lnSpc>
                <a:spcPct val="160000"/>
              </a:lnSpc>
              <a:spcBef>
                <a:spcPts val="1200"/>
              </a:spcBef>
            </a:pPr>
            <a:r>
              <a:rPr lang="en-US" sz="1800" dirty="0">
                <a:solidFill>
                  <a:srgbClr val="E8EDF5"/>
                </a:solidFill>
                <a:latin typeface="QuattrocentoSans" pitchFamily="34" charset="0"/>
                <a:ea typeface="QuattrocentoSans" pitchFamily="34" charset="-122"/>
                <a:cs typeface="QuattrocentoSans" pitchFamily="34" charset="-120"/>
              </a:rPr>
              <a:t>This project investigates security vulnerabilities in Bluetooth MAP communication and demonstrates SMS monitoring capabilities.</a:t>
            </a:r>
            <a:endParaRPr lang="en-US" sz="1800" dirty="0"/>
          </a:p>
        </p:txBody>
      </p:sp>
      <p:sp>
        <p:nvSpPr>
          <p:cNvPr id="9" name="Shape 6"/>
          <p:cNvSpPr/>
          <p:nvPr/>
        </p:nvSpPr>
        <p:spPr>
          <a:xfrm>
            <a:off x="9398000" y="1587500"/>
            <a:ext cx="6096000" cy="6350000"/>
          </a:xfrm>
          <a:prstGeom prst="roundRect">
            <a:avLst>
              <a:gd name="adj" fmla="val 8000"/>
            </a:avLst>
          </a:prstGeom>
          <a:solidFill>
            <a:srgbClr val="0D1E45">
              <a:alpha val="37647"/>
            </a:srgbClr>
          </a:solidFill>
          <a:ln w="12700">
            <a:solidFill>
              <a:srgbClr val="00D4FF">
                <a:alpha val="18824"/>
              </a:srgbClr>
            </a:solidFill>
            <a:prstDash val="solid"/>
          </a:ln>
        </p:spPr>
      </p:sp>
      <p:pic>
        <p:nvPicPr>
          <p:cNvPr id="10" name="Image 0" descr="https://kimi-img.moonshot.cn/pub/slides/okc/ofj3fxaw5mk46/mnt/agents/output/bluetooth-security/images/3_Free_Glowing_Bluetooth_Icon_Image.png"/>
          <p:cNvPicPr>
            <a:picLocks noChangeAspect="1"/>
          </p:cNvPicPr>
          <p:nvPr/>
        </p:nvPicPr>
        <p:blipFill>
          <a:blip r:embed="rId3"/>
          <a:srcRect t="2273" b="2273"/>
          <a:stretch/>
        </p:blipFill>
        <p:spPr>
          <a:xfrm>
            <a:off x="9652000" y="1841500"/>
            <a:ext cx="5588000" cy="3048000"/>
          </a:xfrm>
          <a:prstGeom prst="roundRect">
            <a:avLst>
              <a:gd name="adj" fmla="val 8000"/>
            </a:avLst>
          </a:prstGeom>
        </p:spPr>
      </p:pic>
      <p:sp>
        <p:nvSpPr>
          <p:cNvPr id="11" name="Text 7"/>
          <p:cNvSpPr/>
          <p:nvPr/>
        </p:nvSpPr>
        <p:spPr>
          <a:xfrm>
            <a:off x="9652000" y="5143500"/>
            <a:ext cx="5588000" cy="2540000"/>
          </a:xfrm>
          <a:prstGeom prst="rect">
            <a:avLst/>
          </a:prstGeom>
          <a:noFill/>
          <a:ln/>
        </p:spPr>
        <p:txBody>
          <a:bodyPr wrap="square" lIns="0" tIns="0" rIns="0" bIns="0" rtlCol="0" anchor="t"/>
          <a:lstStyle/>
          <a:p>
            <a:pPr>
              <a:lnSpc>
                <a:spcPct val="150000"/>
              </a:lnSpc>
            </a:pPr>
            <a:r>
              <a:rPr lang="en-US" sz="1600" b="1" dirty="0">
                <a:solidFill>
                  <a:srgbClr val="00D4FF"/>
                </a:solidFill>
                <a:latin typeface="Quattrocento Sans" pitchFamily="34" charset="0"/>
                <a:ea typeface="Quattrocento Sans" pitchFamily="34" charset="-122"/>
                <a:cs typeface="Quattrocento Sans" pitchFamily="34" charset="-120"/>
              </a:rPr>
              <a:t>Research Focus:</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Investigating how granted Bluetooth MAP permissions can be exploited to intercept SMS messages, including sensitive OTP authentication codes.</a:t>
            </a:r>
            <a:endParaRPr lang="en-US" sz="1600" dirty="0"/>
          </a:p>
        </p:txBody>
      </p:sp>
      <p:sp>
        <p:nvSpPr>
          <p:cNvPr id="12" name="Shape 8"/>
          <p:cNvSpPr/>
          <p:nvPr/>
        </p:nvSpPr>
        <p:spPr>
          <a:xfrm>
            <a:off x="762000" y="8382000"/>
            <a:ext cx="14732000" cy="12700"/>
          </a:xfrm>
          <a:prstGeom prst="rect">
            <a:avLst/>
          </a:prstGeom>
          <a:solidFill>
            <a:srgbClr val="1E3A6E"/>
          </a:solidFill>
          <a:ln/>
        </p:spPr>
      </p:sp>
      <p:sp>
        <p:nvSpPr>
          <p:cNvPr id="13" name="Text 9"/>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14" name="Text 10"/>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3 / 18</a:t>
            </a:r>
            <a:endParaRPr lang="en-US" sz="14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2425700" y="0"/>
            <a:ext cx="1397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a:t>
            </a:r>
            <a:r>
              <a:rPr lang="en-US" sz="1200" kern="0" spc="100" dirty="0">
                <a:solidFill>
                  <a:srgbClr val="00D4FF"/>
                </a:solidFill>
                <a:latin typeface="Liter" pitchFamily="34" charset="0"/>
                <a:ea typeface="Liter" pitchFamily="34" charset="-122"/>
                <a:cs typeface="Liter" pitchFamily="34" charset="-120"/>
              </a:rPr>
              <a:t>OBJECTIVES</a:t>
            </a:r>
            <a:r>
              <a:rPr lang="en-US" sz="1200" kern="0" spc="100" dirty="0">
                <a:solidFill>
                  <a:srgbClr val="8B9DC3"/>
                </a:solidFill>
                <a:latin typeface="Liter" pitchFamily="34" charset="0"/>
                <a:ea typeface="Liter" pitchFamily="34" charset="-122"/>
                <a:cs typeface="Liter" pitchFamily="34" charset="-120"/>
              </a:rPr>
              <a:t> | OVERVIEW | ARCHITECTURE | PHASES | CHALLENGES | SECURITY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Project Objectives</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762000" y="15875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9" name="Shape 6"/>
          <p:cNvSpPr/>
          <p:nvPr/>
        </p:nvSpPr>
        <p:spPr>
          <a:xfrm>
            <a:off x="1079500" y="1841500"/>
            <a:ext cx="457200" cy="457200"/>
          </a:xfrm>
          <a:custGeom>
            <a:avLst/>
            <a:gdLst/>
            <a:ahLst/>
            <a:cxnLst/>
            <a:rect l="l" t="t" r="r" b="b"/>
            <a:pathLst>
              <a:path w="457200" h="457200">
                <a:moveTo>
                  <a:pt x="371475" y="185738"/>
                </a:moveTo>
                <a:cubicBezTo>
                  <a:pt x="371475" y="226725"/>
                  <a:pt x="358170" y="264587"/>
                  <a:pt x="335756" y="295305"/>
                </a:cubicBezTo>
                <a:lnTo>
                  <a:pt x="448806" y="408444"/>
                </a:lnTo>
                <a:cubicBezTo>
                  <a:pt x="459968" y="419606"/>
                  <a:pt x="459968" y="437733"/>
                  <a:pt x="448806" y="448895"/>
                </a:cubicBezTo>
                <a:cubicBezTo>
                  <a:pt x="437644"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7" y="314325"/>
                  <a:pt x="314325" y="256707"/>
                  <a:pt x="314325" y="185738"/>
                </a:cubicBezTo>
                <a:cubicBezTo>
                  <a:pt x="314325" y="114768"/>
                  <a:pt x="256707" y="57150"/>
                  <a:pt x="185738" y="57150"/>
                </a:cubicBezTo>
                <a:cubicBezTo>
                  <a:pt x="114768" y="57150"/>
                  <a:pt x="57150" y="114768"/>
                  <a:pt x="57150" y="185737"/>
                </a:cubicBezTo>
                <a:cubicBezTo>
                  <a:pt x="57150" y="256707"/>
                  <a:pt x="114768" y="314325"/>
                  <a:pt x="185737" y="314325"/>
                </a:cubicBezTo>
                <a:close/>
              </a:path>
            </a:pathLst>
          </a:custGeom>
          <a:solidFill>
            <a:srgbClr val="00D4FF"/>
          </a:solidFill>
          <a:ln/>
        </p:spPr>
      </p:sp>
      <p:sp>
        <p:nvSpPr>
          <p:cNvPr id="10" name="Text 7"/>
          <p:cNvSpPr/>
          <p:nvPr/>
        </p:nvSpPr>
        <p:spPr>
          <a:xfrm>
            <a:off x="1714500" y="17780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Investigate MAP Vulnerabilities</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Analyze security weaknesses in the Bluetooth Message Access Profile protocol</a:t>
            </a:r>
            <a:endParaRPr lang="en-US" sz="1600" dirty="0"/>
          </a:p>
        </p:txBody>
      </p:sp>
      <p:sp>
        <p:nvSpPr>
          <p:cNvPr id="11" name="Shape 8"/>
          <p:cNvSpPr/>
          <p:nvPr/>
        </p:nvSpPr>
        <p:spPr>
          <a:xfrm>
            <a:off x="5778500" y="15875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2" name="Shape 9"/>
          <p:cNvSpPr/>
          <p:nvPr/>
        </p:nvSpPr>
        <p:spPr>
          <a:xfrm>
            <a:off x="6067425" y="1841500"/>
            <a:ext cx="514350" cy="457200"/>
          </a:xfrm>
          <a:custGeom>
            <a:avLst/>
            <a:gdLst/>
            <a:ahLst/>
            <a:cxnLst/>
            <a:rect l="l" t="t" r="r" b="b"/>
            <a:pathLst>
              <a:path w="514350" h="457200">
                <a:moveTo>
                  <a:pt x="257175" y="30272"/>
                </a:moveTo>
                <a:lnTo>
                  <a:pt x="86082" y="156984"/>
                </a:lnTo>
                <a:lnTo>
                  <a:pt x="227261" y="261640"/>
                </a:lnTo>
                <a:cubicBezTo>
                  <a:pt x="231993" y="265122"/>
                  <a:pt x="237262" y="267801"/>
                  <a:pt x="242888" y="269409"/>
                </a:cubicBezTo>
                <a:lnTo>
                  <a:pt x="242888" y="414338"/>
                </a:lnTo>
                <a:cubicBezTo>
                  <a:pt x="242888" y="419249"/>
                  <a:pt x="243334" y="423982"/>
                  <a:pt x="244048" y="428625"/>
                </a:cubicBezTo>
                <a:lnTo>
                  <a:pt x="85725" y="428625"/>
                </a:lnTo>
                <a:cubicBezTo>
                  <a:pt x="54203" y="428625"/>
                  <a:pt x="28575" y="402997"/>
                  <a:pt x="28575" y="371475"/>
                </a:cubicBezTo>
                <a:lnTo>
                  <a:pt x="28575" y="157252"/>
                </a:lnTo>
                <a:cubicBezTo>
                  <a:pt x="28575" y="139125"/>
                  <a:pt x="37148" y="122069"/>
                  <a:pt x="51703" y="111353"/>
                </a:cubicBezTo>
                <a:lnTo>
                  <a:pt x="227261" y="-18752"/>
                </a:lnTo>
                <a:cubicBezTo>
                  <a:pt x="235922" y="-25182"/>
                  <a:pt x="246370" y="-28575"/>
                  <a:pt x="257175" y="-28575"/>
                </a:cubicBezTo>
                <a:cubicBezTo>
                  <a:pt x="267980" y="-28575"/>
                  <a:pt x="278428" y="-25092"/>
                  <a:pt x="287089" y="-18752"/>
                </a:cubicBezTo>
                <a:lnTo>
                  <a:pt x="462647" y="111353"/>
                </a:lnTo>
                <a:cubicBezTo>
                  <a:pt x="469076" y="116086"/>
                  <a:pt x="474345" y="122069"/>
                  <a:pt x="478185" y="128855"/>
                </a:cubicBezTo>
                <a:cubicBezTo>
                  <a:pt x="475952" y="128677"/>
                  <a:pt x="473720" y="128588"/>
                  <a:pt x="471488" y="128588"/>
                </a:cubicBezTo>
                <a:lnTo>
                  <a:pt x="389870" y="128588"/>
                </a:lnTo>
                <a:lnTo>
                  <a:pt x="257175" y="30272"/>
                </a:lnTo>
                <a:close/>
                <a:moveTo>
                  <a:pt x="285750" y="214313"/>
                </a:moveTo>
                <a:cubicBezTo>
                  <a:pt x="285750" y="190649"/>
                  <a:pt x="304949" y="171450"/>
                  <a:pt x="328613" y="171450"/>
                </a:cubicBezTo>
                <a:lnTo>
                  <a:pt x="471488" y="171450"/>
                </a:lnTo>
                <a:cubicBezTo>
                  <a:pt x="495151" y="171450"/>
                  <a:pt x="514350" y="190649"/>
                  <a:pt x="514350" y="214313"/>
                </a:cubicBezTo>
                <a:lnTo>
                  <a:pt x="514350" y="414338"/>
                </a:lnTo>
                <a:cubicBezTo>
                  <a:pt x="514350" y="438001"/>
                  <a:pt x="495151" y="457200"/>
                  <a:pt x="471488" y="457200"/>
                </a:cubicBezTo>
                <a:lnTo>
                  <a:pt x="328613" y="457200"/>
                </a:lnTo>
                <a:cubicBezTo>
                  <a:pt x="304949" y="457200"/>
                  <a:pt x="285750" y="438001"/>
                  <a:pt x="285750" y="414338"/>
                </a:cubicBezTo>
                <a:lnTo>
                  <a:pt x="285750" y="214313"/>
                </a:lnTo>
                <a:close/>
                <a:moveTo>
                  <a:pt x="357188" y="228600"/>
                </a:moveTo>
                <a:cubicBezTo>
                  <a:pt x="345311" y="228600"/>
                  <a:pt x="335756" y="238155"/>
                  <a:pt x="335756" y="250031"/>
                </a:cubicBezTo>
                <a:cubicBezTo>
                  <a:pt x="335756" y="261908"/>
                  <a:pt x="345311" y="271463"/>
                  <a:pt x="357188" y="271463"/>
                </a:cubicBezTo>
                <a:lnTo>
                  <a:pt x="442913" y="271463"/>
                </a:lnTo>
                <a:cubicBezTo>
                  <a:pt x="454789" y="271463"/>
                  <a:pt x="464344" y="261908"/>
                  <a:pt x="464344" y="250031"/>
                </a:cubicBezTo>
                <a:cubicBezTo>
                  <a:pt x="464344" y="238155"/>
                  <a:pt x="454789" y="228600"/>
                  <a:pt x="442913" y="228600"/>
                </a:cubicBezTo>
                <a:lnTo>
                  <a:pt x="357188" y="228600"/>
                </a:lnTo>
                <a:close/>
                <a:moveTo>
                  <a:pt x="357188" y="314325"/>
                </a:moveTo>
                <a:cubicBezTo>
                  <a:pt x="345311" y="314325"/>
                  <a:pt x="335756" y="323880"/>
                  <a:pt x="335756" y="335756"/>
                </a:cubicBezTo>
                <a:cubicBezTo>
                  <a:pt x="335756" y="347633"/>
                  <a:pt x="345311" y="357188"/>
                  <a:pt x="357188" y="357188"/>
                </a:cubicBezTo>
                <a:lnTo>
                  <a:pt x="407194" y="357188"/>
                </a:lnTo>
                <a:cubicBezTo>
                  <a:pt x="419070" y="357188"/>
                  <a:pt x="428625" y="347633"/>
                  <a:pt x="428625" y="335756"/>
                </a:cubicBezTo>
                <a:cubicBezTo>
                  <a:pt x="428625" y="323880"/>
                  <a:pt x="419070" y="314325"/>
                  <a:pt x="407194" y="314325"/>
                </a:cubicBezTo>
                <a:lnTo>
                  <a:pt x="357188" y="314325"/>
                </a:lnTo>
                <a:close/>
              </a:path>
            </a:pathLst>
          </a:custGeom>
          <a:solidFill>
            <a:srgbClr val="00D4FF"/>
          </a:solidFill>
          <a:ln/>
        </p:spPr>
      </p:sp>
      <p:sp>
        <p:nvSpPr>
          <p:cNvPr id="13" name="Text 10"/>
          <p:cNvSpPr/>
          <p:nvPr/>
        </p:nvSpPr>
        <p:spPr>
          <a:xfrm>
            <a:off x="6731000" y="17780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SMS Message Monitoring</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Demonstrate SMS monitoring capabilities via Bluetooth MAP service</a:t>
            </a:r>
            <a:endParaRPr lang="en-US" sz="1600" dirty="0"/>
          </a:p>
        </p:txBody>
      </p:sp>
      <p:sp>
        <p:nvSpPr>
          <p:cNvPr id="14" name="Shape 11"/>
          <p:cNvSpPr/>
          <p:nvPr/>
        </p:nvSpPr>
        <p:spPr>
          <a:xfrm>
            <a:off x="10795000" y="15875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5" name="Shape 12"/>
          <p:cNvSpPr/>
          <p:nvPr/>
        </p:nvSpPr>
        <p:spPr>
          <a:xfrm>
            <a:off x="11112500" y="18415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D4FF"/>
          </a:solidFill>
          <a:ln/>
        </p:spPr>
      </p:sp>
      <p:sp>
        <p:nvSpPr>
          <p:cNvPr id="16" name="Text 13"/>
          <p:cNvSpPr/>
          <p:nvPr/>
        </p:nvSpPr>
        <p:spPr>
          <a:xfrm>
            <a:off x="11747500" y="17780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OTP Interception Simulation</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Simulate OTP authentication interception scenarios in controlled environment</a:t>
            </a:r>
            <a:endParaRPr lang="en-US" sz="1600" dirty="0"/>
          </a:p>
        </p:txBody>
      </p:sp>
      <p:sp>
        <p:nvSpPr>
          <p:cNvPr id="17" name="Shape 14"/>
          <p:cNvSpPr/>
          <p:nvPr/>
        </p:nvSpPr>
        <p:spPr>
          <a:xfrm>
            <a:off x="762000" y="40640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8" name="Shape 15"/>
          <p:cNvSpPr/>
          <p:nvPr/>
        </p:nvSpPr>
        <p:spPr>
          <a:xfrm>
            <a:off x="1079500" y="4318000"/>
            <a:ext cx="457200" cy="457200"/>
          </a:xfrm>
          <a:custGeom>
            <a:avLst/>
            <a:gdLst/>
            <a:ahLst/>
            <a:cxnLst/>
            <a:rect l="l" t="t" r="r" b="b"/>
            <a:pathLst>
              <a:path w="457200" h="457200">
                <a:moveTo>
                  <a:pt x="57150" y="57150"/>
                </a:moveTo>
                <a:cubicBezTo>
                  <a:pt x="57150" y="41344"/>
                  <a:pt x="44381" y="28575"/>
                  <a:pt x="28575" y="28575"/>
                </a:cubicBezTo>
                <a:cubicBezTo>
                  <a:pt x="12769" y="28575"/>
                  <a:pt x="0" y="41344"/>
                  <a:pt x="0" y="57150"/>
                </a:cubicBezTo>
                <a:lnTo>
                  <a:pt x="0" y="357188"/>
                </a:lnTo>
                <a:cubicBezTo>
                  <a:pt x="0" y="396657"/>
                  <a:pt x="31968" y="428625"/>
                  <a:pt x="71438" y="428625"/>
                </a:cubicBezTo>
                <a:lnTo>
                  <a:pt x="428625" y="428625"/>
                </a:lnTo>
                <a:cubicBezTo>
                  <a:pt x="444431" y="428625"/>
                  <a:pt x="457200" y="415856"/>
                  <a:pt x="457200" y="400050"/>
                </a:cubicBezTo>
                <a:cubicBezTo>
                  <a:pt x="457200" y="384244"/>
                  <a:pt x="444431" y="371475"/>
                  <a:pt x="428625" y="371475"/>
                </a:cubicBezTo>
                <a:lnTo>
                  <a:pt x="71438" y="371475"/>
                </a:lnTo>
                <a:cubicBezTo>
                  <a:pt x="63579" y="371475"/>
                  <a:pt x="57150" y="365046"/>
                  <a:pt x="57150" y="357188"/>
                </a:cubicBezTo>
                <a:lnTo>
                  <a:pt x="57150" y="57150"/>
                </a:lnTo>
                <a:close/>
                <a:moveTo>
                  <a:pt x="420231" y="134481"/>
                </a:moveTo>
                <a:cubicBezTo>
                  <a:pt x="431393" y="123319"/>
                  <a:pt x="431393" y="105192"/>
                  <a:pt x="420231" y="94030"/>
                </a:cubicBezTo>
                <a:cubicBezTo>
                  <a:pt x="409069" y="82867"/>
                  <a:pt x="390942" y="82867"/>
                  <a:pt x="379780" y="94030"/>
                </a:cubicBezTo>
                <a:lnTo>
                  <a:pt x="285750" y="188149"/>
                </a:lnTo>
                <a:lnTo>
                  <a:pt x="234494" y="136981"/>
                </a:lnTo>
                <a:cubicBezTo>
                  <a:pt x="223331" y="125819"/>
                  <a:pt x="205204" y="125819"/>
                  <a:pt x="194042" y="136981"/>
                </a:cubicBezTo>
                <a:lnTo>
                  <a:pt x="108317" y="222706"/>
                </a:lnTo>
                <a:cubicBezTo>
                  <a:pt x="97155" y="233869"/>
                  <a:pt x="97155" y="251996"/>
                  <a:pt x="108317" y="263158"/>
                </a:cubicBezTo>
                <a:cubicBezTo>
                  <a:pt x="119479" y="274320"/>
                  <a:pt x="137606" y="274320"/>
                  <a:pt x="148769" y="263158"/>
                </a:cubicBezTo>
                <a:lnTo>
                  <a:pt x="214313" y="197614"/>
                </a:lnTo>
                <a:lnTo>
                  <a:pt x="265569" y="248870"/>
                </a:lnTo>
                <a:cubicBezTo>
                  <a:pt x="276731" y="260033"/>
                  <a:pt x="294858" y="260033"/>
                  <a:pt x="306020" y="248870"/>
                </a:cubicBezTo>
                <a:lnTo>
                  <a:pt x="420320" y="134570"/>
                </a:lnTo>
                <a:close/>
              </a:path>
            </a:pathLst>
          </a:custGeom>
          <a:solidFill>
            <a:srgbClr val="00D4FF"/>
          </a:solidFill>
          <a:ln/>
        </p:spPr>
      </p:sp>
      <p:sp>
        <p:nvSpPr>
          <p:cNvPr id="19" name="Text 16"/>
          <p:cNvSpPr/>
          <p:nvPr/>
        </p:nvSpPr>
        <p:spPr>
          <a:xfrm>
            <a:off x="1714500" y="42545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Real-Time Dashboard</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Develop Flask dashboard for real-time SMS event visualization</a:t>
            </a:r>
            <a:endParaRPr lang="en-US" sz="1600" dirty="0"/>
          </a:p>
        </p:txBody>
      </p:sp>
      <p:sp>
        <p:nvSpPr>
          <p:cNvPr id="20" name="Shape 17"/>
          <p:cNvSpPr/>
          <p:nvPr/>
        </p:nvSpPr>
        <p:spPr>
          <a:xfrm>
            <a:off x="5778500" y="40640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1" name="Shape 18"/>
          <p:cNvSpPr/>
          <p:nvPr/>
        </p:nvSpPr>
        <p:spPr>
          <a:xfrm>
            <a:off x="6096000" y="43180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00D4FF"/>
          </a:solidFill>
          <a:ln/>
        </p:spPr>
      </p:sp>
      <p:sp>
        <p:nvSpPr>
          <p:cNvPr id="22" name="Text 19"/>
          <p:cNvSpPr/>
          <p:nvPr/>
        </p:nvSpPr>
        <p:spPr>
          <a:xfrm>
            <a:off x="6731000" y="42545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Security Analysis</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Analyze security implications and propose mitigation strategies</a:t>
            </a:r>
            <a:endParaRPr lang="en-US" sz="1600" dirty="0"/>
          </a:p>
        </p:txBody>
      </p:sp>
      <p:sp>
        <p:nvSpPr>
          <p:cNvPr id="23" name="Shape 20"/>
          <p:cNvSpPr/>
          <p:nvPr/>
        </p:nvSpPr>
        <p:spPr>
          <a:xfrm>
            <a:off x="10795000" y="4064000"/>
            <a:ext cx="4699000" cy="2159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4" name="Shape 21"/>
          <p:cNvSpPr/>
          <p:nvPr/>
        </p:nvSpPr>
        <p:spPr>
          <a:xfrm>
            <a:off x="11112500" y="4318000"/>
            <a:ext cx="457200" cy="457200"/>
          </a:xfrm>
          <a:custGeom>
            <a:avLst/>
            <a:gdLst/>
            <a:ahLst/>
            <a:cxnLst/>
            <a:rect l="l" t="t" r="r" b="b"/>
            <a:pathLst>
              <a:path w="457200" h="457200">
                <a:moveTo>
                  <a:pt x="411837" y="16877"/>
                </a:moveTo>
                <a:cubicBezTo>
                  <a:pt x="422106" y="21431"/>
                  <a:pt x="428625" y="31611"/>
                  <a:pt x="428625" y="42863"/>
                </a:cubicBezTo>
                <a:lnTo>
                  <a:pt x="428625" y="414338"/>
                </a:lnTo>
                <a:cubicBezTo>
                  <a:pt x="428625" y="425589"/>
                  <a:pt x="422106" y="435769"/>
                  <a:pt x="411837" y="440323"/>
                </a:cubicBezTo>
                <a:cubicBezTo>
                  <a:pt x="401568" y="444877"/>
                  <a:pt x="389692" y="443180"/>
                  <a:pt x="381208" y="435769"/>
                </a:cubicBezTo>
                <a:lnTo>
                  <a:pt x="339596" y="399425"/>
                </a:lnTo>
                <a:cubicBezTo>
                  <a:pt x="300663" y="365403"/>
                  <a:pt x="251460" y="345579"/>
                  <a:pt x="199936" y="343168"/>
                </a:cubicBezTo>
                <a:lnTo>
                  <a:pt x="199936" y="428625"/>
                </a:lnTo>
                <a:cubicBezTo>
                  <a:pt x="199936" y="444431"/>
                  <a:pt x="187166" y="457200"/>
                  <a:pt x="171361" y="457200"/>
                </a:cubicBezTo>
                <a:lnTo>
                  <a:pt x="142786" y="457200"/>
                </a:lnTo>
                <a:cubicBezTo>
                  <a:pt x="126980" y="457200"/>
                  <a:pt x="114211" y="444431"/>
                  <a:pt x="114211" y="428625"/>
                </a:cubicBezTo>
                <a:lnTo>
                  <a:pt x="114211" y="342900"/>
                </a:lnTo>
                <a:cubicBezTo>
                  <a:pt x="51167" y="342900"/>
                  <a:pt x="0" y="291733"/>
                  <a:pt x="0" y="228600"/>
                </a:cubicBezTo>
                <a:cubicBezTo>
                  <a:pt x="0" y="165467"/>
                  <a:pt x="51167" y="114300"/>
                  <a:pt x="114300" y="114300"/>
                </a:cubicBezTo>
                <a:lnTo>
                  <a:pt x="189756" y="114300"/>
                </a:lnTo>
                <a:cubicBezTo>
                  <a:pt x="244941" y="114121"/>
                  <a:pt x="298162" y="94030"/>
                  <a:pt x="339685" y="57775"/>
                </a:cubicBezTo>
                <a:lnTo>
                  <a:pt x="381298" y="21431"/>
                </a:lnTo>
                <a:cubicBezTo>
                  <a:pt x="389692" y="14020"/>
                  <a:pt x="401747" y="12323"/>
                  <a:pt x="411926" y="16877"/>
                </a:cubicBezTo>
                <a:close/>
                <a:moveTo>
                  <a:pt x="200025" y="285750"/>
                </a:moveTo>
                <a:lnTo>
                  <a:pt x="200025" y="285929"/>
                </a:lnTo>
                <a:cubicBezTo>
                  <a:pt x="262801" y="288340"/>
                  <a:pt x="323076" y="311378"/>
                  <a:pt x="371475" y="351473"/>
                </a:cubicBezTo>
                <a:lnTo>
                  <a:pt x="371475" y="105638"/>
                </a:lnTo>
                <a:cubicBezTo>
                  <a:pt x="323076" y="145733"/>
                  <a:pt x="262801" y="168771"/>
                  <a:pt x="200025" y="171182"/>
                </a:cubicBezTo>
                <a:lnTo>
                  <a:pt x="200025" y="285750"/>
                </a:lnTo>
                <a:close/>
              </a:path>
            </a:pathLst>
          </a:custGeom>
          <a:solidFill>
            <a:srgbClr val="00D4FF"/>
          </a:solidFill>
          <a:ln/>
        </p:spPr>
      </p:sp>
      <p:sp>
        <p:nvSpPr>
          <p:cNvPr id="25" name="Text 22"/>
          <p:cNvSpPr/>
          <p:nvPr/>
        </p:nvSpPr>
        <p:spPr>
          <a:xfrm>
            <a:off x="11747500" y="4254500"/>
            <a:ext cx="3492500" cy="1778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Awareness Campaign</a:t>
            </a:r>
            <a:endParaRPr lang="en-US" sz="1600" dirty="0"/>
          </a:p>
          <a:p>
            <a:pPr>
              <a:lnSpc>
                <a:spcPct val="150000"/>
              </a:lnSpc>
              <a:spcBef>
                <a:spcPts val="600"/>
              </a:spcBef>
            </a:pPr>
            <a:r>
              <a:rPr lang="en-US" sz="1600" dirty="0">
                <a:solidFill>
                  <a:srgbClr val="E8EDF5"/>
                </a:solidFill>
                <a:latin typeface="Quattrocento Sans" pitchFamily="34" charset="0"/>
                <a:ea typeface="Quattrocento Sans" pitchFamily="34" charset="-122"/>
                <a:cs typeface="Quattrocento Sans" pitchFamily="34" charset="-120"/>
              </a:rPr>
              <a:t>Raise awareness about wireless communication security risks</a:t>
            </a:r>
            <a:endParaRPr lang="en-US" sz="1600" dirty="0"/>
          </a:p>
        </p:txBody>
      </p:sp>
      <p:sp>
        <p:nvSpPr>
          <p:cNvPr id="26" name="Shape 23"/>
          <p:cNvSpPr/>
          <p:nvPr/>
        </p:nvSpPr>
        <p:spPr>
          <a:xfrm>
            <a:off x="762000" y="6604000"/>
            <a:ext cx="14732000" cy="1524000"/>
          </a:xfrm>
          <a:prstGeom prst="roundRect">
            <a:avLst>
              <a:gd name="adj" fmla="val 6000"/>
            </a:avLst>
          </a:prstGeom>
          <a:gradFill flip="none" rotWithShape="1">
            <a:gsLst>
              <a:gs pos="0">
                <a:srgbClr val="0B1A3E"/>
              </a:gs>
              <a:gs pos="100000">
                <a:srgbClr val="1E3A6E"/>
              </a:gs>
            </a:gsLst>
            <a:lin ang="0" scaled="1"/>
          </a:gradFill>
          <a:ln w="12700">
            <a:solidFill>
              <a:srgbClr val="00D4FF">
                <a:alpha val="18824"/>
              </a:srgbClr>
            </a:solidFill>
            <a:prstDash val="solid"/>
          </a:ln>
        </p:spPr>
      </p:sp>
      <p:sp>
        <p:nvSpPr>
          <p:cNvPr id="27" name="Text 24"/>
          <p:cNvSpPr/>
          <p:nvPr/>
        </p:nvSpPr>
        <p:spPr>
          <a:xfrm>
            <a:off x="1270000" y="6858000"/>
            <a:ext cx="13716000" cy="1016000"/>
          </a:xfrm>
          <a:prstGeom prst="rect">
            <a:avLst/>
          </a:prstGeom>
          <a:noFill/>
          <a:ln/>
        </p:spPr>
        <p:txBody>
          <a:bodyPr wrap="square" lIns="0" tIns="0" rIns="0" bIns="0" rtlCol="0" anchor="ctr"/>
          <a:lstStyle/>
          <a:p>
            <a:pPr algn="ctr">
              <a:lnSpc>
                <a:spcPct val="150000"/>
              </a:lnSpc>
            </a:pPr>
            <a:r>
              <a:rPr lang="en-US" sz="1800" b="1" dirty="0">
                <a:solidFill>
                  <a:srgbClr val="00D4FF"/>
                </a:solidFill>
                <a:latin typeface="Quattrocento Sans" pitchFamily="34" charset="0"/>
                <a:ea typeface="Quattrocento Sans" pitchFamily="34" charset="-122"/>
                <a:cs typeface="Quattrocento Sans" pitchFamily="34" charset="-120"/>
              </a:rPr>
              <a:t>Goal:</a:t>
            </a:r>
            <a:r>
              <a:rPr lang="en-US" sz="1800" dirty="0">
                <a:solidFill>
                  <a:srgbClr val="E8EDF5"/>
                </a:solidFill>
                <a:latin typeface="Quattrocento Sans" pitchFamily="34" charset="0"/>
                <a:ea typeface="Quattrocento Sans" pitchFamily="34" charset="-122"/>
                <a:cs typeface="Quattrocento Sans" pitchFamily="34" charset="-120"/>
              </a:rPr>
              <a:t> Build a complete security analysis pipeline from Bluetooth exploitation to real-time dashboard visualization and mitigation recommendations</a:t>
            </a:r>
            <a:endParaRPr lang="en-US" sz="1600" dirty="0"/>
          </a:p>
        </p:txBody>
      </p:sp>
      <p:sp>
        <p:nvSpPr>
          <p:cNvPr id="28" name="Shape 25"/>
          <p:cNvSpPr/>
          <p:nvPr/>
        </p:nvSpPr>
        <p:spPr>
          <a:xfrm>
            <a:off x="762000" y="8382000"/>
            <a:ext cx="14732000" cy="12700"/>
          </a:xfrm>
          <a:prstGeom prst="rect">
            <a:avLst/>
          </a:prstGeom>
          <a:solidFill>
            <a:srgbClr val="1E3A6E"/>
          </a:solidFill>
          <a:ln/>
        </p:spPr>
      </p:sp>
      <p:sp>
        <p:nvSpPr>
          <p:cNvPr id="29" name="Text 26"/>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0" name="Text 27"/>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4 / 18</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3822700" y="0"/>
            <a:ext cx="1270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a:t>
            </a:r>
            <a:r>
              <a:rPr lang="en-US" sz="1200" kern="0" spc="100" dirty="0">
                <a:solidFill>
                  <a:srgbClr val="00D4FF"/>
                </a:solidFill>
                <a:latin typeface="Liter" pitchFamily="34" charset="0"/>
                <a:ea typeface="Liter" pitchFamily="34" charset="-122"/>
                <a:cs typeface="Liter" pitchFamily="34" charset="-120"/>
              </a:rPr>
              <a:t>OVERVIEW</a:t>
            </a:r>
            <a:r>
              <a:rPr lang="en-US" sz="1200" kern="0" spc="100" dirty="0">
                <a:solidFill>
                  <a:srgbClr val="8B9DC3"/>
                </a:solidFill>
                <a:latin typeface="Liter" pitchFamily="34" charset="0"/>
                <a:ea typeface="Liter" pitchFamily="34" charset="-122"/>
                <a:cs typeface="Liter" pitchFamily="34" charset="-120"/>
              </a:rPr>
              <a:t> | ARCHITECTURE | PHASES | CHALLENGES | SECURITY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Project Overview</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Text 5"/>
          <p:cNvSpPr/>
          <p:nvPr/>
        </p:nvSpPr>
        <p:spPr>
          <a:xfrm>
            <a:off x="762000" y="1587500"/>
            <a:ext cx="7620000" cy="6350000"/>
          </a:xfrm>
          <a:prstGeom prst="rect">
            <a:avLst/>
          </a:prstGeom>
          <a:noFill/>
          <a:ln/>
        </p:spPr>
        <p:txBody>
          <a:bodyPr wrap="square" lIns="0" tIns="0" rIns="0" bIns="0" rtlCol="0" anchor="t"/>
          <a:lstStyle/>
          <a:p>
            <a:pPr>
              <a:lnSpc>
                <a:spcPct val="160000"/>
              </a:lnSpc>
            </a:pPr>
            <a:r>
              <a:rPr lang="en-US" sz="1800" b="1" dirty="0">
                <a:solidFill>
                  <a:srgbClr val="00D4FF"/>
                </a:solidFill>
                <a:latin typeface="QuattrocentoSans" pitchFamily="34" charset="0"/>
                <a:ea typeface="QuattrocentoSans" pitchFamily="34" charset="-122"/>
                <a:cs typeface="QuattrocentoSans" pitchFamily="34" charset="-120"/>
              </a:rPr>
              <a:t>End-to-End Security Analysis System</a:t>
            </a:r>
            <a:r>
              <a:rPr lang="en-US" sz="1800" dirty="0">
                <a:solidFill>
                  <a:srgbClr val="E8EDF5"/>
                </a:solidFill>
                <a:latin typeface="QuattrocentoSans" pitchFamily="34" charset="0"/>
                <a:ea typeface="QuattrocentoSans" pitchFamily="34" charset="-122"/>
                <a:cs typeface="QuattrocentoSans" pitchFamily="34" charset="-120"/>
              </a:rPr>
              <a:t> for Bluetooth MAP communication</a:t>
            </a:r>
            <a:endParaRPr lang="en-US" sz="1800" dirty="0"/>
          </a:p>
          <a:p>
            <a:pPr>
              <a:lnSpc>
                <a:spcPct val="160000"/>
              </a:lnSpc>
              <a:spcBef>
                <a:spcPts val="1400"/>
              </a:spcBef>
            </a:pPr>
            <a:r>
              <a:rPr lang="en-US" sz="1800" dirty="0">
                <a:solidFill>
                  <a:srgbClr val="E8EDF5"/>
                </a:solidFill>
                <a:latin typeface="QuattrocentoSans" pitchFamily="34" charset="0"/>
                <a:ea typeface="QuattrocentoSans" pitchFamily="34" charset="-122"/>
                <a:cs typeface="QuattrocentoSans" pitchFamily="34" charset="-120"/>
              </a:rPr>
              <a:t>Our system combines:</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Bluetooth exploitation tools with modern web authentication</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Kali Linux environment with specialized Bluetooth utilities</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Firebase OTP authentication for realistic attack simulation</a:t>
            </a:r>
            <a:endParaRPr lang="en-US" sz="1800" dirty="0"/>
          </a:p>
          <a:p>
            <a:pPr marL="285750" indent="-285750">
              <a:lnSpc>
                <a:spcPct val="160000"/>
              </a:lnSpc>
              <a:spcBef>
                <a:spcPts val="10"/>
              </a:spcBef>
              <a:buSzPct val="100000"/>
              <a:buChar char="•"/>
            </a:pPr>
            <a:r>
              <a:rPr lang="en-US" sz="1800" dirty="0">
                <a:solidFill>
                  <a:srgbClr val="E8EDF5"/>
                </a:solidFill>
                <a:latin typeface="QuattrocentoSans" pitchFamily="34" charset="0"/>
                <a:ea typeface="QuattrocentoSans" pitchFamily="34" charset="-122"/>
                <a:cs typeface="QuattrocentoSans" pitchFamily="34" charset="-120"/>
              </a:rPr>
              <a:t>Real-time monitoring dashboard for security demonstration</a:t>
            </a:r>
            <a:endParaRPr lang="en-US" sz="1800" dirty="0"/>
          </a:p>
          <a:p>
            <a:pPr>
              <a:lnSpc>
                <a:spcPct val="160000"/>
              </a:lnSpc>
              <a:spcBef>
                <a:spcPts val="1400"/>
              </a:spcBef>
            </a:pPr>
            <a:r>
              <a:rPr lang="en-US" sz="1800" b="1" dirty="0">
                <a:solidFill>
                  <a:srgbClr val="00D4FF"/>
                </a:solidFill>
                <a:latin typeface="QuattrocentoSans" pitchFamily="34" charset="0"/>
                <a:ea typeface="QuattrocentoSans" pitchFamily="34" charset="-122"/>
                <a:cs typeface="QuattrocentoSans" pitchFamily="34" charset="-120"/>
              </a:rPr>
              <a:t>Environment:</a:t>
            </a:r>
            <a:r>
              <a:rPr lang="en-US" sz="1800" dirty="0">
                <a:solidFill>
                  <a:srgbClr val="E8EDF5"/>
                </a:solidFill>
                <a:latin typeface="QuattrocentoSans" pitchFamily="34" charset="0"/>
                <a:ea typeface="QuattrocentoSans" pitchFamily="34" charset="-122"/>
                <a:cs typeface="QuattrocentoSans" pitchFamily="34" charset="-120"/>
              </a:rPr>
              <a:t> Controlled laboratory setup for ethical security research</a:t>
            </a:r>
            <a:endParaRPr lang="en-US" sz="1800" dirty="0"/>
          </a:p>
        </p:txBody>
      </p:sp>
      <p:sp>
        <p:nvSpPr>
          <p:cNvPr id="9" name="Shape 6"/>
          <p:cNvSpPr/>
          <p:nvPr/>
        </p:nvSpPr>
        <p:spPr>
          <a:xfrm>
            <a:off x="8890000" y="1587500"/>
            <a:ext cx="6604000" cy="6350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0" name="Text 7"/>
          <p:cNvSpPr/>
          <p:nvPr/>
        </p:nvSpPr>
        <p:spPr>
          <a:xfrm>
            <a:off x="9271000" y="1841500"/>
            <a:ext cx="5842000" cy="381000"/>
          </a:xfrm>
          <a:prstGeom prst="rect">
            <a:avLst/>
          </a:prstGeom>
          <a:noFill/>
          <a:ln/>
        </p:spPr>
        <p:txBody>
          <a:bodyPr wrap="none" lIns="0" tIns="0" rIns="0" bIns="0" rtlCol="0" anchor="ctr"/>
          <a:lstStyle/>
          <a:p>
            <a:pPr>
              <a:lnSpc>
                <a:spcPct val="130000"/>
              </a:lnSpc>
            </a:pPr>
            <a:r>
              <a:rPr lang="en-US" sz="2200" dirty="0">
                <a:solidFill>
                  <a:srgbClr val="00D4FF"/>
                </a:solidFill>
                <a:latin typeface="Liter" pitchFamily="34" charset="0"/>
                <a:ea typeface="Liter" pitchFamily="34" charset="-122"/>
                <a:cs typeface="Liter" pitchFamily="34" charset="-120"/>
              </a:rPr>
              <a:t>System Highlights</a:t>
            </a:r>
            <a:endParaRPr lang="en-US" sz="2200" dirty="0"/>
          </a:p>
        </p:txBody>
      </p:sp>
      <p:sp>
        <p:nvSpPr>
          <p:cNvPr id="11" name="Shape 8"/>
          <p:cNvSpPr/>
          <p:nvPr/>
        </p:nvSpPr>
        <p:spPr>
          <a:xfrm>
            <a:off x="9271000" y="2286000"/>
            <a:ext cx="5842000" cy="12700"/>
          </a:xfrm>
          <a:prstGeom prst="rect">
            <a:avLst/>
          </a:prstGeom>
          <a:solidFill>
            <a:srgbClr val="1E3A6E"/>
          </a:solidFill>
          <a:ln/>
        </p:spPr>
      </p:sp>
      <p:sp>
        <p:nvSpPr>
          <p:cNvPr id="12" name="Shape 9"/>
          <p:cNvSpPr/>
          <p:nvPr/>
        </p:nvSpPr>
        <p:spPr>
          <a:xfrm>
            <a:off x="9398000" y="2540000"/>
            <a:ext cx="355600" cy="355600"/>
          </a:xfrm>
          <a:custGeom>
            <a:avLst/>
            <a:gdLst/>
            <a:ahLst/>
            <a:cxnLst/>
            <a:rect l="l" t="t" r="r" b="b"/>
            <a:pathLst>
              <a:path w="355600" h="355600"/>
            </a:pathLst>
          </a:custGeom>
          <a:solidFill>
            <a:srgbClr val="00D4FF"/>
          </a:solidFill>
          <a:ln/>
        </p:spPr>
      </p:sp>
      <p:sp>
        <p:nvSpPr>
          <p:cNvPr id="13" name="Text 10"/>
          <p:cNvSpPr/>
          <p:nvPr/>
        </p:nvSpPr>
        <p:spPr>
          <a:xfrm>
            <a:off x="9906000" y="2476500"/>
            <a:ext cx="5334000" cy="762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Bluetooth Exploitation</a:t>
            </a:r>
            <a:endParaRPr lang="en-US" sz="1600" dirty="0"/>
          </a:p>
          <a:p>
            <a:pPr>
              <a:lnSpc>
                <a:spcPct val="140000"/>
              </a:lnSpc>
            </a:pPr>
            <a:r>
              <a:rPr lang="en-US" sz="1600" dirty="0">
                <a:solidFill>
                  <a:srgbClr val="E8EDF5"/>
                </a:solidFill>
                <a:latin typeface="Quattrocento Sans" pitchFamily="34" charset="0"/>
                <a:ea typeface="Quattrocento Sans" pitchFamily="34" charset="-122"/>
                <a:cs typeface="Quattrocento Sans" pitchFamily="34" charset="-120"/>
              </a:rPr>
              <a:t>MAP protocol analysis and SMS interception</a:t>
            </a:r>
            <a:endParaRPr lang="en-US" sz="1600" dirty="0"/>
          </a:p>
        </p:txBody>
      </p:sp>
      <p:sp>
        <p:nvSpPr>
          <p:cNvPr id="14" name="Shape 11"/>
          <p:cNvSpPr/>
          <p:nvPr/>
        </p:nvSpPr>
        <p:spPr>
          <a:xfrm>
            <a:off x="9442450" y="3429000"/>
            <a:ext cx="266700" cy="355600"/>
          </a:xfrm>
          <a:custGeom>
            <a:avLst/>
            <a:gdLst/>
            <a:ahLst/>
            <a:cxnLst/>
            <a:rect l="l" t="t" r="r" b="b"/>
            <a:pathLst>
              <a:path w="266700" h="355600">
                <a:moveTo>
                  <a:pt x="11112" y="44450"/>
                </a:moveTo>
                <a:cubicBezTo>
                  <a:pt x="11112" y="19933"/>
                  <a:pt x="31046" y="0"/>
                  <a:pt x="55563" y="0"/>
                </a:cubicBezTo>
                <a:lnTo>
                  <a:pt x="211138" y="0"/>
                </a:lnTo>
                <a:cubicBezTo>
                  <a:pt x="235654" y="0"/>
                  <a:pt x="255587" y="19933"/>
                  <a:pt x="255587" y="44450"/>
                </a:cubicBezTo>
                <a:lnTo>
                  <a:pt x="255587" y="311150"/>
                </a:lnTo>
                <a:cubicBezTo>
                  <a:pt x="255587" y="335667"/>
                  <a:pt x="235654" y="355600"/>
                  <a:pt x="211138" y="355600"/>
                </a:cubicBezTo>
                <a:lnTo>
                  <a:pt x="55563" y="355600"/>
                </a:lnTo>
                <a:cubicBezTo>
                  <a:pt x="31046" y="355600"/>
                  <a:pt x="11112" y="335667"/>
                  <a:pt x="11112" y="311150"/>
                </a:cubicBezTo>
                <a:lnTo>
                  <a:pt x="11112" y="44450"/>
                </a:lnTo>
                <a:close/>
                <a:moveTo>
                  <a:pt x="88900" y="305594"/>
                </a:moveTo>
                <a:cubicBezTo>
                  <a:pt x="88900" y="314831"/>
                  <a:pt x="96331" y="322263"/>
                  <a:pt x="105569" y="322263"/>
                </a:cubicBezTo>
                <a:lnTo>
                  <a:pt x="161131" y="322263"/>
                </a:lnTo>
                <a:cubicBezTo>
                  <a:pt x="170369" y="322263"/>
                  <a:pt x="177800" y="314831"/>
                  <a:pt x="177800" y="305594"/>
                </a:cubicBezTo>
                <a:cubicBezTo>
                  <a:pt x="177800" y="296356"/>
                  <a:pt x="170369" y="288925"/>
                  <a:pt x="161131" y="288925"/>
                </a:cubicBezTo>
                <a:lnTo>
                  <a:pt x="105569" y="288925"/>
                </a:lnTo>
                <a:cubicBezTo>
                  <a:pt x="96331" y="288925"/>
                  <a:pt x="88900" y="296356"/>
                  <a:pt x="88900" y="305594"/>
                </a:cubicBezTo>
                <a:close/>
                <a:moveTo>
                  <a:pt x="211138" y="44450"/>
                </a:moveTo>
                <a:lnTo>
                  <a:pt x="55563" y="44450"/>
                </a:lnTo>
                <a:lnTo>
                  <a:pt x="55563" y="255587"/>
                </a:lnTo>
                <a:lnTo>
                  <a:pt x="211138" y="255587"/>
                </a:lnTo>
                <a:lnTo>
                  <a:pt x="211138" y="44450"/>
                </a:lnTo>
                <a:close/>
              </a:path>
            </a:pathLst>
          </a:custGeom>
          <a:solidFill>
            <a:srgbClr val="00D4FF"/>
          </a:solidFill>
          <a:ln/>
        </p:spPr>
      </p:sp>
      <p:sp>
        <p:nvSpPr>
          <p:cNvPr id="15" name="Text 12"/>
          <p:cNvSpPr/>
          <p:nvPr/>
        </p:nvSpPr>
        <p:spPr>
          <a:xfrm>
            <a:off x="9906000" y="3365500"/>
            <a:ext cx="5334000" cy="762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OTP Authentication</a:t>
            </a:r>
            <a:endParaRPr lang="en-US" sz="1600" dirty="0"/>
          </a:p>
          <a:p>
            <a:pPr>
              <a:lnSpc>
                <a:spcPct val="140000"/>
              </a:lnSpc>
            </a:pPr>
            <a:r>
              <a:rPr lang="en-US" sz="1600" dirty="0">
                <a:solidFill>
                  <a:srgbClr val="E8EDF5"/>
                </a:solidFill>
                <a:latin typeface="Quattrocento Sans" pitchFamily="34" charset="0"/>
                <a:ea typeface="Quattrocento Sans" pitchFamily="34" charset="-122"/>
                <a:cs typeface="Quattrocento Sans" pitchFamily="34" charset="-120"/>
              </a:rPr>
              <a:t>Firebase-based phone verification simulation</a:t>
            </a:r>
            <a:endParaRPr lang="en-US" sz="1600" dirty="0"/>
          </a:p>
        </p:txBody>
      </p:sp>
      <p:sp>
        <p:nvSpPr>
          <p:cNvPr id="16" name="Shape 13"/>
          <p:cNvSpPr/>
          <p:nvPr/>
        </p:nvSpPr>
        <p:spPr>
          <a:xfrm>
            <a:off x="9398000" y="43180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00D4FF"/>
          </a:solidFill>
          <a:ln/>
        </p:spPr>
      </p:sp>
      <p:sp>
        <p:nvSpPr>
          <p:cNvPr id="17" name="Text 14"/>
          <p:cNvSpPr/>
          <p:nvPr/>
        </p:nvSpPr>
        <p:spPr>
          <a:xfrm>
            <a:off x="9906000" y="4254500"/>
            <a:ext cx="5334000" cy="762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Real-Time Dashboard</a:t>
            </a:r>
            <a:endParaRPr lang="en-US" sz="1600" dirty="0"/>
          </a:p>
          <a:p>
            <a:pPr>
              <a:lnSpc>
                <a:spcPct val="140000"/>
              </a:lnSpc>
            </a:pPr>
            <a:r>
              <a:rPr lang="en-US" sz="1600" dirty="0">
                <a:solidFill>
                  <a:srgbClr val="E8EDF5"/>
                </a:solidFill>
                <a:latin typeface="Quattrocento Sans" pitchFamily="34" charset="0"/>
                <a:ea typeface="Quattrocento Sans" pitchFamily="34" charset="-122"/>
                <a:cs typeface="Quattrocento Sans" pitchFamily="34" charset="-120"/>
              </a:rPr>
              <a:t>Flask-based web interface for live monitoring</a:t>
            </a:r>
            <a:endParaRPr lang="en-US" sz="1600" dirty="0"/>
          </a:p>
        </p:txBody>
      </p:sp>
      <p:sp>
        <p:nvSpPr>
          <p:cNvPr id="18" name="Shape 15"/>
          <p:cNvSpPr/>
          <p:nvPr/>
        </p:nvSpPr>
        <p:spPr>
          <a:xfrm>
            <a:off x="9420225" y="5207000"/>
            <a:ext cx="311150" cy="355600"/>
          </a:xfrm>
          <a:custGeom>
            <a:avLst/>
            <a:gdLst/>
            <a:ahLst/>
            <a:cxnLst/>
            <a:rect l="l" t="t" r="r" b="b"/>
            <a:pathLst>
              <a:path w="311150" h="355600">
                <a:moveTo>
                  <a:pt x="200025" y="0"/>
                </a:moveTo>
                <a:lnTo>
                  <a:pt x="88900" y="0"/>
                </a:lnTo>
                <a:cubicBezTo>
                  <a:pt x="76607" y="0"/>
                  <a:pt x="66675" y="9932"/>
                  <a:pt x="66675" y="22225"/>
                </a:cubicBezTo>
                <a:cubicBezTo>
                  <a:pt x="66675" y="34518"/>
                  <a:pt x="76607" y="44450"/>
                  <a:pt x="88900" y="44450"/>
                </a:cubicBezTo>
                <a:lnTo>
                  <a:pt x="88900" y="149671"/>
                </a:lnTo>
                <a:lnTo>
                  <a:pt x="5209" y="296079"/>
                </a:lnTo>
                <a:cubicBezTo>
                  <a:pt x="1806" y="302121"/>
                  <a:pt x="0" y="308858"/>
                  <a:pt x="0" y="315803"/>
                </a:cubicBezTo>
                <a:cubicBezTo>
                  <a:pt x="0" y="337820"/>
                  <a:pt x="17780" y="355600"/>
                  <a:pt x="39797" y="355600"/>
                </a:cubicBezTo>
                <a:lnTo>
                  <a:pt x="271353" y="355600"/>
                </a:lnTo>
                <a:cubicBezTo>
                  <a:pt x="293301" y="355600"/>
                  <a:pt x="311150" y="337820"/>
                  <a:pt x="311150" y="315803"/>
                </a:cubicBezTo>
                <a:cubicBezTo>
                  <a:pt x="311150" y="308858"/>
                  <a:pt x="309344" y="302052"/>
                  <a:pt x="305941" y="296079"/>
                </a:cubicBezTo>
                <a:lnTo>
                  <a:pt x="222250" y="149671"/>
                </a:lnTo>
                <a:lnTo>
                  <a:pt x="222250" y="44450"/>
                </a:lnTo>
                <a:cubicBezTo>
                  <a:pt x="234543" y="44450"/>
                  <a:pt x="244475" y="34518"/>
                  <a:pt x="244475" y="22225"/>
                </a:cubicBezTo>
                <a:cubicBezTo>
                  <a:pt x="244475" y="9932"/>
                  <a:pt x="234543" y="0"/>
                  <a:pt x="222250" y="0"/>
                </a:cubicBezTo>
                <a:lnTo>
                  <a:pt x="200025" y="0"/>
                </a:lnTo>
                <a:close/>
                <a:moveTo>
                  <a:pt x="133350" y="149671"/>
                </a:moveTo>
                <a:lnTo>
                  <a:pt x="133350" y="44450"/>
                </a:lnTo>
                <a:lnTo>
                  <a:pt x="177800" y="44450"/>
                </a:lnTo>
                <a:lnTo>
                  <a:pt x="177800" y="149671"/>
                </a:lnTo>
                <a:cubicBezTo>
                  <a:pt x="177800" y="157381"/>
                  <a:pt x="179814" y="165021"/>
                  <a:pt x="183634" y="171758"/>
                </a:cubicBezTo>
                <a:lnTo>
                  <a:pt x="212527" y="222250"/>
                </a:lnTo>
                <a:lnTo>
                  <a:pt x="98623" y="222250"/>
                </a:lnTo>
                <a:lnTo>
                  <a:pt x="127516" y="171758"/>
                </a:lnTo>
                <a:cubicBezTo>
                  <a:pt x="131336" y="165021"/>
                  <a:pt x="133350" y="157450"/>
                  <a:pt x="133350" y="149671"/>
                </a:cubicBezTo>
                <a:close/>
              </a:path>
            </a:pathLst>
          </a:custGeom>
          <a:solidFill>
            <a:srgbClr val="00D4FF"/>
          </a:solidFill>
          <a:ln/>
        </p:spPr>
      </p:sp>
      <p:sp>
        <p:nvSpPr>
          <p:cNvPr id="19" name="Text 16"/>
          <p:cNvSpPr/>
          <p:nvPr/>
        </p:nvSpPr>
        <p:spPr>
          <a:xfrm>
            <a:off x="9906000" y="5143500"/>
            <a:ext cx="5334000" cy="762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Ethical Research</a:t>
            </a:r>
            <a:endParaRPr lang="en-US" sz="1600" dirty="0"/>
          </a:p>
          <a:p>
            <a:pPr>
              <a:lnSpc>
                <a:spcPct val="140000"/>
              </a:lnSpc>
            </a:pPr>
            <a:r>
              <a:rPr lang="en-US" sz="1600" dirty="0">
                <a:solidFill>
                  <a:srgbClr val="E8EDF5"/>
                </a:solidFill>
                <a:latin typeface="Quattrocento Sans" pitchFamily="34" charset="0"/>
                <a:ea typeface="Quattrocento Sans" pitchFamily="34" charset="-122"/>
                <a:cs typeface="Quattrocento Sans" pitchFamily="34" charset="-120"/>
              </a:rPr>
              <a:t>Controlled laboratory environment for security analysis</a:t>
            </a:r>
            <a:endParaRPr lang="en-US" sz="1600" dirty="0"/>
          </a:p>
        </p:txBody>
      </p:sp>
      <p:pic>
        <p:nvPicPr>
          <p:cNvPr id="20" name="Image 0" descr="https://kimi-img.moonshot.cn/pub/slides/okc/ofj3fxaw5mk46/mnt/agents/output/bluetooth-security/images/1_Blue_Glowing_Digital_Shield_Lock.png"/>
          <p:cNvPicPr>
            <a:picLocks noChangeAspect="1"/>
          </p:cNvPicPr>
          <p:nvPr/>
        </p:nvPicPr>
        <p:blipFill>
          <a:blip r:embed="rId3">
            <a:alphaModFix amt="70000"/>
          </a:blip>
          <a:srcRect l="-5556" r="-5556"/>
          <a:stretch/>
        </p:blipFill>
        <p:spPr>
          <a:xfrm>
            <a:off x="10668000" y="6096000"/>
            <a:ext cx="3048000" cy="1524000"/>
          </a:xfrm>
          <a:prstGeom prst="rect">
            <a:avLst/>
          </a:prstGeom>
        </p:spPr>
      </p:pic>
      <p:sp>
        <p:nvSpPr>
          <p:cNvPr id="21" name="Shape 17"/>
          <p:cNvSpPr/>
          <p:nvPr/>
        </p:nvSpPr>
        <p:spPr>
          <a:xfrm>
            <a:off x="762000" y="8382000"/>
            <a:ext cx="14732000" cy="12700"/>
          </a:xfrm>
          <a:prstGeom prst="rect">
            <a:avLst/>
          </a:prstGeom>
          <a:solidFill>
            <a:srgbClr val="1E3A6E"/>
          </a:solidFill>
          <a:ln/>
        </p:spPr>
      </p:sp>
      <p:sp>
        <p:nvSpPr>
          <p:cNvPr id="22" name="Text 18"/>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23" name="Text 19"/>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5 / 18</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5092700" y="0"/>
            <a:ext cx="1524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t>
            </a:r>
            <a:r>
              <a:rPr lang="en-US" sz="1200" kern="0" spc="100" dirty="0">
                <a:solidFill>
                  <a:srgbClr val="00D4FF"/>
                </a:solidFill>
                <a:latin typeface="Liter" pitchFamily="34" charset="0"/>
                <a:ea typeface="Liter" pitchFamily="34" charset="-122"/>
                <a:cs typeface="Liter" pitchFamily="34" charset="-120"/>
              </a:rPr>
              <a:t>ARCHITECTURE</a:t>
            </a:r>
            <a:r>
              <a:rPr lang="en-US" sz="1200" kern="0" spc="100" dirty="0">
                <a:solidFill>
                  <a:srgbClr val="8B9DC3"/>
                </a:solidFill>
                <a:latin typeface="Liter" pitchFamily="34" charset="0"/>
                <a:ea typeface="Liter" pitchFamily="34" charset="-122"/>
                <a:cs typeface="Liter" pitchFamily="34" charset="-120"/>
              </a:rPr>
              <a:t> | PHASES | CHALLENGES | SECURITY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System Components</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762000" y="1587500"/>
            <a:ext cx="7112000" cy="3048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9" name="Text 6"/>
          <p:cNvSpPr/>
          <p:nvPr/>
        </p:nvSpPr>
        <p:spPr>
          <a:xfrm>
            <a:off x="1079500" y="1778000"/>
            <a:ext cx="254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 Hardware</a:t>
            </a:r>
            <a:endParaRPr lang="en-US" sz="2200" dirty="0"/>
          </a:p>
        </p:txBody>
      </p:sp>
      <p:sp>
        <p:nvSpPr>
          <p:cNvPr id="10" name="Text 7"/>
          <p:cNvSpPr/>
          <p:nvPr/>
        </p:nvSpPr>
        <p:spPr>
          <a:xfrm>
            <a:off x="1079500" y="2222500"/>
            <a:ext cx="6477000" cy="2159000"/>
          </a:xfrm>
          <a:prstGeom prst="rect">
            <a:avLst/>
          </a:prstGeom>
          <a:noFill/>
          <a:ln/>
        </p:spPr>
        <p:txBody>
          <a:bodyPr wrap="square" lIns="0" tIns="0" rIns="0" bIns="0" rtlCol="0" anchor="t"/>
          <a:lstStyle/>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Bluetooth USB Adapter</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Android Smartphone (Target Device)</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Kali Linux Machine (Attack Platform)</a:t>
            </a:r>
            <a:endParaRPr lang="en-US" sz="1600" dirty="0"/>
          </a:p>
        </p:txBody>
      </p:sp>
      <p:sp>
        <p:nvSpPr>
          <p:cNvPr id="11" name="Shape 8"/>
          <p:cNvSpPr/>
          <p:nvPr/>
        </p:nvSpPr>
        <p:spPr>
          <a:xfrm>
            <a:off x="8382000" y="1587500"/>
            <a:ext cx="7112000" cy="3048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2" name="Text 9"/>
          <p:cNvSpPr/>
          <p:nvPr/>
        </p:nvSpPr>
        <p:spPr>
          <a:xfrm>
            <a:off x="8699500" y="1778000"/>
            <a:ext cx="254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 Software / Tools</a:t>
            </a:r>
            <a:endParaRPr lang="en-US" sz="2200" dirty="0"/>
          </a:p>
        </p:txBody>
      </p:sp>
      <p:sp>
        <p:nvSpPr>
          <p:cNvPr id="13" name="Text 10"/>
          <p:cNvSpPr/>
          <p:nvPr/>
        </p:nvSpPr>
        <p:spPr>
          <a:xfrm>
            <a:off x="8699500" y="2222500"/>
            <a:ext cx="6477000" cy="2159000"/>
          </a:xfrm>
          <a:prstGeom prst="rect">
            <a:avLst/>
          </a:prstGeom>
          <a:noFill/>
          <a:ln/>
        </p:spPr>
        <p:txBody>
          <a:bodyPr wrap="square" lIns="0" tIns="0" rIns="0" bIns="0" rtlCol="0" anchor="t"/>
          <a:lstStyle/>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bluetoothctl, hciconfig, sdptool</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mapAccountHijack (Python MAP client)</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Firebase Authentication</a:t>
            </a:r>
            <a:endParaRPr lang="en-US" sz="1600" dirty="0"/>
          </a:p>
        </p:txBody>
      </p:sp>
      <p:sp>
        <p:nvSpPr>
          <p:cNvPr id="14" name="Shape 11"/>
          <p:cNvSpPr/>
          <p:nvPr/>
        </p:nvSpPr>
        <p:spPr>
          <a:xfrm>
            <a:off x="762000" y="5016500"/>
            <a:ext cx="14732000" cy="3048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15" name="Text 12"/>
          <p:cNvSpPr/>
          <p:nvPr/>
        </p:nvSpPr>
        <p:spPr>
          <a:xfrm>
            <a:off x="1079500" y="5207000"/>
            <a:ext cx="508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 Applications &amp; Interfaces</a:t>
            </a:r>
            <a:endParaRPr lang="en-US" sz="2200" dirty="0"/>
          </a:p>
        </p:txBody>
      </p:sp>
      <p:sp>
        <p:nvSpPr>
          <p:cNvPr id="16" name="Shape 13"/>
          <p:cNvSpPr/>
          <p:nvPr/>
        </p:nvSpPr>
        <p:spPr>
          <a:xfrm>
            <a:off x="1524000" y="5842000"/>
            <a:ext cx="406400" cy="406400"/>
          </a:xfrm>
          <a:custGeom>
            <a:avLst/>
            <a:gdLst/>
            <a:ahLst/>
            <a:cxnLst/>
            <a:rect l="l" t="t" r="r" b="b"/>
            <a:pathLst>
              <a:path w="406400" h="406400">
                <a:moveTo>
                  <a:pt x="279321" y="222250"/>
                </a:moveTo>
                <a:lnTo>
                  <a:pt x="127794" y="222250"/>
                </a:lnTo>
                <a:cubicBezTo>
                  <a:pt x="130096" y="273447"/>
                  <a:pt x="141446" y="320596"/>
                  <a:pt x="157559" y="355124"/>
                </a:cubicBezTo>
                <a:cubicBezTo>
                  <a:pt x="166608" y="374571"/>
                  <a:pt x="176371" y="388303"/>
                  <a:pt x="185420" y="396716"/>
                </a:cubicBezTo>
                <a:cubicBezTo>
                  <a:pt x="194310" y="405051"/>
                  <a:pt x="200422" y="406400"/>
                  <a:pt x="203597" y="406400"/>
                </a:cubicBezTo>
                <a:cubicBezTo>
                  <a:pt x="206772" y="406400"/>
                  <a:pt x="212884" y="405051"/>
                  <a:pt x="221774" y="396716"/>
                </a:cubicBezTo>
                <a:cubicBezTo>
                  <a:pt x="230822" y="388302"/>
                  <a:pt x="240586" y="374491"/>
                  <a:pt x="249634" y="355124"/>
                </a:cubicBezTo>
                <a:cubicBezTo>
                  <a:pt x="265747" y="320596"/>
                  <a:pt x="277098" y="273447"/>
                  <a:pt x="279400" y="222250"/>
                </a:cubicBezTo>
                <a:close/>
                <a:moveTo>
                  <a:pt x="127714" y="184150"/>
                </a:moveTo>
                <a:lnTo>
                  <a:pt x="279241" y="184150"/>
                </a:lnTo>
                <a:cubicBezTo>
                  <a:pt x="277019" y="132953"/>
                  <a:pt x="265668" y="85804"/>
                  <a:pt x="249555" y="51276"/>
                </a:cubicBezTo>
                <a:cubicBezTo>
                  <a:pt x="240506" y="31909"/>
                  <a:pt x="230743" y="18098"/>
                  <a:pt x="221694" y="9684"/>
                </a:cubicBezTo>
                <a:cubicBezTo>
                  <a:pt x="212804" y="1349"/>
                  <a:pt x="206692" y="0"/>
                  <a:pt x="203518" y="0"/>
                </a:cubicBezTo>
                <a:cubicBezTo>
                  <a:pt x="200342" y="0"/>
                  <a:pt x="194231" y="1349"/>
                  <a:pt x="185341" y="9684"/>
                </a:cubicBezTo>
                <a:cubicBezTo>
                  <a:pt x="176292" y="18098"/>
                  <a:pt x="166529" y="31909"/>
                  <a:pt x="157480" y="51276"/>
                </a:cubicBezTo>
                <a:cubicBezTo>
                  <a:pt x="141367" y="85804"/>
                  <a:pt x="130016" y="132953"/>
                  <a:pt x="127714" y="184150"/>
                </a:cubicBezTo>
                <a:close/>
                <a:moveTo>
                  <a:pt x="89614" y="184150"/>
                </a:moveTo>
                <a:cubicBezTo>
                  <a:pt x="92393" y="116205"/>
                  <a:pt x="109934" y="53102"/>
                  <a:pt x="135573" y="11668"/>
                </a:cubicBezTo>
                <a:cubicBezTo>
                  <a:pt x="62468" y="37544"/>
                  <a:pt x="8652" y="104140"/>
                  <a:pt x="1191" y="184150"/>
                </a:cubicBezTo>
                <a:lnTo>
                  <a:pt x="89614" y="184150"/>
                </a:lnTo>
                <a:close/>
                <a:moveTo>
                  <a:pt x="1191" y="222250"/>
                </a:moveTo>
                <a:cubicBezTo>
                  <a:pt x="8652" y="302260"/>
                  <a:pt x="62468" y="368856"/>
                  <a:pt x="135573" y="394732"/>
                </a:cubicBezTo>
                <a:cubicBezTo>
                  <a:pt x="109934" y="353298"/>
                  <a:pt x="92393" y="290195"/>
                  <a:pt x="89614" y="222250"/>
                </a:cubicBezTo>
                <a:lnTo>
                  <a:pt x="1191" y="222250"/>
                </a:lnTo>
                <a:close/>
                <a:moveTo>
                  <a:pt x="317421" y="222250"/>
                </a:moveTo>
                <a:cubicBezTo>
                  <a:pt x="314643" y="290195"/>
                  <a:pt x="297101" y="353298"/>
                  <a:pt x="271463" y="394732"/>
                </a:cubicBezTo>
                <a:cubicBezTo>
                  <a:pt x="344567" y="368776"/>
                  <a:pt x="398383" y="302260"/>
                  <a:pt x="405844" y="222250"/>
                </a:cubicBezTo>
                <a:lnTo>
                  <a:pt x="317421" y="222250"/>
                </a:lnTo>
                <a:close/>
                <a:moveTo>
                  <a:pt x="405844" y="184150"/>
                </a:moveTo>
                <a:cubicBezTo>
                  <a:pt x="398383" y="104140"/>
                  <a:pt x="344567" y="37544"/>
                  <a:pt x="271463" y="11668"/>
                </a:cubicBezTo>
                <a:cubicBezTo>
                  <a:pt x="297101" y="53102"/>
                  <a:pt x="314643" y="116205"/>
                  <a:pt x="317421" y="184150"/>
                </a:cubicBezTo>
                <a:lnTo>
                  <a:pt x="405844" y="184150"/>
                </a:lnTo>
                <a:close/>
              </a:path>
            </a:pathLst>
          </a:custGeom>
          <a:solidFill>
            <a:srgbClr val="00D4FF"/>
          </a:solidFill>
          <a:ln/>
        </p:spPr>
      </p:sp>
      <p:sp>
        <p:nvSpPr>
          <p:cNvPr id="17" name="Text 14"/>
          <p:cNvSpPr/>
          <p:nvPr/>
        </p:nvSpPr>
        <p:spPr>
          <a:xfrm>
            <a:off x="1079500" y="6350000"/>
            <a:ext cx="2540000" cy="762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Login Portal</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HTML / CSS / JS</a:t>
            </a:r>
            <a:endParaRPr lang="en-US" sz="1600" dirty="0"/>
          </a:p>
        </p:txBody>
      </p:sp>
      <p:sp>
        <p:nvSpPr>
          <p:cNvPr id="18" name="Shape 15"/>
          <p:cNvSpPr/>
          <p:nvPr/>
        </p:nvSpPr>
        <p:spPr>
          <a:xfrm>
            <a:off x="4851400" y="5842000"/>
            <a:ext cx="355600" cy="406400"/>
          </a:xfrm>
          <a:custGeom>
            <a:avLst/>
            <a:gdLst/>
            <a:ahLst/>
            <a:cxnLst/>
            <a:rect l="l" t="t" r="r" b="b"/>
            <a:pathLst>
              <a:path w="355600" h="406400">
                <a:moveTo>
                  <a:pt x="127397" y="-20955"/>
                </a:moveTo>
                <a:cubicBezTo>
                  <a:pt x="134779" y="-27146"/>
                  <a:pt x="145653" y="-26908"/>
                  <a:pt x="152718" y="-20241"/>
                </a:cubicBezTo>
                <a:cubicBezTo>
                  <a:pt x="162481" y="-11033"/>
                  <a:pt x="171212" y="-873"/>
                  <a:pt x="179626" y="9446"/>
                </a:cubicBezTo>
                <a:cubicBezTo>
                  <a:pt x="190341" y="22543"/>
                  <a:pt x="203200" y="39846"/>
                  <a:pt x="215583" y="60404"/>
                </a:cubicBezTo>
                <a:cubicBezTo>
                  <a:pt x="219710" y="55007"/>
                  <a:pt x="223520" y="50244"/>
                  <a:pt x="226854" y="46196"/>
                </a:cubicBezTo>
                <a:cubicBezTo>
                  <a:pt x="227727" y="45164"/>
                  <a:pt x="228600" y="44053"/>
                  <a:pt x="229473" y="42942"/>
                </a:cubicBezTo>
                <a:cubicBezTo>
                  <a:pt x="235744" y="35163"/>
                  <a:pt x="243523" y="25400"/>
                  <a:pt x="253921" y="25400"/>
                </a:cubicBezTo>
                <a:cubicBezTo>
                  <a:pt x="264557" y="25400"/>
                  <a:pt x="272018" y="34846"/>
                  <a:pt x="278368" y="42942"/>
                </a:cubicBezTo>
                <a:cubicBezTo>
                  <a:pt x="279400" y="44291"/>
                  <a:pt x="280432" y="45561"/>
                  <a:pt x="281464" y="46752"/>
                </a:cubicBezTo>
                <a:cubicBezTo>
                  <a:pt x="289639" y="56594"/>
                  <a:pt x="300514" y="70802"/>
                  <a:pt x="311388" y="88344"/>
                </a:cubicBezTo>
                <a:cubicBezTo>
                  <a:pt x="332978" y="123190"/>
                  <a:pt x="355521" y="172799"/>
                  <a:pt x="355521" y="228521"/>
                </a:cubicBezTo>
                <a:cubicBezTo>
                  <a:pt x="355521" y="326707"/>
                  <a:pt x="275908" y="406321"/>
                  <a:pt x="177721" y="406321"/>
                </a:cubicBezTo>
                <a:cubicBezTo>
                  <a:pt x="79534" y="406321"/>
                  <a:pt x="0" y="326787"/>
                  <a:pt x="0" y="228600"/>
                </a:cubicBezTo>
                <a:cubicBezTo>
                  <a:pt x="0" y="156289"/>
                  <a:pt x="32623" y="93663"/>
                  <a:pt x="63897" y="50006"/>
                </a:cubicBezTo>
                <a:cubicBezTo>
                  <a:pt x="79693" y="28019"/>
                  <a:pt x="95409" y="10398"/>
                  <a:pt x="107236" y="-1667"/>
                </a:cubicBezTo>
                <a:cubicBezTo>
                  <a:pt x="113744" y="-8334"/>
                  <a:pt x="120333" y="-14922"/>
                  <a:pt x="127476" y="-20876"/>
                </a:cubicBezTo>
                <a:close/>
                <a:moveTo>
                  <a:pt x="179149" y="330200"/>
                </a:moveTo>
                <a:cubicBezTo>
                  <a:pt x="199231" y="330200"/>
                  <a:pt x="217011" y="324644"/>
                  <a:pt x="233759" y="313531"/>
                </a:cubicBezTo>
                <a:cubicBezTo>
                  <a:pt x="267176" y="290195"/>
                  <a:pt x="276146" y="243523"/>
                  <a:pt x="256064" y="206851"/>
                </a:cubicBezTo>
                <a:cubicBezTo>
                  <a:pt x="252492" y="199708"/>
                  <a:pt x="243364" y="199231"/>
                  <a:pt x="238204" y="205264"/>
                </a:cubicBezTo>
                <a:lnTo>
                  <a:pt x="218202" y="228521"/>
                </a:lnTo>
                <a:cubicBezTo>
                  <a:pt x="212963" y="234553"/>
                  <a:pt x="203518" y="234394"/>
                  <a:pt x="198596" y="228124"/>
                </a:cubicBezTo>
                <a:cubicBezTo>
                  <a:pt x="184864" y="210582"/>
                  <a:pt x="159623" y="178594"/>
                  <a:pt x="146764" y="162243"/>
                </a:cubicBezTo>
                <a:cubicBezTo>
                  <a:pt x="142478" y="156766"/>
                  <a:pt x="134699" y="155893"/>
                  <a:pt x="129699" y="160734"/>
                </a:cubicBezTo>
                <a:cubicBezTo>
                  <a:pt x="115173" y="174863"/>
                  <a:pt x="88821" y="205819"/>
                  <a:pt x="88821" y="243523"/>
                </a:cubicBezTo>
                <a:cubicBezTo>
                  <a:pt x="88821" y="297974"/>
                  <a:pt x="128984" y="330200"/>
                  <a:pt x="179070" y="330200"/>
                </a:cubicBezTo>
                <a:close/>
              </a:path>
            </a:pathLst>
          </a:custGeom>
          <a:solidFill>
            <a:srgbClr val="00D4FF"/>
          </a:solidFill>
          <a:ln/>
        </p:spPr>
      </p:sp>
      <p:sp>
        <p:nvSpPr>
          <p:cNvPr id="19" name="Text 16"/>
          <p:cNvSpPr/>
          <p:nvPr/>
        </p:nvSpPr>
        <p:spPr>
          <a:xfrm>
            <a:off x="4381500" y="6350000"/>
            <a:ext cx="2540000" cy="762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Firebase Auth</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OTP Verification</a:t>
            </a:r>
            <a:endParaRPr lang="en-US" sz="1600" dirty="0"/>
          </a:p>
        </p:txBody>
      </p:sp>
      <p:sp>
        <p:nvSpPr>
          <p:cNvPr id="20" name="Shape 17"/>
          <p:cNvSpPr/>
          <p:nvPr/>
        </p:nvSpPr>
        <p:spPr>
          <a:xfrm>
            <a:off x="8128000" y="5842000"/>
            <a:ext cx="406400" cy="406400"/>
          </a:xfrm>
          <a:custGeom>
            <a:avLst/>
            <a:gdLst/>
            <a:ahLst/>
            <a:cxnLst/>
            <a:rect l="l" t="t" r="r" b="b"/>
            <a:pathLst>
              <a:path w="406400" h="406400">
                <a:moveTo>
                  <a:pt x="7461" y="94139"/>
                </a:moveTo>
                <a:cubicBezTo>
                  <a:pt x="-2461" y="84217"/>
                  <a:pt x="-2461" y="68104"/>
                  <a:pt x="7461" y="58182"/>
                </a:cubicBezTo>
                <a:cubicBezTo>
                  <a:pt x="17383" y="48260"/>
                  <a:pt x="33496" y="48260"/>
                  <a:pt x="43418" y="58182"/>
                </a:cubicBezTo>
                <a:lnTo>
                  <a:pt x="170418" y="185182"/>
                </a:lnTo>
                <a:cubicBezTo>
                  <a:pt x="180340" y="195104"/>
                  <a:pt x="180340" y="211217"/>
                  <a:pt x="170418" y="221139"/>
                </a:cubicBezTo>
                <a:lnTo>
                  <a:pt x="43418" y="348139"/>
                </a:lnTo>
                <a:cubicBezTo>
                  <a:pt x="33496" y="358061"/>
                  <a:pt x="17383" y="358061"/>
                  <a:pt x="7461" y="348139"/>
                </a:cubicBezTo>
                <a:cubicBezTo>
                  <a:pt x="-2461" y="338217"/>
                  <a:pt x="-2461" y="322104"/>
                  <a:pt x="7461" y="312182"/>
                </a:cubicBezTo>
                <a:lnTo>
                  <a:pt x="116443" y="203200"/>
                </a:lnTo>
                <a:lnTo>
                  <a:pt x="7461" y="94139"/>
                </a:lnTo>
                <a:close/>
                <a:moveTo>
                  <a:pt x="177800" y="304800"/>
                </a:moveTo>
                <a:lnTo>
                  <a:pt x="381000" y="304800"/>
                </a:lnTo>
                <a:cubicBezTo>
                  <a:pt x="395049" y="304800"/>
                  <a:pt x="406400" y="316151"/>
                  <a:pt x="406400" y="330200"/>
                </a:cubicBezTo>
                <a:cubicBezTo>
                  <a:pt x="406400" y="344249"/>
                  <a:pt x="395049" y="355600"/>
                  <a:pt x="381000" y="355600"/>
                </a:cubicBezTo>
                <a:lnTo>
                  <a:pt x="177800" y="355600"/>
                </a:lnTo>
                <a:cubicBezTo>
                  <a:pt x="163751" y="355600"/>
                  <a:pt x="152400" y="344249"/>
                  <a:pt x="152400" y="330200"/>
                </a:cubicBezTo>
                <a:cubicBezTo>
                  <a:pt x="152400" y="316151"/>
                  <a:pt x="163751" y="304800"/>
                  <a:pt x="177800" y="304800"/>
                </a:cubicBezTo>
                <a:close/>
              </a:path>
            </a:pathLst>
          </a:custGeom>
          <a:solidFill>
            <a:srgbClr val="00D4FF"/>
          </a:solidFill>
          <a:ln/>
        </p:spPr>
      </p:sp>
      <p:sp>
        <p:nvSpPr>
          <p:cNvPr id="21" name="Text 18"/>
          <p:cNvSpPr/>
          <p:nvPr/>
        </p:nvSpPr>
        <p:spPr>
          <a:xfrm>
            <a:off x="7683500" y="6350000"/>
            <a:ext cx="2540000" cy="762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MAP Exploit</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mapAccountHijack</a:t>
            </a:r>
            <a:endParaRPr lang="en-US" sz="1600" dirty="0"/>
          </a:p>
        </p:txBody>
      </p:sp>
      <p:sp>
        <p:nvSpPr>
          <p:cNvPr id="22" name="Shape 19"/>
          <p:cNvSpPr/>
          <p:nvPr/>
        </p:nvSpPr>
        <p:spPr>
          <a:xfrm>
            <a:off x="11430000" y="5842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00D4FF"/>
          </a:solidFill>
          <a:ln/>
        </p:spPr>
      </p:sp>
      <p:sp>
        <p:nvSpPr>
          <p:cNvPr id="23" name="Text 20"/>
          <p:cNvSpPr/>
          <p:nvPr/>
        </p:nvSpPr>
        <p:spPr>
          <a:xfrm>
            <a:off x="10985500" y="6350000"/>
            <a:ext cx="2540000" cy="762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Dashboard</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Flask Web App</a:t>
            </a:r>
            <a:endParaRPr lang="en-US" sz="1600" dirty="0"/>
          </a:p>
        </p:txBody>
      </p:sp>
      <p:sp>
        <p:nvSpPr>
          <p:cNvPr id="24" name="Shape 21"/>
          <p:cNvSpPr/>
          <p:nvPr/>
        </p:nvSpPr>
        <p:spPr>
          <a:xfrm>
            <a:off x="3619500" y="5905500"/>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1E3A6E"/>
          </a:solidFill>
          <a:ln/>
        </p:spPr>
      </p:sp>
      <p:sp>
        <p:nvSpPr>
          <p:cNvPr id="25" name="Shape 22"/>
          <p:cNvSpPr/>
          <p:nvPr/>
        </p:nvSpPr>
        <p:spPr>
          <a:xfrm>
            <a:off x="6921500" y="5905500"/>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1E3A6E"/>
          </a:solidFill>
          <a:ln/>
        </p:spPr>
      </p:sp>
      <p:sp>
        <p:nvSpPr>
          <p:cNvPr id="26" name="Shape 23"/>
          <p:cNvSpPr/>
          <p:nvPr/>
        </p:nvSpPr>
        <p:spPr>
          <a:xfrm>
            <a:off x="10223500" y="5905500"/>
            <a:ext cx="304800" cy="304800"/>
          </a:xfrm>
          <a:custGeom>
            <a:avLst/>
            <a:gdLst/>
            <a:ahLst/>
            <a:cxnLst/>
            <a:rect l="l" t="t" r="r" b="b"/>
            <a:pathLst>
              <a:path w="304800" h="304800">
                <a:moveTo>
                  <a:pt x="299204" y="165854"/>
                </a:moveTo>
                <a:cubicBezTo>
                  <a:pt x="306645" y="158413"/>
                  <a:pt x="306645" y="146328"/>
                  <a:pt x="299204" y="138886"/>
                </a:cubicBezTo>
                <a:lnTo>
                  <a:pt x="203954" y="43636"/>
                </a:lnTo>
                <a:cubicBezTo>
                  <a:pt x="196513" y="36195"/>
                  <a:pt x="184428" y="36195"/>
                  <a:pt x="176986" y="43636"/>
                </a:cubicBezTo>
                <a:cubicBezTo>
                  <a:pt x="169545" y="51078"/>
                  <a:pt x="169545" y="63163"/>
                  <a:pt x="176986" y="70604"/>
                </a:cubicBezTo>
                <a:lnTo>
                  <a:pt x="239732" y="133350"/>
                </a:lnTo>
                <a:lnTo>
                  <a:pt x="19050" y="133350"/>
                </a:lnTo>
                <a:cubicBezTo>
                  <a:pt x="8513" y="133350"/>
                  <a:pt x="0" y="141863"/>
                  <a:pt x="0" y="152400"/>
                </a:cubicBezTo>
                <a:cubicBezTo>
                  <a:pt x="0" y="162937"/>
                  <a:pt x="8513" y="171450"/>
                  <a:pt x="19050" y="171450"/>
                </a:cubicBezTo>
                <a:lnTo>
                  <a:pt x="239732" y="171450"/>
                </a:lnTo>
                <a:lnTo>
                  <a:pt x="176986" y="234196"/>
                </a:lnTo>
                <a:cubicBezTo>
                  <a:pt x="169545" y="241637"/>
                  <a:pt x="169545" y="253722"/>
                  <a:pt x="176986" y="261164"/>
                </a:cubicBezTo>
                <a:cubicBezTo>
                  <a:pt x="184428" y="268605"/>
                  <a:pt x="196513" y="268605"/>
                  <a:pt x="203954" y="261164"/>
                </a:cubicBezTo>
                <a:lnTo>
                  <a:pt x="299204" y="165914"/>
                </a:lnTo>
                <a:close/>
              </a:path>
            </a:pathLst>
          </a:custGeom>
          <a:solidFill>
            <a:srgbClr val="1E3A6E"/>
          </a:solidFill>
          <a:ln/>
        </p:spPr>
      </p:sp>
      <p:sp>
        <p:nvSpPr>
          <p:cNvPr id="27" name="Shape 24"/>
          <p:cNvSpPr/>
          <p:nvPr/>
        </p:nvSpPr>
        <p:spPr>
          <a:xfrm>
            <a:off x="762000" y="8382000"/>
            <a:ext cx="14732000" cy="12700"/>
          </a:xfrm>
          <a:prstGeom prst="rect">
            <a:avLst/>
          </a:prstGeom>
          <a:solidFill>
            <a:srgbClr val="1E3A6E"/>
          </a:solidFill>
          <a:ln/>
        </p:spPr>
      </p:sp>
      <p:sp>
        <p:nvSpPr>
          <p:cNvPr id="28" name="Text 25"/>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29" name="Text 26"/>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6 / 18</a:t>
            </a:r>
            <a:endParaRPr lang="en-US" sz="14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6616700" y="0"/>
            <a:ext cx="1270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t>
            </a:r>
            <a:r>
              <a:rPr lang="en-US" sz="1200" kern="0" spc="100" dirty="0">
                <a:solidFill>
                  <a:srgbClr val="00D4FF"/>
                </a:solidFill>
                <a:latin typeface="Liter" pitchFamily="34" charset="0"/>
                <a:ea typeface="Liter" pitchFamily="34" charset="-122"/>
                <a:cs typeface="Liter" pitchFamily="34" charset="-120"/>
              </a:rPr>
              <a:t>ARCHITECTURE</a:t>
            </a:r>
            <a:r>
              <a:rPr lang="en-US" sz="1200" kern="0" spc="100" dirty="0">
                <a:solidFill>
                  <a:srgbClr val="8B9DC3"/>
                </a:solidFill>
                <a:latin typeface="Liter" pitchFamily="34" charset="0"/>
                <a:ea typeface="Liter" pitchFamily="34" charset="-122"/>
                <a:cs typeface="Liter" pitchFamily="34" charset="-120"/>
              </a:rPr>
              <a:t> | PHASES | CHALLENGES | SECURITY | RESULTS</a:t>
            </a:r>
            <a:endParaRPr lang="en-US" sz="1200" dirty="0"/>
          </a:p>
        </p:txBody>
      </p:sp>
      <p:sp>
        <p:nvSpPr>
          <p:cNvPr id="6"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System Architecture Diagram</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762000" y="1524000"/>
            <a:ext cx="14732000" cy="6731000"/>
          </a:xfrm>
          <a:prstGeom prst="roundRect">
            <a:avLst>
              <a:gd name="adj" fmla="val 6000"/>
            </a:avLst>
          </a:prstGeom>
          <a:solidFill>
            <a:srgbClr val="0D1E45">
              <a:alpha val="18824"/>
            </a:srgbClr>
          </a:solidFill>
          <a:ln w="12700">
            <a:solidFill>
              <a:srgbClr val="00D4FF">
                <a:alpha val="18824"/>
              </a:srgbClr>
            </a:solidFill>
            <a:prstDash val="solid"/>
          </a:ln>
        </p:spPr>
      </p:sp>
      <p:sp>
        <p:nvSpPr>
          <p:cNvPr id="9" name="Shape 6"/>
          <p:cNvSpPr/>
          <p:nvPr/>
        </p:nvSpPr>
        <p:spPr>
          <a:xfrm>
            <a:off x="6096000" y="1714500"/>
            <a:ext cx="4064000" cy="635000"/>
          </a:xfrm>
          <a:prstGeom prst="roundRect">
            <a:avLst>
              <a:gd name="adj" fmla="val 10000"/>
            </a:avLst>
          </a:prstGeom>
          <a:gradFill flip="none" rotWithShape="1">
            <a:gsLst>
              <a:gs pos="0">
                <a:srgbClr val="1E3A6E"/>
              </a:gs>
              <a:gs pos="100000">
                <a:srgbClr val="0B1A3E"/>
              </a:gs>
            </a:gsLst>
            <a:lin ang="5400000" scaled="1"/>
          </a:gradFill>
          <a:ln w="12700">
            <a:solidFill>
              <a:srgbClr val="00D4FF"/>
            </a:solidFill>
            <a:prstDash val="solid"/>
          </a:ln>
        </p:spPr>
      </p:sp>
      <p:sp>
        <p:nvSpPr>
          <p:cNvPr id="10" name="Text 7"/>
          <p:cNvSpPr/>
          <p:nvPr/>
        </p:nvSpPr>
        <p:spPr>
          <a:xfrm>
            <a:off x="6096000" y="1714500"/>
            <a:ext cx="4064000" cy="635000"/>
          </a:xfrm>
          <a:prstGeom prst="rect">
            <a:avLst/>
          </a:prstGeom>
          <a:noFill/>
          <a:ln/>
        </p:spPr>
        <p:txBody>
          <a:bodyPr wrap="none" lIns="0" tIns="0" rIns="0" bIns="0" rtlCol="0" anchor="ctr"/>
          <a:lstStyle/>
          <a:p>
            <a:pPr algn="ctr">
              <a:lnSpc>
                <a:spcPct val="100000"/>
              </a:lnSpc>
            </a:pPr>
            <a:r>
              <a:rPr lang="en-US" sz="1600" dirty="0">
                <a:solidFill>
                  <a:srgbClr val="00D4FF"/>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Windows Login Portal</a:t>
            </a:r>
            <a:endParaRPr lang="en-US" sz="1600" dirty="0"/>
          </a:p>
        </p:txBody>
      </p:sp>
      <p:sp>
        <p:nvSpPr>
          <p:cNvPr id="11" name="Shape 8"/>
          <p:cNvSpPr/>
          <p:nvPr/>
        </p:nvSpPr>
        <p:spPr>
          <a:xfrm>
            <a:off x="8001000" y="2349500"/>
            <a:ext cx="0" cy="381000"/>
          </a:xfrm>
          <a:prstGeom prst="straightConnector1">
            <a:avLst/>
          </a:prstGeom>
          <a:noFill/>
          <a:ln w="25400">
            <a:solidFill>
              <a:srgbClr val="00D4FF"/>
            </a:solidFill>
            <a:prstDash val="solid"/>
            <a:headEnd type="none"/>
            <a:tailEnd type="arrow"/>
          </a:ln>
        </p:spPr>
      </p:sp>
      <p:sp>
        <p:nvSpPr>
          <p:cNvPr id="12" name="Shape 9"/>
          <p:cNvSpPr/>
          <p:nvPr/>
        </p:nvSpPr>
        <p:spPr>
          <a:xfrm>
            <a:off x="6096000" y="2730500"/>
            <a:ext cx="4064000" cy="635000"/>
          </a:xfrm>
          <a:prstGeom prst="roundRect">
            <a:avLst>
              <a:gd name="adj" fmla="val 10000"/>
            </a:avLst>
          </a:prstGeom>
          <a:gradFill flip="none" rotWithShape="1">
            <a:gsLst>
              <a:gs pos="0">
                <a:srgbClr val="1E3A6E"/>
              </a:gs>
              <a:gs pos="100000">
                <a:srgbClr val="0B1A3E"/>
              </a:gs>
            </a:gsLst>
            <a:lin ang="5400000" scaled="1"/>
          </a:gradFill>
          <a:ln w="12700">
            <a:solidFill>
              <a:srgbClr val="00D4FF"/>
            </a:solidFill>
            <a:prstDash val="solid"/>
          </a:ln>
        </p:spPr>
      </p:sp>
      <p:sp>
        <p:nvSpPr>
          <p:cNvPr id="13" name="Text 10"/>
          <p:cNvSpPr/>
          <p:nvPr/>
        </p:nvSpPr>
        <p:spPr>
          <a:xfrm>
            <a:off x="6096000" y="2730500"/>
            <a:ext cx="4064000" cy="635000"/>
          </a:xfrm>
          <a:prstGeom prst="rect">
            <a:avLst/>
          </a:prstGeom>
          <a:noFill/>
          <a:ln/>
        </p:spPr>
        <p:txBody>
          <a:bodyPr wrap="none" lIns="0" tIns="0" rIns="0" bIns="0" rtlCol="0" anchor="ctr"/>
          <a:lstStyle/>
          <a:p>
            <a:pPr algn="ctr">
              <a:lnSpc>
                <a:spcPct val="100000"/>
              </a:lnSpc>
            </a:pPr>
            <a:r>
              <a:rPr lang="en-US" sz="1600" dirty="0">
                <a:solidFill>
                  <a:srgbClr val="00D4FF"/>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Firebase Authentication</a:t>
            </a:r>
            <a:endParaRPr lang="en-US" sz="1600" dirty="0"/>
          </a:p>
        </p:txBody>
      </p:sp>
      <p:sp>
        <p:nvSpPr>
          <p:cNvPr id="14" name="Shape 11"/>
          <p:cNvSpPr/>
          <p:nvPr/>
        </p:nvSpPr>
        <p:spPr>
          <a:xfrm>
            <a:off x="8001000" y="3365500"/>
            <a:ext cx="0" cy="381000"/>
          </a:xfrm>
          <a:prstGeom prst="straightConnector1">
            <a:avLst/>
          </a:prstGeom>
          <a:noFill/>
          <a:ln w="25400">
            <a:solidFill>
              <a:srgbClr val="00D4FF"/>
            </a:solidFill>
            <a:prstDash val="solid"/>
            <a:headEnd type="none"/>
            <a:tailEnd type="arrow"/>
          </a:ln>
        </p:spPr>
      </p:sp>
      <p:sp>
        <p:nvSpPr>
          <p:cNvPr id="15" name="Shape 12"/>
          <p:cNvSpPr/>
          <p:nvPr/>
        </p:nvSpPr>
        <p:spPr>
          <a:xfrm>
            <a:off x="6096000" y="3746500"/>
            <a:ext cx="4064000" cy="635000"/>
          </a:xfrm>
          <a:prstGeom prst="roundRect">
            <a:avLst>
              <a:gd name="adj" fmla="val 10000"/>
            </a:avLst>
          </a:prstGeom>
          <a:gradFill flip="none" rotWithShape="1">
            <a:gsLst>
              <a:gs pos="0">
                <a:srgbClr val="1E3A6E"/>
              </a:gs>
              <a:gs pos="100000">
                <a:srgbClr val="0B1A3E"/>
              </a:gs>
            </a:gsLst>
            <a:lin ang="5400000" scaled="1"/>
          </a:gradFill>
          <a:ln w="12700">
            <a:solidFill>
              <a:srgbClr val="FF9F43"/>
            </a:solidFill>
            <a:prstDash val="solid"/>
          </a:ln>
        </p:spPr>
      </p:sp>
      <p:sp>
        <p:nvSpPr>
          <p:cNvPr id="16" name="Text 13"/>
          <p:cNvSpPr/>
          <p:nvPr/>
        </p:nvSpPr>
        <p:spPr>
          <a:xfrm>
            <a:off x="6096000" y="3746500"/>
            <a:ext cx="4064000" cy="635000"/>
          </a:xfrm>
          <a:prstGeom prst="rect">
            <a:avLst/>
          </a:prstGeom>
          <a:noFill/>
          <a:ln/>
        </p:spPr>
        <p:txBody>
          <a:bodyPr wrap="none" lIns="0" tIns="0" rIns="0" bIns="0" rtlCol="0" anchor="ctr"/>
          <a:lstStyle/>
          <a:p>
            <a:pPr algn="ctr">
              <a:lnSpc>
                <a:spcPct val="100000"/>
              </a:lnSpc>
            </a:pPr>
            <a:r>
              <a:rPr lang="en-US" sz="1600" dirty="0">
                <a:solidFill>
                  <a:srgbClr val="FF9F43"/>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Android Smartphone</a:t>
            </a:r>
            <a:endParaRPr lang="en-US" sz="1600" dirty="0"/>
          </a:p>
        </p:txBody>
      </p:sp>
      <p:sp>
        <p:nvSpPr>
          <p:cNvPr id="17" name="Shape 14"/>
          <p:cNvSpPr/>
          <p:nvPr/>
        </p:nvSpPr>
        <p:spPr>
          <a:xfrm>
            <a:off x="8001000" y="4381500"/>
            <a:ext cx="0" cy="381000"/>
          </a:xfrm>
          <a:prstGeom prst="straightConnector1">
            <a:avLst/>
          </a:prstGeom>
          <a:noFill/>
          <a:ln w="25400">
            <a:solidFill>
              <a:srgbClr val="FF9F43"/>
            </a:solidFill>
            <a:prstDash val="solid"/>
            <a:headEnd type="none"/>
            <a:tailEnd type="arrow"/>
          </a:ln>
        </p:spPr>
      </p:sp>
      <p:sp>
        <p:nvSpPr>
          <p:cNvPr id="18" name="Shape 15"/>
          <p:cNvSpPr/>
          <p:nvPr/>
        </p:nvSpPr>
        <p:spPr>
          <a:xfrm>
            <a:off x="6096000" y="4762500"/>
            <a:ext cx="4064000" cy="635000"/>
          </a:xfrm>
          <a:prstGeom prst="roundRect">
            <a:avLst>
              <a:gd name="adj" fmla="val 10000"/>
            </a:avLst>
          </a:prstGeom>
          <a:gradFill flip="none" rotWithShape="1">
            <a:gsLst>
              <a:gs pos="0">
                <a:srgbClr val="1E3A6E"/>
              </a:gs>
              <a:gs pos="100000">
                <a:srgbClr val="0B1A3E"/>
              </a:gs>
            </a:gsLst>
            <a:lin ang="5400000" scaled="1"/>
          </a:gradFill>
          <a:ln w="12700">
            <a:solidFill>
              <a:srgbClr val="FF9F43"/>
            </a:solidFill>
            <a:prstDash val="solid"/>
          </a:ln>
        </p:spPr>
      </p:sp>
      <p:sp>
        <p:nvSpPr>
          <p:cNvPr id="19" name="Text 16"/>
          <p:cNvSpPr/>
          <p:nvPr/>
        </p:nvSpPr>
        <p:spPr>
          <a:xfrm>
            <a:off x="6096000" y="4762500"/>
            <a:ext cx="4064000" cy="635000"/>
          </a:xfrm>
          <a:prstGeom prst="rect">
            <a:avLst/>
          </a:prstGeom>
          <a:noFill/>
          <a:ln/>
        </p:spPr>
        <p:txBody>
          <a:bodyPr wrap="none" lIns="0" tIns="0" rIns="0" bIns="0" rtlCol="0" anchor="ctr"/>
          <a:lstStyle/>
          <a:p>
            <a:pPr algn="ctr">
              <a:lnSpc>
                <a:spcPct val="100000"/>
              </a:lnSpc>
            </a:pPr>
            <a:r>
              <a:rPr lang="en-US" sz="1600" dirty="0">
                <a:solidFill>
                  <a:srgbClr val="FF9F43"/>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Bluetooth MAP Service</a:t>
            </a:r>
            <a:endParaRPr lang="en-US" sz="1600" dirty="0"/>
          </a:p>
        </p:txBody>
      </p:sp>
      <p:sp>
        <p:nvSpPr>
          <p:cNvPr id="20" name="Shape 17"/>
          <p:cNvSpPr/>
          <p:nvPr/>
        </p:nvSpPr>
        <p:spPr>
          <a:xfrm>
            <a:off x="8001000" y="5397500"/>
            <a:ext cx="0" cy="381000"/>
          </a:xfrm>
          <a:prstGeom prst="straightConnector1">
            <a:avLst/>
          </a:prstGeom>
          <a:noFill/>
          <a:ln w="25400">
            <a:solidFill>
              <a:srgbClr val="FF6B6B"/>
            </a:solidFill>
            <a:prstDash val="solid"/>
            <a:headEnd type="none"/>
            <a:tailEnd type="arrow"/>
          </a:ln>
        </p:spPr>
      </p:sp>
      <p:sp>
        <p:nvSpPr>
          <p:cNvPr id="21" name="Shape 18"/>
          <p:cNvSpPr/>
          <p:nvPr/>
        </p:nvSpPr>
        <p:spPr>
          <a:xfrm>
            <a:off x="6096000" y="5778500"/>
            <a:ext cx="4064000" cy="635000"/>
          </a:xfrm>
          <a:prstGeom prst="roundRect">
            <a:avLst>
              <a:gd name="adj" fmla="val 10000"/>
            </a:avLst>
          </a:prstGeom>
          <a:gradFill flip="none" rotWithShape="1">
            <a:gsLst>
              <a:gs pos="0">
                <a:srgbClr val="3A1E1E"/>
              </a:gs>
              <a:gs pos="100000">
                <a:srgbClr val="1E0B0B"/>
              </a:gs>
            </a:gsLst>
            <a:lin ang="5400000" scaled="1"/>
          </a:gradFill>
          <a:ln w="12700">
            <a:solidFill>
              <a:srgbClr val="FF6B6B"/>
            </a:solidFill>
            <a:prstDash val="solid"/>
          </a:ln>
        </p:spPr>
      </p:sp>
      <p:sp>
        <p:nvSpPr>
          <p:cNvPr id="22" name="Text 19"/>
          <p:cNvSpPr/>
          <p:nvPr/>
        </p:nvSpPr>
        <p:spPr>
          <a:xfrm>
            <a:off x="6096000" y="5778500"/>
            <a:ext cx="4064000" cy="635000"/>
          </a:xfrm>
          <a:prstGeom prst="rect">
            <a:avLst/>
          </a:prstGeom>
          <a:noFill/>
          <a:ln/>
        </p:spPr>
        <p:txBody>
          <a:bodyPr wrap="none" lIns="0" tIns="0" rIns="0" bIns="0" rtlCol="0" anchor="ctr"/>
          <a:lstStyle/>
          <a:p>
            <a:pPr algn="ctr">
              <a:lnSpc>
                <a:spcPct val="100000"/>
              </a:lnSpc>
            </a:pPr>
            <a:r>
              <a:rPr lang="en-US" sz="1600" dirty="0">
                <a:solidFill>
                  <a:srgbClr val="FF6B6B"/>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Kali Linux</a:t>
            </a:r>
            <a:endParaRPr lang="en-US" sz="1600" dirty="0"/>
          </a:p>
        </p:txBody>
      </p:sp>
      <p:sp>
        <p:nvSpPr>
          <p:cNvPr id="23" name="Shape 20"/>
          <p:cNvSpPr/>
          <p:nvPr/>
        </p:nvSpPr>
        <p:spPr>
          <a:xfrm>
            <a:off x="8001000" y="6413500"/>
            <a:ext cx="0" cy="381000"/>
          </a:xfrm>
          <a:prstGeom prst="straightConnector1">
            <a:avLst/>
          </a:prstGeom>
          <a:noFill/>
          <a:ln w="25400">
            <a:solidFill>
              <a:srgbClr val="FF6B6B"/>
            </a:solidFill>
            <a:prstDash val="solid"/>
            <a:headEnd type="none"/>
            <a:tailEnd type="arrow"/>
          </a:ln>
        </p:spPr>
      </p:sp>
      <p:sp>
        <p:nvSpPr>
          <p:cNvPr id="24" name="Shape 21"/>
          <p:cNvSpPr/>
          <p:nvPr/>
        </p:nvSpPr>
        <p:spPr>
          <a:xfrm>
            <a:off x="6096000" y="6794500"/>
            <a:ext cx="4064000" cy="635000"/>
          </a:xfrm>
          <a:prstGeom prst="roundRect">
            <a:avLst>
              <a:gd name="adj" fmla="val 10000"/>
            </a:avLst>
          </a:prstGeom>
          <a:gradFill flip="none" rotWithShape="1">
            <a:gsLst>
              <a:gs pos="0">
                <a:srgbClr val="3A1E1E"/>
              </a:gs>
              <a:gs pos="100000">
                <a:srgbClr val="1E0B0B"/>
              </a:gs>
            </a:gsLst>
            <a:lin ang="5400000" scaled="1"/>
          </a:gradFill>
          <a:ln w="12700">
            <a:solidFill>
              <a:srgbClr val="FF6B6B"/>
            </a:solidFill>
            <a:prstDash val="solid"/>
          </a:ln>
        </p:spPr>
      </p:sp>
      <p:sp>
        <p:nvSpPr>
          <p:cNvPr id="25" name="Text 22"/>
          <p:cNvSpPr/>
          <p:nvPr/>
        </p:nvSpPr>
        <p:spPr>
          <a:xfrm>
            <a:off x="6096000" y="6794500"/>
            <a:ext cx="4064000" cy="635000"/>
          </a:xfrm>
          <a:prstGeom prst="rect">
            <a:avLst/>
          </a:prstGeom>
          <a:noFill/>
          <a:ln/>
        </p:spPr>
        <p:txBody>
          <a:bodyPr wrap="none" lIns="0" tIns="0" rIns="0" bIns="0" rtlCol="0" anchor="ctr"/>
          <a:lstStyle/>
          <a:p>
            <a:pPr algn="ctr">
              <a:lnSpc>
                <a:spcPct val="100000"/>
              </a:lnSpc>
            </a:pPr>
            <a:r>
              <a:rPr lang="en-US" sz="1600" dirty="0">
                <a:solidFill>
                  <a:srgbClr val="FF6B6B"/>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mapAccountHijack</a:t>
            </a:r>
            <a:endParaRPr lang="en-US" sz="1600" dirty="0"/>
          </a:p>
        </p:txBody>
      </p:sp>
      <p:sp>
        <p:nvSpPr>
          <p:cNvPr id="26" name="Shape 23"/>
          <p:cNvSpPr/>
          <p:nvPr/>
        </p:nvSpPr>
        <p:spPr>
          <a:xfrm>
            <a:off x="8001000" y="7429500"/>
            <a:ext cx="0" cy="254000"/>
          </a:xfrm>
          <a:prstGeom prst="straightConnector1">
            <a:avLst/>
          </a:prstGeom>
          <a:noFill/>
          <a:ln w="25400">
            <a:solidFill>
              <a:srgbClr val="00D4FF"/>
            </a:solidFill>
            <a:prstDash val="solid"/>
            <a:headEnd type="none"/>
            <a:tailEnd type="arrow"/>
          </a:ln>
        </p:spPr>
      </p:sp>
      <p:sp>
        <p:nvSpPr>
          <p:cNvPr id="27" name="Shape 24"/>
          <p:cNvSpPr/>
          <p:nvPr/>
        </p:nvSpPr>
        <p:spPr>
          <a:xfrm>
            <a:off x="6096000" y="7683500"/>
            <a:ext cx="4064000" cy="508000"/>
          </a:xfrm>
          <a:prstGeom prst="roundRect">
            <a:avLst>
              <a:gd name="adj" fmla="val 10000"/>
            </a:avLst>
          </a:prstGeom>
          <a:gradFill flip="none" rotWithShape="1">
            <a:gsLst>
              <a:gs pos="0">
                <a:srgbClr val="1E3A6E"/>
              </a:gs>
              <a:gs pos="100000">
                <a:srgbClr val="0B1A3E"/>
              </a:gs>
            </a:gsLst>
            <a:lin ang="5400000" scaled="1"/>
          </a:gradFill>
          <a:ln w="12700">
            <a:solidFill>
              <a:srgbClr val="00D4FF"/>
            </a:solidFill>
            <a:prstDash val="solid"/>
          </a:ln>
        </p:spPr>
      </p:sp>
      <p:sp>
        <p:nvSpPr>
          <p:cNvPr id="28" name="Text 25"/>
          <p:cNvSpPr/>
          <p:nvPr/>
        </p:nvSpPr>
        <p:spPr>
          <a:xfrm>
            <a:off x="6096000" y="7683500"/>
            <a:ext cx="4064000" cy="508000"/>
          </a:xfrm>
          <a:prstGeom prst="rect">
            <a:avLst/>
          </a:prstGeom>
          <a:noFill/>
          <a:ln/>
        </p:spPr>
        <p:txBody>
          <a:bodyPr wrap="none" lIns="0" tIns="0" rIns="0" bIns="0" rtlCol="0" anchor="ctr"/>
          <a:lstStyle/>
          <a:p>
            <a:pPr algn="ctr">
              <a:lnSpc>
                <a:spcPct val="100000"/>
              </a:lnSpc>
            </a:pPr>
            <a:r>
              <a:rPr lang="en-US" sz="1600" dirty="0">
                <a:solidFill>
                  <a:srgbClr val="00D4FF"/>
                </a:solidFill>
                <a:latin typeface="Liter" pitchFamily="34" charset="0"/>
                <a:ea typeface="Liter" pitchFamily="34" charset="-122"/>
                <a:cs typeface="Liter" pitchFamily="34" charset="-120"/>
              </a:rPr>
              <a:t>■</a:t>
            </a:r>
            <a:r>
              <a:rPr lang="en-US" sz="1600" dirty="0">
                <a:solidFill>
                  <a:srgbClr val="FFFFFF"/>
                </a:solidFill>
                <a:latin typeface="Liter" pitchFamily="34" charset="0"/>
                <a:ea typeface="Liter" pitchFamily="34" charset="-122"/>
                <a:cs typeface="Liter" pitchFamily="34" charset="-120"/>
              </a:rPr>
              <a:t> Flask Dashboard</a:t>
            </a:r>
            <a:endParaRPr lang="en-US" sz="1600" dirty="0"/>
          </a:p>
        </p:txBody>
      </p:sp>
      <p:sp>
        <p:nvSpPr>
          <p:cNvPr id="29" name="Text 26"/>
          <p:cNvSpPr/>
          <p:nvPr/>
        </p:nvSpPr>
        <p:spPr>
          <a:xfrm>
            <a:off x="1270000" y="1841500"/>
            <a:ext cx="4318000" cy="381000"/>
          </a:xfrm>
          <a:prstGeom prst="rect">
            <a:avLst/>
          </a:prstGeom>
          <a:noFill/>
          <a:ln/>
        </p:spPr>
        <p:txBody>
          <a:bodyPr wrap="none" lIns="0" tIns="0" rIns="0" bIns="0" rtlCol="0" anchor="ctr"/>
          <a:lstStyle/>
          <a:p>
            <a:pPr algn="r">
              <a:lnSpc>
                <a:spcPct val="100000"/>
              </a:lnSpc>
            </a:pPr>
            <a:r>
              <a:rPr lang="en-US" sz="1400" dirty="0">
                <a:solidFill>
                  <a:srgbClr val="8B9DC3"/>
                </a:solidFill>
                <a:latin typeface="Quattrocento Sans" pitchFamily="34" charset="0"/>
                <a:ea typeface="Quattrocento Sans" pitchFamily="34" charset="-122"/>
                <a:cs typeface="Quattrocento Sans" pitchFamily="34" charset="-120"/>
              </a:rPr>
              <a:t>User Authentication Interface</a:t>
            </a:r>
            <a:endParaRPr lang="en-US" sz="1600" dirty="0"/>
          </a:p>
        </p:txBody>
      </p:sp>
      <p:sp>
        <p:nvSpPr>
          <p:cNvPr id="30" name="Text 27"/>
          <p:cNvSpPr/>
          <p:nvPr/>
        </p:nvSpPr>
        <p:spPr>
          <a:xfrm>
            <a:off x="1270000" y="3873500"/>
            <a:ext cx="4318000" cy="381000"/>
          </a:xfrm>
          <a:prstGeom prst="rect">
            <a:avLst/>
          </a:prstGeom>
          <a:noFill/>
          <a:ln/>
        </p:spPr>
        <p:txBody>
          <a:bodyPr wrap="none" lIns="0" tIns="0" rIns="0" bIns="0" rtlCol="0" anchor="ctr"/>
          <a:lstStyle/>
          <a:p>
            <a:pPr algn="r">
              <a:lnSpc>
                <a:spcPct val="100000"/>
              </a:lnSpc>
            </a:pPr>
            <a:r>
              <a:rPr lang="en-US" sz="1400" dirty="0">
                <a:solidFill>
                  <a:srgbClr val="8B9DC3"/>
                </a:solidFill>
                <a:latin typeface="Quattrocento Sans" pitchFamily="34" charset="0"/>
                <a:ea typeface="Quattrocento Sans" pitchFamily="34" charset="-122"/>
                <a:cs typeface="Quattrocento Sans" pitchFamily="34" charset="-120"/>
              </a:rPr>
              <a:t>SMS Delivery Target</a:t>
            </a:r>
            <a:endParaRPr lang="en-US" sz="1600" dirty="0"/>
          </a:p>
        </p:txBody>
      </p:sp>
      <p:sp>
        <p:nvSpPr>
          <p:cNvPr id="31" name="Text 28"/>
          <p:cNvSpPr/>
          <p:nvPr/>
        </p:nvSpPr>
        <p:spPr>
          <a:xfrm>
            <a:off x="1270000" y="5905500"/>
            <a:ext cx="4318000" cy="381000"/>
          </a:xfrm>
          <a:prstGeom prst="rect">
            <a:avLst/>
          </a:prstGeom>
          <a:noFill/>
          <a:ln/>
        </p:spPr>
        <p:txBody>
          <a:bodyPr wrap="none" lIns="0" tIns="0" rIns="0" bIns="0" rtlCol="0" anchor="ctr"/>
          <a:lstStyle/>
          <a:p>
            <a:pPr algn="r">
              <a:lnSpc>
                <a:spcPct val="100000"/>
              </a:lnSpc>
            </a:pPr>
            <a:r>
              <a:rPr lang="en-US" sz="1400" dirty="0">
                <a:solidFill>
                  <a:srgbClr val="8B9DC3"/>
                </a:solidFill>
                <a:latin typeface="Quattrocento Sans" pitchFamily="34" charset="0"/>
                <a:ea typeface="Quattrocento Sans" pitchFamily="34" charset="-122"/>
                <a:cs typeface="Quattrocento Sans" pitchFamily="34" charset="-120"/>
              </a:rPr>
              <a:t>Attack Platform</a:t>
            </a:r>
            <a:endParaRPr lang="en-US" sz="1600" dirty="0"/>
          </a:p>
        </p:txBody>
      </p:sp>
      <p:sp>
        <p:nvSpPr>
          <p:cNvPr id="32" name="Text 29"/>
          <p:cNvSpPr/>
          <p:nvPr/>
        </p:nvSpPr>
        <p:spPr>
          <a:xfrm>
            <a:off x="10795000" y="7848600"/>
            <a:ext cx="4318000" cy="381000"/>
          </a:xfrm>
          <a:prstGeom prst="rect">
            <a:avLst/>
          </a:prstGeom>
          <a:noFill/>
          <a:ln/>
        </p:spPr>
        <p:txBody>
          <a:bodyPr wrap="none" lIns="0" tIns="0" rIns="0" bIns="0" rtlCol="0" anchor="ctr"/>
          <a:lstStyle/>
          <a:p>
            <a:pPr>
              <a:lnSpc>
                <a:spcPct val="100000"/>
              </a:lnSpc>
            </a:pPr>
            <a:r>
              <a:rPr lang="en-US" sz="1400" dirty="0">
                <a:solidFill>
                  <a:srgbClr val="8B9DC3"/>
                </a:solidFill>
                <a:latin typeface="Quattrocento Sans" pitchFamily="34" charset="0"/>
                <a:ea typeface="Quattrocento Sans" pitchFamily="34" charset="-122"/>
                <a:cs typeface="Quattrocento Sans" pitchFamily="34" charset="-120"/>
              </a:rPr>
              <a:t>Security Analysis Display</a:t>
            </a:r>
            <a:endParaRPr lang="en-US" sz="1600" dirty="0"/>
          </a:p>
        </p:txBody>
      </p:sp>
      <p:sp>
        <p:nvSpPr>
          <p:cNvPr id="33" name="Shape 30"/>
          <p:cNvSpPr/>
          <p:nvPr/>
        </p:nvSpPr>
        <p:spPr>
          <a:xfrm>
            <a:off x="10922000" y="1714500"/>
            <a:ext cx="4318000" cy="1270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34" name="Text 31"/>
          <p:cNvSpPr/>
          <p:nvPr/>
        </p:nvSpPr>
        <p:spPr>
          <a:xfrm>
            <a:off x="11112500" y="1803400"/>
            <a:ext cx="2540000" cy="279400"/>
          </a:xfrm>
          <a:prstGeom prst="rect">
            <a:avLst/>
          </a:prstGeom>
          <a:noFill/>
          <a:ln/>
        </p:spPr>
        <p:txBody>
          <a:bodyPr wrap="none" lIns="0" tIns="0" rIns="0" bIns="0" rtlCol="0" anchor="ctr"/>
          <a:lstStyle/>
          <a:p>
            <a:pPr>
              <a:lnSpc>
                <a:spcPct val="100000"/>
              </a:lnSpc>
            </a:pPr>
            <a:r>
              <a:rPr lang="en-US" sz="1400" dirty="0">
                <a:solidFill>
                  <a:srgbClr val="00D4FF"/>
                </a:solidFill>
                <a:latin typeface="Liter" pitchFamily="34" charset="0"/>
                <a:ea typeface="Liter" pitchFamily="34" charset="-122"/>
                <a:cs typeface="Liter" pitchFamily="34" charset="-120"/>
              </a:rPr>
              <a:t>Legend</a:t>
            </a:r>
            <a:endParaRPr lang="en-US" sz="1600" dirty="0"/>
          </a:p>
        </p:txBody>
      </p:sp>
      <p:sp>
        <p:nvSpPr>
          <p:cNvPr id="35" name="Text 32"/>
          <p:cNvSpPr/>
          <p:nvPr/>
        </p:nvSpPr>
        <p:spPr>
          <a:xfrm>
            <a:off x="11112500" y="2133600"/>
            <a:ext cx="3810000" cy="254000"/>
          </a:xfrm>
          <a:prstGeom prst="rect">
            <a:avLst/>
          </a:prstGeom>
          <a:noFill/>
          <a:ln/>
        </p:spPr>
        <p:txBody>
          <a:bodyPr wrap="none" lIns="0" tIns="0" rIns="0" bIns="0" rtlCol="0" anchor="ctr"/>
          <a:lstStyle/>
          <a:p>
            <a:pPr>
              <a:lnSpc>
                <a:spcPct val="100000"/>
              </a:lnSpc>
            </a:pPr>
            <a:r>
              <a:rPr lang="en-US" sz="1200" dirty="0">
                <a:solidFill>
                  <a:srgbClr val="00D4FF"/>
                </a:solidFill>
                <a:latin typeface="Quattrocento Sans" pitchFamily="34" charset="0"/>
                <a:ea typeface="Quattrocento Sans" pitchFamily="34" charset="-122"/>
                <a:cs typeface="Quattrocento Sans" pitchFamily="34" charset="-120"/>
              </a:rPr>
              <a:t>■</a:t>
            </a:r>
            <a:r>
              <a:rPr lang="en-US" sz="1200" dirty="0">
                <a:solidFill>
                  <a:srgbClr val="E8EDF5"/>
                </a:solidFill>
                <a:latin typeface="Quattrocento Sans" pitchFamily="34" charset="0"/>
                <a:ea typeface="Quattrocento Sans" pitchFamily="34" charset="-122"/>
                <a:cs typeface="Quattrocento Sans" pitchFamily="34" charset="-120"/>
              </a:rPr>
              <a:t> Normal Flow </a:t>
            </a:r>
            <a:r>
              <a:rPr lang="en-US" sz="1200" dirty="0">
                <a:solidFill>
                  <a:srgbClr val="FF9F43"/>
                </a:solidFill>
                <a:latin typeface="Quattrocento Sans" pitchFamily="34" charset="0"/>
                <a:ea typeface="Quattrocento Sans" pitchFamily="34" charset="-122"/>
                <a:cs typeface="Quattrocento Sans" pitchFamily="34" charset="-120"/>
              </a:rPr>
              <a:t>■</a:t>
            </a:r>
            <a:r>
              <a:rPr lang="en-US" sz="1200" dirty="0">
                <a:solidFill>
                  <a:srgbClr val="E8EDF5"/>
                </a:solidFill>
                <a:latin typeface="Quattrocento Sans" pitchFamily="34" charset="0"/>
                <a:ea typeface="Quattrocento Sans" pitchFamily="34" charset="-122"/>
                <a:cs typeface="Quattrocento Sans" pitchFamily="34" charset="-120"/>
              </a:rPr>
              <a:t> Target Device </a:t>
            </a:r>
            <a:r>
              <a:rPr lang="en-US" sz="1200" dirty="0">
                <a:solidFill>
                  <a:srgbClr val="FF6B6B"/>
                </a:solidFill>
                <a:latin typeface="Quattrocento Sans" pitchFamily="34" charset="0"/>
                <a:ea typeface="Quattrocento Sans" pitchFamily="34" charset="-122"/>
                <a:cs typeface="Quattrocento Sans" pitchFamily="34" charset="-120"/>
              </a:rPr>
              <a:t>■</a:t>
            </a:r>
            <a:r>
              <a:rPr lang="en-US" sz="1200" dirty="0">
                <a:solidFill>
                  <a:srgbClr val="E8EDF5"/>
                </a:solidFill>
                <a:latin typeface="Quattrocento Sans" pitchFamily="34" charset="0"/>
                <a:ea typeface="Quattrocento Sans" pitchFamily="34" charset="-122"/>
                <a:cs typeface="Quattrocento Sans" pitchFamily="34" charset="-120"/>
              </a:rPr>
              <a:t> Attack</a:t>
            </a:r>
            <a:endParaRPr lang="en-US" sz="1600" dirty="0"/>
          </a:p>
        </p:txBody>
      </p:sp>
      <p:pic>
        <p:nvPicPr>
          <p:cNvPr id="36" name="Image 0" descr="https://kimi-img.moonshot.cn/pub/slides/okc/ofj3fxaw5mk46/mnt/agents/output/bluetooth-security/images/3_Free_Glowing_Bluetooth_Icon_Image.png"/>
          <p:cNvPicPr>
            <a:picLocks noChangeAspect="1"/>
          </p:cNvPicPr>
          <p:nvPr/>
        </p:nvPicPr>
        <p:blipFill>
          <a:blip r:embed="rId3">
            <a:alphaModFix amt="60000"/>
          </a:blip>
          <a:srcRect l="3571" r="3571"/>
          <a:stretch/>
        </p:blipFill>
        <p:spPr>
          <a:xfrm>
            <a:off x="11430000" y="3556000"/>
            <a:ext cx="3302000" cy="2032000"/>
          </a:xfrm>
          <a:prstGeom prst="roundRect">
            <a:avLst>
              <a:gd name="adj" fmla="val 8000"/>
            </a:avLst>
          </a:prstGeom>
        </p:spPr>
      </p:pic>
      <p:sp>
        <p:nvSpPr>
          <p:cNvPr id="37" name="Shape 33"/>
          <p:cNvSpPr/>
          <p:nvPr/>
        </p:nvSpPr>
        <p:spPr>
          <a:xfrm>
            <a:off x="762000" y="8382000"/>
            <a:ext cx="14732000" cy="12700"/>
          </a:xfrm>
          <a:prstGeom prst="rect">
            <a:avLst/>
          </a:prstGeom>
          <a:solidFill>
            <a:srgbClr val="1E3A6E"/>
          </a:solidFill>
          <a:ln/>
        </p:spPr>
      </p:sp>
      <p:sp>
        <p:nvSpPr>
          <p:cNvPr id="38" name="Text 34"/>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9" name="Text 35"/>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7 / 18</a:t>
            </a:r>
            <a:endParaRPr lang="en-US" sz="14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7886700" y="0"/>
            <a:ext cx="889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a:t>
            </a:r>
            <a:r>
              <a:rPr lang="en-US" sz="1200" kern="0" spc="100" dirty="0">
                <a:solidFill>
                  <a:srgbClr val="00D4FF"/>
                </a:solidFill>
                <a:latin typeface="Liter" pitchFamily="34" charset="0"/>
                <a:ea typeface="Liter" pitchFamily="34" charset="-122"/>
                <a:cs typeface="Liter" pitchFamily="34" charset="-120"/>
              </a:rPr>
              <a:t>PHASES</a:t>
            </a:r>
            <a:r>
              <a:rPr lang="en-US" sz="1200" kern="0" spc="100" dirty="0">
                <a:solidFill>
                  <a:srgbClr val="8B9DC3"/>
                </a:solidFill>
                <a:latin typeface="Liter" pitchFamily="34" charset="0"/>
                <a:ea typeface="Liter" pitchFamily="34" charset="-122"/>
                <a:cs typeface="Liter" pitchFamily="34" charset="-120"/>
              </a:rPr>
              <a:t> | CHALLENGES | SECURITY | RESULTS</a:t>
            </a:r>
            <a:endParaRPr lang="en-US" sz="1200" dirty="0"/>
          </a:p>
        </p:txBody>
      </p:sp>
      <p:sp>
        <p:nvSpPr>
          <p:cNvPr id="6"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Phase 1 – Bluetooth Setup</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3716000" y="698500"/>
            <a:ext cx="1778000" cy="457200"/>
          </a:xfrm>
          <a:prstGeom prst="roundRect">
            <a:avLst>
              <a:gd name="adj" fmla="val 16000"/>
            </a:avLst>
          </a:prstGeom>
          <a:solidFill>
            <a:srgbClr val="00D4FF"/>
          </a:solidFill>
          <a:ln/>
        </p:spPr>
      </p:sp>
      <p:sp>
        <p:nvSpPr>
          <p:cNvPr id="9" name="Text 6"/>
          <p:cNvSpPr/>
          <p:nvPr/>
        </p:nvSpPr>
        <p:spPr>
          <a:xfrm>
            <a:off x="13716000" y="698500"/>
            <a:ext cx="1778000" cy="457200"/>
          </a:xfrm>
          <a:prstGeom prst="rect">
            <a:avLst/>
          </a:prstGeom>
          <a:noFill/>
          <a:ln/>
        </p:spPr>
        <p:txBody>
          <a:bodyPr wrap="none" lIns="0" tIns="0" rIns="0" bIns="0" rtlCol="0" anchor="ctr"/>
          <a:lstStyle/>
          <a:p>
            <a:pPr algn="ctr">
              <a:lnSpc>
                <a:spcPct val="100000"/>
              </a:lnSpc>
            </a:pPr>
            <a:r>
              <a:rPr lang="en-US" sz="1400" b="1" dirty="0">
                <a:solidFill>
                  <a:srgbClr val="060D1F"/>
                </a:solidFill>
                <a:latin typeface="Liter" pitchFamily="34" charset="0"/>
                <a:ea typeface="Liter" pitchFamily="34" charset="-122"/>
                <a:cs typeface="Liter" pitchFamily="34" charset="-120"/>
              </a:rPr>
              <a:t>PHASE 1 / 5</a:t>
            </a:r>
            <a:endParaRPr lang="en-US" sz="1600" dirty="0"/>
          </a:p>
        </p:txBody>
      </p:sp>
      <p:sp>
        <p:nvSpPr>
          <p:cNvPr id="10" name="Shape 7"/>
          <p:cNvSpPr/>
          <p:nvPr/>
        </p:nvSpPr>
        <p:spPr>
          <a:xfrm>
            <a:off x="762000" y="1587500"/>
            <a:ext cx="7112000" cy="6350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11" name="Text 8"/>
          <p:cNvSpPr/>
          <p:nvPr/>
        </p:nvSpPr>
        <p:spPr>
          <a:xfrm>
            <a:off x="1079500" y="1778000"/>
            <a:ext cx="381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Setup Steps</a:t>
            </a:r>
            <a:endParaRPr lang="en-US" sz="2200" dirty="0"/>
          </a:p>
        </p:txBody>
      </p:sp>
      <p:sp>
        <p:nvSpPr>
          <p:cNvPr id="12" name="Text 9"/>
          <p:cNvSpPr/>
          <p:nvPr/>
        </p:nvSpPr>
        <p:spPr>
          <a:xfrm>
            <a:off x="1079500" y="2286000"/>
            <a:ext cx="6477000" cy="5334000"/>
          </a:xfrm>
          <a:prstGeom prst="rect">
            <a:avLst/>
          </a:prstGeom>
          <a:noFill/>
          <a:ln/>
        </p:spPr>
        <p:txBody>
          <a:bodyPr wrap="square" lIns="0" tIns="0" rIns="0" bIns="0" rtlCol="0" anchor="t"/>
          <a:lstStyle/>
          <a:p>
            <a:pPr>
              <a:lnSpc>
                <a:spcPct val="170000"/>
              </a:lnSpc>
            </a:pPr>
            <a:r>
              <a:rPr lang="en-US" sz="1700" b="1" dirty="0">
                <a:solidFill>
                  <a:srgbClr val="00D4FF"/>
                </a:solidFill>
                <a:latin typeface="Quattrocento Sans" pitchFamily="34" charset="0"/>
                <a:ea typeface="Quattrocento Sans" pitchFamily="34" charset="-122"/>
                <a:cs typeface="Quattrocento Sans" pitchFamily="34" charset="-120"/>
              </a:rPr>
              <a:t>1. Configure Kali Linux Environment</a:t>
            </a:r>
            <a:endParaRPr lang="en-US" sz="1600" dirty="0"/>
          </a:p>
          <a:p>
            <a:pPr>
              <a:lnSpc>
                <a:spcPct val="170000"/>
              </a:lnSpc>
            </a:pPr>
            <a:r>
              <a:rPr lang="en-US" sz="1700" dirty="0">
                <a:solidFill>
                  <a:srgbClr val="E8EDF5"/>
                </a:solidFill>
                <a:latin typeface="Quattrocento Sans" pitchFamily="34" charset="0"/>
                <a:ea typeface="Quattrocento Sans" pitchFamily="34" charset="-122"/>
                <a:cs typeface="Quattrocento Sans" pitchFamily="34" charset="-120"/>
              </a:rPr>
              <a:t>Install required Bluetooth packages and dependencies</a:t>
            </a:r>
            <a:endParaRPr lang="en-US" sz="1600" dirty="0"/>
          </a:p>
          <a:p>
            <a:pPr>
              <a:lnSpc>
                <a:spcPct val="170000"/>
              </a:lnSpc>
              <a:spcBef>
                <a:spcPts val="1000"/>
              </a:spcBef>
            </a:pPr>
            <a:r>
              <a:rPr lang="en-US" sz="1700" b="1" dirty="0">
                <a:solidFill>
                  <a:srgbClr val="00D4FF"/>
                </a:solidFill>
                <a:latin typeface="Quattrocento Sans" pitchFamily="34" charset="0"/>
                <a:ea typeface="Quattrocento Sans" pitchFamily="34" charset="-122"/>
                <a:cs typeface="Quattrocento Sans" pitchFamily="34" charset="-120"/>
              </a:rPr>
              <a:t>2. Enable Bluetooth Adapter</a:t>
            </a:r>
            <a:endParaRPr lang="en-US" sz="1600" dirty="0"/>
          </a:p>
          <a:p>
            <a:pPr>
              <a:lnSpc>
                <a:spcPct val="170000"/>
              </a:lnSpc>
            </a:pPr>
            <a:r>
              <a:rPr lang="en-US" sz="1700" dirty="0">
                <a:solidFill>
                  <a:srgbClr val="E8EDF5"/>
                </a:solidFill>
                <a:latin typeface="Quattrocento Sans" pitchFamily="34" charset="0"/>
                <a:ea typeface="Quattrocento Sans" pitchFamily="34" charset="-122"/>
                <a:cs typeface="Quattrocento Sans" pitchFamily="34" charset="-120"/>
              </a:rPr>
              <a:t>Use hciconfig to bring up the Bluetooth interface</a:t>
            </a:r>
            <a:endParaRPr lang="en-US" sz="1600" dirty="0"/>
          </a:p>
          <a:p>
            <a:pPr>
              <a:lnSpc>
                <a:spcPct val="170000"/>
              </a:lnSpc>
              <a:spcBef>
                <a:spcPts val="1000"/>
              </a:spcBef>
            </a:pPr>
            <a:r>
              <a:rPr lang="en-US" sz="1700" b="1" dirty="0">
                <a:solidFill>
                  <a:srgbClr val="00D4FF"/>
                </a:solidFill>
                <a:latin typeface="Quattrocento Sans" pitchFamily="34" charset="0"/>
                <a:ea typeface="Quattrocento Sans" pitchFamily="34" charset="-122"/>
                <a:cs typeface="Quattrocento Sans" pitchFamily="34" charset="-120"/>
              </a:rPr>
              <a:t>3. Set Discoverable Mode</a:t>
            </a:r>
            <a:endParaRPr lang="en-US" sz="1600" dirty="0"/>
          </a:p>
          <a:p>
            <a:pPr>
              <a:lnSpc>
                <a:spcPct val="170000"/>
              </a:lnSpc>
            </a:pPr>
            <a:r>
              <a:rPr lang="en-US" sz="1700" dirty="0">
                <a:solidFill>
                  <a:srgbClr val="E8EDF5"/>
                </a:solidFill>
                <a:latin typeface="Quattrocento Sans" pitchFamily="34" charset="0"/>
                <a:ea typeface="Quattrocento Sans" pitchFamily="34" charset="-122"/>
                <a:cs typeface="Quattrocento Sans" pitchFamily="34" charset="-120"/>
              </a:rPr>
              <a:t>Configure controller visibility using bluetoothctl</a:t>
            </a:r>
            <a:endParaRPr lang="en-US" sz="1600" dirty="0"/>
          </a:p>
          <a:p>
            <a:pPr>
              <a:lnSpc>
                <a:spcPct val="170000"/>
              </a:lnSpc>
              <a:spcBef>
                <a:spcPts val="1000"/>
              </a:spcBef>
            </a:pPr>
            <a:r>
              <a:rPr lang="en-US" sz="1700" b="1" dirty="0">
                <a:solidFill>
                  <a:srgbClr val="00D4FF"/>
                </a:solidFill>
                <a:latin typeface="Quattrocento Sans" pitchFamily="34" charset="0"/>
                <a:ea typeface="Quattrocento Sans" pitchFamily="34" charset="-122"/>
                <a:cs typeface="Quattrocento Sans" pitchFamily="34" charset="-120"/>
              </a:rPr>
              <a:t>4. Verify Adapter Status</a:t>
            </a:r>
            <a:endParaRPr lang="en-US" sz="1600" dirty="0"/>
          </a:p>
          <a:p>
            <a:pPr>
              <a:lnSpc>
                <a:spcPct val="170000"/>
              </a:lnSpc>
            </a:pPr>
            <a:r>
              <a:rPr lang="en-US" sz="1700" dirty="0">
                <a:solidFill>
                  <a:srgbClr val="E8EDF5"/>
                </a:solidFill>
                <a:latin typeface="Quattrocento Sans" pitchFamily="34" charset="0"/>
                <a:ea typeface="Quattrocento Sans" pitchFamily="34" charset="-122"/>
                <a:cs typeface="Quattrocento Sans" pitchFamily="34" charset="-120"/>
              </a:rPr>
              <a:t>Ensure proper USB passthrough and adapter detection</a:t>
            </a:r>
            <a:endParaRPr lang="en-US" sz="1600" dirty="0"/>
          </a:p>
          <a:p>
            <a:pPr>
              <a:lnSpc>
                <a:spcPct val="170000"/>
              </a:lnSpc>
              <a:spcBef>
                <a:spcPts val="1000"/>
              </a:spcBef>
            </a:pPr>
            <a:r>
              <a:rPr lang="en-US" sz="1700" b="1" dirty="0">
                <a:solidFill>
                  <a:srgbClr val="00D4FF"/>
                </a:solidFill>
                <a:latin typeface="Quattrocento Sans" pitchFamily="34" charset="0"/>
                <a:ea typeface="Quattrocento Sans" pitchFamily="34" charset="-122"/>
                <a:cs typeface="Quattrocento Sans" pitchFamily="34" charset="-120"/>
              </a:rPr>
              <a:t>5. Establish Communication</a:t>
            </a:r>
            <a:endParaRPr lang="en-US" sz="1600" dirty="0"/>
          </a:p>
          <a:p>
            <a:pPr>
              <a:lnSpc>
                <a:spcPct val="170000"/>
              </a:lnSpc>
            </a:pPr>
            <a:r>
              <a:rPr lang="en-US" sz="1700" dirty="0">
                <a:solidFill>
                  <a:srgbClr val="E8EDF5"/>
                </a:solidFill>
                <a:latin typeface="Quattrocento Sans" pitchFamily="34" charset="0"/>
                <a:ea typeface="Quattrocento Sans" pitchFamily="34" charset="-122"/>
                <a:cs typeface="Quattrocento Sans" pitchFamily="34" charset="-120"/>
              </a:rPr>
              <a:t>Confirm basic Bluetooth connectivity capability</a:t>
            </a:r>
            <a:endParaRPr lang="en-US" sz="1600" dirty="0"/>
          </a:p>
        </p:txBody>
      </p:sp>
      <p:sp>
        <p:nvSpPr>
          <p:cNvPr id="13" name="Shape 10"/>
          <p:cNvSpPr/>
          <p:nvPr/>
        </p:nvSpPr>
        <p:spPr>
          <a:xfrm>
            <a:off x="8382000" y="1587500"/>
            <a:ext cx="7112000" cy="6350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14" name="Text 11"/>
          <p:cNvSpPr/>
          <p:nvPr/>
        </p:nvSpPr>
        <p:spPr>
          <a:xfrm>
            <a:off x="8699500" y="1778000"/>
            <a:ext cx="381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Key Commands</a:t>
            </a:r>
            <a:endParaRPr lang="en-US" sz="2200" dirty="0"/>
          </a:p>
        </p:txBody>
      </p:sp>
      <p:sp>
        <p:nvSpPr>
          <p:cNvPr id="15" name="Shape 12"/>
          <p:cNvSpPr/>
          <p:nvPr/>
        </p:nvSpPr>
        <p:spPr>
          <a:xfrm>
            <a:off x="8699500" y="2349500"/>
            <a:ext cx="6477000" cy="2730500"/>
          </a:xfrm>
          <a:prstGeom prst="roundRect">
            <a:avLst>
              <a:gd name="adj" fmla="val 6000"/>
            </a:avLst>
          </a:prstGeom>
          <a:solidFill>
            <a:srgbClr val="060D1F"/>
          </a:solidFill>
          <a:ln w="12700">
            <a:solidFill>
              <a:srgbClr val="1E3A6E"/>
            </a:solidFill>
            <a:prstDash val="solid"/>
          </a:ln>
        </p:spPr>
      </p:sp>
      <p:sp>
        <p:nvSpPr>
          <p:cNvPr id="16" name="Text 13"/>
          <p:cNvSpPr/>
          <p:nvPr/>
        </p:nvSpPr>
        <p:spPr>
          <a:xfrm>
            <a:off x="8953500" y="2476500"/>
            <a:ext cx="5969000" cy="2476500"/>
          </a:xfrm>
          <a:prstGeom prst="rect">
            <a:avLst/>
          </a:prstGeom>
          <a:noFill/>
          <a:ln/>
        </p:spPr>
        <p:txBody>
          <a:bodyPr wrap="square" lIns="0" tIns="0" rIns="0" bIns="0" rtlCol="0" anchor="t"/>
          <a:lstStyle/>
          <a:p>
            <a:pPr>
              <a:lnSpc>
                <a:spcPct val="170000"/>
              </a:lnSpc>
            </a:pPr>
            <a:r>
              <a:rPr lang="en-US" sz="1400" dirty="0">
                <a:solidFill>
                  <a:srgbClr val="8B9DC3"/>
                </a:solidFill>
                <a:latin typeface="Quattrocento Sans" pitchFamily="34" charset="0"/>
                <a:ea typeface="Quattrocento Sans" pitchFamily="34" charset="-122"/>
                <a:cs typeface="Quattrocento Sans" pitchFamily="34" charset="-120"/>
              </a:rPr>
              <a:t># Check Bluetooth status</a:t>
            </a:r>
            <a:endParaRPr lang="en-US" sz="1600" dirty="0"/>
          </a:p>
          <a:p>
            <a:pPr>
              <a:lnSpc>
                <a:spcPct val="170000"/>
              </a:lnSpc>
            </a:pPr>
            <a:r>
              <a:rPr lang="en-US" sz="1400" dirty="0">
                <a:solidFill>
                  <a:srgbClr val="FFFFFF"/>
                </a:solidFill>
                <a:latin typeface="Quattrocento Sans" pitchFamily="34" charset="0"/>
                <a:ea typeface="Quattrocento Sans" pitchFamily="34" charset="-122"/>
                <a:cs typeface="Quattrocento Sans" pitchFamily="34" charset="-120"/>
              </a:rPr>
              <a:t>$</a:t>
            </a:r>
            <a:r>
              <a:rPr lang="en-US" sz="1400" dirty="0">
                <a:solidFill>
                  <a:srgbClr val="00D4FF"/>
                </a:solidFill>
                <a:latin typeface="Quattrocento Sans" pitchFamily="34" charset="0"/>
                <a:ea typeface="Quattrocento Sans" pitchFamily="34" charset="-122"/>
                <a:cs typeface="Quattrocento Sans" pitchFamily="34" charset="-120"/>
              </a:rPr>
              <a:t> hciconfig hci0 status</a:t>
            </a:r>
            <a:endParaRPr lang="en-US" sz="1600" dirty="0"/>
          </a:p>
          <a:p>
            <a:pPr>
              <a:lnSpc>
                <a:spcPct val="170000"/>
              </a:lnSpc>
              <a:spcBef>
                <a:spcPts val="600"/>
              </a:spcBef>
            </a:pPr>
            <a:r>
              <a:rPr lang="en-US" sz="1400" dirty="0">
                <a:solidFill>
                  <a:srgbClr val="8B9DC3"/>
                </a:solidFill>
                <a:latin typeface="Quattrocento Sans" pitchFamily="34" charset="0"/>
                <a:ea typeface="Quattrocento Sans" pitchFamily="34" charset="-122"/>
                <a:cs typeface="Quattrocento Sans" pitchFamily="34" charset="-120"/>
              </a:rPr>
              <a:t># Bring up adapter</a:t>
            </a:r>
            <a:endParaRPr lang="en-US" sz="1600" dirty="0"/>
          </a:p>
          <a:p>
            <a:pPr>
              <a:lnSpc>
                <a:spcPct val="170000"/>
              </a:lnSpc>
            </a:pPr>
            <a:r>
              <a:rPr lang="en-US" sz="1400" dirty="0">
                <a:solidFill>
                  <a:srgbClr val="FFFFFF"/>
                </a:solidFill>
                <a:latin typeface="Quattrocento Sans" pitchFamily="34" charset="0"/>
                <a:ea typeface="Quattrocento Sans" pitchFamily="34" charset="-122"/>
                <a:cs typeface="Quattrocento Sans" pitchFamily="34" charset="-120"/>
              </a:rPr>
              <a:t>$</a:t>
            </a:r>
            <a:r>
              <a:rPr lang="en-US" sz="1400" dirty="0">
                <a:solidFill>
                  <a:srgbClr val="00D4FF"/>
                </a:solidFill>
                <a:latin typeface="Quattrocento Sans" pitchFamily="34" charset="0"/>
                <a:ea typeface="Quattrocento Sans" pitchFamily="34" charset="-122"/>
                <a:cs typeface="Quattrocento Sans" pitchFamily="34" charset="-120"/>
              </a:rPr>
              <a:t> sudo hciconfig hci0 up</a:t>
            </a:r>
            <a:endParaRPr lang="en-US" sz="1600" dirty="0"/>
          </a:p>
          <a:p>
            <a:pPr>
              <a:lnSpc>
                <a:spcPct val="170000"/>
              </a:lnSpc>
              <a:spcBef>
                <a:spcPts val="600"/>
              </a:spcBef>
            </a:pPr>
            <a:r>
              <a:rPr lang="en-US" sz="1400" dirty="0">
                <a:solidFill>
                  <a:srgbClr val="8B9DC3"/>
                </a:solidFill>
                <a:latin typeface="Quattrocento Sans" pitchFamily="34" charset="0"/>
                <a:ea typeface="Quattrocento Sans" pitchFamily="34" charset="-122"/>
                <a:cs typeface="Quattrocento Sans" pitchFamily="34" charset="-120"/>
              </a:rPr>
              <a:t># Launch bluetoothctl</a:t>
            </a:r>
            <a:endParaRPr lang="en-US" sz="1600" dirty="0"/>
          </a:p>
          <a:p>
            <a:pPr>
              <a:lnSpc>
                <a:spcPct val="170000"/>
              </a:lnSpc>
            </a:pPr>
            <a:r>
              <a:rPr lang="en-US" sz="1400" dirty="0">
                <a:solidFill>
                  <a:srgbClr val="FFFFFF"/>
                </a:solidFill>
                <a:latin typeface="Quattrocento Sans" pitchFamily="34" charset="0"/>
                <a:ea typeface="Quattrocento Sans" pitchFamily="34" charset="-122"/>
                <a:cs typeface="Quattrocento Sans" pitchFamily="34" charset="-120"/>
              </a:rPr>
              <a:t>$</a:t>
            </a:r>
            <a:r>
              <a:rPr lang="en-US" sz="1400" dirty="0">
                <a:solidFill>
                  <a:srgbClr val="00D4FF"/>
                </a:solidFill>
                <a:latin typeface="Quattrocento Sans" pitchFamily="34" charset="0"/>
                <a:ea typeface="Quattrocento Sans" pitchFamily="34" charset="-122"/>
                <a:cs typeface="Quattrocento Sans" pitchFamily="34" charset="-120"/>
              </a:rPr>
              <a:t> bluetoothctl</a:t>
            </a:r>
            <a:endParaRPr lang="en-US" sz="1600" dirty="0"/>
          </a:p>
        </p:txBody>
      </p:sp>
      <p:sp>
        <p:nvSpPr>
          <p:cNvPr id="17" name="Shape 14"/>
          <p:cNvSpPr/>
          <p:nvPr/>
        </p:nvSpPr>
        <p:spPr>
          <a:xfrm>
            <a:off x="11430000" y="5461000"/>
            <a:ext cx="508000" cy="1016000"/>
          </a:xfrm>
          <a:custGeom>
            <a:avLst/>
            <a:gdLst/>
            <a:ahLst/>
            <a:cxnLst/>
            <a:rect l="l" t="t" r="r" b="b"/>
            <a:pathLst>
              <a:path w="508000" h="1016000">
                <a:moveTo>
                  <a:pt x="327223" y="515938"/>
                </a:moveTo>
                <a:lnTo>
                  <a:pt x="510977" y="310952"/>
                </a:lnTo>
                <a:lnTo>
                  <a:pt x="221456" y="0"/>
                </a:lnTo>
                <a:lnTo>
                  <a:pt x="221456" y="409377"/>
                </a:lnTo>
                <a:lnTo>
                  <a:pt x="50403" y="238522"/>
                </a:lnTo>
                <a:lnTo>
                  <a:pt x="-11906" y="300831"/>
                </a:lnTo>
                <a:lnTo>
                  <a:pt x="202605" y="515938"/>
                </a:lnTo>
                <a:lnTo>
                  <a:pt x="-11906" y="731044"/>
                </a:lnTo>
                <a:lnTo>
                  <a:pt x="50403" y="793353"/>
                </a:lnTo>
                <a:lnTo>
                  <a:pt x="221456" y="622498"/>
                </a:lnTo>
                <a:lnTo>
                  <a:pt x="226814" y="1016000"/>
                </a:lnTo>
                <a:lnTo>
                  <a:pt x="521494" y="721122"/>
                </a:lnTo>
                <a:lnTo>
                  <a:pt x="327223" y="515938"/>
                </a:lnTo>
                <a:close/>
                <a:moveTo>
                  <a:pt x="408384" y="311547"/>
                </a:moveTo>
                <a:lnTo>
                  <a:pt x="309166" y="410766"/>
                </a:lnTo>
                <a:lnTo>
                  <a:pt x="308570" y="211733"/>
                </a:lnTo>
                <a:lnTo>
                  <a:pt x="408384" y="311547"/>
                </a:lnTo>
                <a:close/>
                <a:moveTo>
                  <a:pt x="309166" y="621109"/>
                </a:moveTo>
                <a:lnTo>
                  <a:pt x="408384" y="720328"/>
                </a:lnTo>
                <a:lnTo>
                  <a:pt x="308570" y="820142"/>
                </a:lnTo>
                <a:lnTo>
                  <a:pt x="309166" y="621109"/>
                </a:lnTo>
                <a:close/>
              </a:path>
            </a:pathLst>
          </a:custGeom>
          <a:solidFill>
            <a:srgbClr val="00D4FF">
              <a:alpha val="30000"/>
            </a:srgbClr>
          </a:solidFill>
          <a:ln/>
        </p:spPr>
      </p:sp>
      <p:sp>
        <p:nvSpPr>
          <p:cNvPr id="18" name="Text 15"/>
          <p:cNvSpPr/>
          <p:nvPr/>
        </p:nvSpPr>
        <p:spPr>
          <a:xfrm>
            <a:off x="8699500" y="6604000"/>
            <a:ext cx="6477000" cy="1016000"/>
          </a:xfrm>
          <a:prstGeom prst="rect">
            <a:avLst/>
          </a:prstGeom>
          <a:noFill/>
          <a:ln/>
        </p:spPr>
        <p:txBody>
          <a:bodyPr wrap="square" lIns="0" tIns="0" rIns="0" bIns="0" rtlCol="0" anchor="t"/>
          <a:lstStyle/>
          <a:p>
            <a:pPr algn="ctr">
              <a:lnSpc>
                <a:spcPct val="150000"/>
              </a:lnSpc>
            </a:pPr>
            <a:r>
              <a:rPr lang="en-US" sz="1500" dirty="0">
                <a:solidFill>
                  <a:srgbClr val="8B9DC3"/>
                </a:solidFill>
                <a:latin typeface="Quattrocento Sans" pitchFamily="34" charset="0"/>
                <a:ea typeface="Quattrocento Sans" pitchFamily="34" charset="-122"/>
                <a:cs typeface="Quattrocento Sans" pitchFamily="34" charset="-120"/>
              </a:rPr>
              <a:t>This phase establishes the foundational Bluetooth communication layer required for all subsequent MAP operations.</a:t>
            </a:r>
            <a:endParaRPr lang="en-US" sz="1600" dirty="0"/>
          </a:p>
        </p:txBody>
      </p:sp>
      <p:sp>
        <p:nvSpPr>
          <p:cNvPr id="19" name="Shape 16"/>
          <p:cNvSpPr/>
          <p:nvPr/>
        </p:nvSpPr>
        <p:spPr>
          <a:xfrm>
            <a:off x="762000" y="8382000"/>
            <a:ext cx="14732000" cy="12700"/>
          </a:xfrm>
          <a:prstGeom prst="rect">
            <a:avLst/>
          </a:prstGeom>
          <a:solidFill>
            <a:srgbClr val="1E3A6E"/>
          </a:solidFill>
          <a:ln/>
        </p:spPr>
      </p:sp>
      <p:sp>
        <p:nvSpPr>
          <p:cNvPr id="20" name="Text 17"/>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21" name="Text 18"/>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8 / 18</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7886700" y="0"/>
            <a:ext cx="889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a:t>
            </a:r>
            <a:r>
              <a:rPr lang="en-US" sz="1200" kern="0" spc="100" dirty="0">
                <a:solidFill>
                  <a:srgbClr val="00D4FF"/>
                </a:solidFill>
                <a:latin typeface="Liter" pitchFamily="34" charset="0"/>
                <a:ea typeface="Liter" pitchFamily="34" charset="-122"/>
                <a:cs typeface="Liter" pitchFamily="34" charset="-120"/>
              </a:rPr>
              <a:t>PHASES</a:t>
            </a:r>
            <a:r>
              <a:rPr lang="en-US" sz="1200" kern="0" spc="100" dirty="0">
                <a:solidFill>
                  <a:srgbClr val="8B9DC3"/>
                </a:solidFill>
                <a:latin typeface="Liter" pitchFamily="34" charset="0"/>
                <a:ea typeface="Liter" pitchFamily="34" charset="-122"/>
                <a:cs typeface="Liter" pitchFamily="34" charset="-120"/>
              </a:rPr>
              <a:t> | CHALLENGES | SECURITY | RESULTS</a:t>
            </a:r>
            <a:endParaRPr lang="en-US" sz="1200" dirty="0"/>
          </a:p>
        </p:txBody>
      </p:sp>
      <p:sp>
        <p:nvSpPr>
          <p:cNvPr id="6" name="Text 3"/>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Phase 2 – MAP Service Discovery</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3716000" y="698500"/>
            <a:ext cx="1778000" cy="457200"/>
          </a:xfrm>
          <a:prstGeom prst="roundRect">
            <a:avLst>
              <a:gd name="adj" fmla="val 16000"/>
            </a:avLst>
          </a:prstGeom>
          <a:solidFill>
            <a:srgbClr val="00D4FF"/>
          </a:solidFill>
          <a:ln/>
        </p:spPr>
      </p:sp>
      <p:sp>
        <p:nvSpPr>
          <p:cNvPr id="9" name="Text 6"/>
          <p:cNvSpPr/>
          <p:nvPr/>
        </p:nvSpPr>
        <p:spPr>
          <a:xfrm>
            <a:off x="13716000" y="698500"/>
            <a:ext cx="1778000" cy="457200"/>
          </a:xfrm>
          <a:prstGeom prst="rect">
            <a:avLst/>
          </a:prstGeom>
          <a:noFill/>
          <a:ln/>
        </p:spPr>
        <p:txBody>
          <a:bodyPr wrap="none" lIns="0" tIns="0" rIns="0" bIns="0" rtlCol="0" anchor="ctr"/>
          <a:lstStyle/>
          <a:p>
            <a:pPr algn="ctr">
              <a:lnSpc>
                <a:spcPct val="100000"/>
              </a:lnSpc>
            </a:pPr>
            <a:r>
              <a:rPr lang="en-US" sz="1400" b="1" dirty="0">
                <a:solidFill>
                  <a:srgbClr val="060D1F"/>
                </a:solidFill>
                <a:latin typeface="Liter" pitchFamily="34" charset="0"/>
                <a:ea typeface="Liter" pitchFamily="34" charset="-122"/>
                <a:cs typeface="Liter" pitchFamily="34" charset="-120"/>
              </a:rPr>
              <a:t>PHASE 2 / 5</a:t>
            </a:r>
            <a:endParaRPr lang="en-US" sz="1600" dirty="0"/>
          </a:p>
        </p:txBody>
      </p:sp>
      <p:sp>
        <p:nvSpPr>
          <p:cNvPr id="10" name="Text 7"/>
          <p:cNvSpPr/>
          <p:nvPr/>
        </p:nvSpPr>
        <p:spPr>
          <a:xfrm>
            <a:off x="762000" y="1524000"/>
            <a:ext cx="3810000" cy="381000"/>
          </a:xfrm>
          <a:prstGeom prst="rect">
            <a:avLst/>
          </a:prstGeom>
          <a:noFill/>
          <a:ln/>
        </p:spPr>
        <p:txBody>
          <a:bodyPr wrap="none" lIns="0" tIns="0" rIns="0" bIns="0" rtlCol="0" anchor="ctr"/>
          <a:lstStyle/>
          <a:p>
            <a:pPr>
              <a:lnSpc>
                <a:spcPct val="130000"/>
              </a:lnSpc>
            </a:pPr>
            <a:r>
              <a:rPr lang="en-US" sz="2000" dirty="0">
                <a:solidFill>
                  <a:srgbClr val="00D4FF"/>
                </a:solidFill>
                <a:latin typeface="Liter" pitchFamily="34" charset="0"/>
                <a:ea typeface="Liter" pitchFamily="34" charset="-122"/>
                <a:cs typeface="Liter" pitchFamily="34" charset="-120"/>
              </a:rPr>
              <a:t>Tools Used</a:t>
            </a:r>
            <a:endParaRPr lang="en-US" sz="2200" dirty="0"/>
          </a:p>
        </p:txBody>
      </p:sp>
      <p:sp>
        <p:nvSpPr>
          <p:cNvPr id="11" name="Shape 8"/>
          <p:cNvSpPr/>
          <p:nvPr/>
        </p:nvSpPr>
        <p:spPr>
          <a:xfrm>
            <a:off x="762000" y="2032000"/>
            <a:ext cx="4699000" cy="1270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2" name="Shape 9"/>
          <p:cNvSpPr/>
          <p:nvPr/>
        </p:nvSpPr>
        <p:spPr>
          <a:xfrm>
            <a:off x="1079500" y="2349500"/>
            <a:ext cx="508000" cy="508000"/>
          </a:xfrm>
          <a:custGeom>
            <a:avLst/>
            <a:gdLst/>
            <a:ahLst/>
            <a:cxnLst/>
            <a:rect l="l" t="t" r="r" b="b"/>
            <a:pathLst>
              <a:path w="508000" h="508000">
                <a:moveTo>
                  <a:pt x="9327" y="117673"/>
                </a:moveTo>
                <a:cubicBezTo>
                  <a:pt x="-3076" y="105271"/>
                  <a:pt x="-3076" y="85130"/>
                  <a:pt x="9327" y="72727"/>
                </a:cubicBezTo>
                <a:cubicBezTo>
                  <a:pt x="21729" y="60325"/>
                  <a:pt x="41870" y="60325"/>
                  <a:pt x="54273" y="72727"/>
                </a:cubicBezTo>
                <a:lnTo>
                  <a:pt x="213023" y="231477"/>
                </a:lnTo>
                <a:cubicBezTo>
                  <a:pt x="225425" y="243880"/>
                  <a:pt x="225425" y="264021"/>
                  <a:pt x="213023" y="276423"/>
                </a:cubicBezTo>
                <a:lnTo>
                  <a:pt x="54273" y="435173"/>
                </a:lnTo>
                <a:cubicBezTo>
                  <a:pt x="41870" y="447576"/>
                  <a:pt x="21729" y="447576"/>
                  <a:pt x="9327" y="435173"/>
                </a:cubicBezTo>
                <a:cubicBezTo>
                  <a:pt x="-3076" y="422771"/>
                  <a:pt x="-3076" y="402630"/>
                  <a:pt x="9327" y="390227"/>
                </a:cubicBezTo>
                <a:lnTo>
                  <a:pt x="145554" y="254000"/>
                </a:lnTo>
                <a:lnTo>
                  <a:pt x="9327" y="117673"/>
                </a:lnTo>
                <a:close/>
                <a:moveTo>
                  <a:pt x="222250" y="381000"/>
                </a:moveTo>
                <a:lnTo>
                  <a:pt x="476250" y="381000"/>
                </a:lnTo>
                <a:cubicBezTo>
                  <a:pt x="493812" y="381000"/>
                  <a:pt x="508000" y="395188"/>
                  <a:pt x="508000" y="412750"/>
                </a:cubicBezTo>
                <a:cubicBezTo>
                  <a:pt x="508000" y="430312"/>
                  <a:pt x="493812" y="444500"/>
                  <a:pt x="476250" y="444500"/>
                </a:cubicBezTo>
                <a:lnTo>
                  <a:pt x="222250" y="444500"/>
                </a:lnTo>
                <a:cubicBezTo>
                  <a:pt x="204688" y="444500"/>
                  <a:pt x="190500" y="430312"/>
                  <a:pt x="190500" y="412750"/>
                </a:cubicBezTo>
                <a:cubicBezTo>
                  <a:pt x="190500" y="395188"/>
                  <a:pt x="204688" y="381000"/>
                  <a:pt x="222250" y="381000"/>
                </a:cubicBezTo>
                <a:close/>
              </a:path>
            </a:pathLst>
          </a:custGeom>
          <a:solidFill>
            <a:srgbClr val="00D4FF"/>
          </a:solidFill>
          <a:ln/>
        </p:spPr>
      </p:sp>
      <p:sp>
        <p:nvSpPr>
          <p:cNvPr id="13" name="Text 10"/>
          <p:cNvSpPr/>
          <p:nvPr/>
        </p:nvSpPr>
        <p:spPr>
          <a:xfrm>
            <a:off x="1841500" y="2222500"/>
            <a:ext cx="3365500" cy="889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bluetoothctl</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Interactive Bluetooth manager</a:t>
            </a:r>
            <a:endParaRPr lang="en-US" sz="1600" dirty="0"/>
          </a:p>
        </p:txBody>
      </p:sp>
      <p:sp>
        <p:nvSpPr>
          <p:cNvPr id="14" name="Shape 11"/>
          <p:cNvSpPr/>
          <p:nvPr/>
        </p:nvSpPr>
        <p:spPr>
          <a:xfrm>
            <a:off x="5778500" y="2032000"/>
            <a:ext cx="4699000" cy="1270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5" name="Shape 12"/>
          <p:cNvSpPr/>
          <p:nvPr/>
        </p:nvSpPr>
        <p:spPr>
          <a:xfrm>
            <a:off x="6032500" y="2349500"/>
            <a:ext cx="635000" cy="508000"/>
          </a:xfrm>
          <a:custGeom>
            <a:avLst/>
            <a:gdLst/>
            <a:ahLst/>
            <a:cxnLst/>
            <a:rect l="l" t="t" r="r" b="b"/>
            <a:pathLst>
              <a:path w="635000" h="508000">
                <a:moveTo>
                  <a:pt x="412651" y="208855"/>
                </a:moveTo>
                <a:cubicBezTo>
                  <a:pt x="424755" y="205581"/>
                  <a:pt x="437455" y="211336"/>
                  <a:pt x="442912" y="222548"/>
                </a:cubicBezTo>
                <a:lnTo>
                  <a:pt x="461367" y="259854"/>
                </a:lnTo>
                <a:cubicBezTo>
                  <a:pt x="471587" y="261243"/>
                  <a:pt x="481608" y="264021"/>
                  <a:pt x="491034" y="267891"/>
                </a:cubicBezTo>
                <a:lnTo>
                  <a:pt x="525760" y="244773"/>
                </a:lnTo>
                <a:cubicBezTo>
                  <a:pt x="536178" y="237827"/>
                  <a:pt x="549970" y="239216"/>
                  <a:pt x="558800" y="248047"/>
                </a:cubicBezTo>
                <a:lnTo>
                  <a:pt x="577850" y="267097"/>
                </a:lnTo>
                <a:cubicBezTo>
                  <a:pt x="586680" y="275927"/>
                  <a:pt x="588070" y="289818"/>
                  <a:pt x="581124" y="300137"/>
                </a:cubicBezTo>
                <a:lnTo>
                  <a:pt x="558006" y="334764"/>
                </a:lnTo>
                <a:cubicBezTo>
                  <a:pt x="559891" y="339427"/>
                  <a:pt x="561578" y="344289"/>
                  <a:pt x="562967" y="349349"/>
                </a:cubicBezTo>
                <a:cubicBezTo>
                  <a:pt x="564356" y="354409"/>
                  <a:pt x="565249" y="359370"/>
                  <a:pt x="565944" y="364430"/>
                </a:cubicBezTo>
                <a:lnTo>
                  <a:pt x="603349" y="382885"/>
                </a:lnTo>
                <a:cubicBezTo>
                  <a:pt x="614561" y="388441"/>
                  <a:pt x="620316" y="401141"/>
                  <a:pt x="617041" y="413147"/>
                </a:cubicBezTo>
                <a:lnTo>
                  <a:pt x="610096" y="439142"/>
                </a:lnTo>
                <a:cubicBezTo>
                  <a:pt x="606822" y="451148"/>
                  <a:pt x="595610" y="459284"/>
                  <a:pt x="583109" y="458490"/>
                </a:cubicBezTo>
                <a:lnTo>
                  <a:pt x="541437" y="455811"/>
                </a:lnTo>
                <a:cubicBezTo>
                  <a:pt x="535186" y="463848"/>
                  <a:pt x="527943" y="471289"/>
                  <a:pt x="519708" y="477639"/>
                </a:cubicBezTo>
                <a:lnTo>
                  <a:pt x="522387" y="519212"/>
                </a:lnTo>
                <a:cubicBezTo>
                  <a:pt x="523180" y="531713"/>
                  <a:pt x="515045" y="543024"/>
                  <a:pt x="503039" y="546199"/>
                </a:cubicBezTo>
                <a:lnTo>
                  <a:pt x="477044" y="553145"/>
                </a:lnTo>
                <a:cubicBezTo>
                  <a:pt x="464939" y="556419"/>
                  <a:pt x="452338" y="550664"/>
                  <a:pt x="446782" y="539452"/>
                </a:cubicBezTo>
                <a:lnTo>
                  <a:pt x="428327" y="502146"/>
                </a:lnTo>
                <a:cubicBezTo>
                  <a:pt x="418108" y="500757"/>
                  <a:pt x="408087" y="497979"/>
                  <a:pt x="398661" y="494109"/>
                </a:cubicBezTo>
                <a:lnTo>
                  <a:pt x="363934" y="517227"/>
                </a:lnTo>
                <a:cubicBezTo>
                  <a:pt x="353516" y="524173"/>
                  <a:pt x="339725" y="522784"/>
                  <a:pt x="330895" y="513953"/>
                </a:cubicBezTo>
                <a:lnTo>
                  <a:pt x="311845" y="494903"/>
                </a:lnTo>
                <a:cubicBezTo>
                  <a:pt x="303014" y="486073"/>
                  <a:pt x="301625" y="472281"/>
                  <a:pt x="308570" y="461863"/>
                </a:cubicBezTo>
                <a:lnTo>
                  <a:pt x="331688" y="427137"/>
                </a:lnTo>
                <a:cubicBezTo>
                  <a:pt x="329803" y="422473"/>
                  <a:pt x="328116" y="417612"/>
                  <a:pt x="326727" y="412552"/>
                </a:cubicBezTo>
                <a:cubicBezTo>
                  <a:pt x="325338" y="407491"/>
                  <a:pt x="324445" y="402431"/>
                  <a:pt x="323751" y="397470"/>
                </a:cubicBezTo>
                <a:lnTo>
                  <a:pt x="286345" y="379016"/>
                </a:lnTo>
                <a:cubicBezTo>
                  <a:pt x="275134" y="373459"/>
                  <a:pt x="269478" y="360759"/>
                  <a:pt x="272653" y="348754"/>
                </a:cubicBezTo>
                <a:lnTo>
                  <a:pt x="279598" y="322759"/>
                </a:lnTo>
                <a:cubicBezTo>
                  <a:pt x="282873" y="310753"/>
                  <a:pt x="294084" y="302617"/>
                  <a:pt x="306586" y="303411"/>
                </a:cubicBezTo>
                <a:lnTo>
                  <a:pt x="348159" y="306090"/>
                </a:lnTo>
                <a:cubicBezTo>
                  <a:pt x="354409" y="298053"/>
                  <a:pt x="361652" y="290612"/>
                  <a:pt x="369887" y="284262"/>
                </a:cubicBezTo>
                <a:lnTo>
                  <a:pt x="367209" y="242788"/>
                </a:lnTo>
                <a:cubicBezTo>
                  <a:pt x="366415" y="230287"/>
                  <a:pt x="374551" y="218976"/>
                  <a:pt x="386556" y="215801"/>
                </a:cubicBezTo>
                <a:lnTo>
                  <a:pt x="412552" y="208855"/>
                </a:lnTo>
                <a:close/>
                <a:moveTo>
                  <a:pt x="444897" y="337344"/>
                </a:moveTo>
                <a:cubicBezTo>
                  <a:pt x="420802" y="337371"/>
                  <a:pt x="401263" y="356955"/>
                  <a:pt x="401290" y="381050"/>
                </a:cubicBezTo>
                <a:cubicBezTo>
                  <a:pt x="401318" y="405144"/>
                  <a:pt x="420902" y="424684"/>
                  <a:pt x="444996" y="424656"/>
                </a:cubicBezTo>
                <a:cubicBezTo>
                  <a:pt x="469091" y="424629"/>
                  <a:pt x="488630" y="405045"/>
                  <a:pt x="488603" y="380950"/>
                </a:cubicBezTo>
                <a:cubicBezTo>
                  <a:pt x="488575" y="356856"/>
                  <a:pt x="468991" y="337316"/>
                  <a:pt x="444897" y="337344"/>
                </a:cubicBezTo>
                <a:close/>
                <a:moveTo>
                  <a:pt x="223143" y="-45145"/>
                </a:moveTo>
                <a:lnTo>
                  <a:pt x="249138" y="-38199"/>
                </a:lnTo>
                <a:cubicBezTo>
                  <a:pt x="261144" y="-34925"/>
                  <a:pt x="269280" y="-23614"/>
                  <a:pt x="268486" y="-11212"/>
                </a:cubicBezTo>
                <a:lnTo>
                  <a:pt x="265807" y="30262"/>
                </a:lnTo>
                <a:cubicBezTo>
                  <a:pt x="274042" y="36612"/>
                  <a:pt x="281285" y="43954"/>
                  <a:pt x="287536" y="52090"/>
                </a:cubicBezTo>
                <a:lnTo>
                  <a:pt x="329208" y="49411"/>
                </a:lnTo>
                <a:cubicBezTo>
                  <a:pt x="341610" y="48617"/>
                  <a:pt x="352921" y="56753"/>
                  <a:pt x="356195" y="68759"/>
                </a:cubicBezTo>
                <a:lnTo>
                  <a:pt x="363141" y="94754"/>
                </a:lnTo>
                <a:cubicBezTo>
                  <a:pt x="366316" y="106759"/>
                  <a:pt x="360660" y="119459"/>
                  <a:pt x="349448" y="125016"/>
                </a:cubicBezTo>
                <a:lnTo>
                  <a:pt x="312043" y="143470"/>
                </a:lnTo>
                <a:cubicBezTo>
                  <a:pt x="311348" y="148530"/>
                  <a:pt x="310356" y="153591"/>
                  <a:pt x="309066" y="158552"/>
                </a:cubicBezTo>
                <a:cubicBezTo>
                  <a:pt x="307777" y="163512"/>
                  <a:pt x="305991" y="168473"/>
                  <a:pt x="304105" y="173137"/>
                </a:cubicBezTo>
                <a:lnTo>
                  <a:pt x="327223" y="207863"/>
                </a:lnTo>
                <a:cubicBezTo>
                  <a:pt x="334169" y="218281"/>
                  <a:pt x="332780" y="232073"/>
                  <a:pt x="323949" y="240903"/>
                </a:cubicBezTo>
                <a:lnTo>
                  <a:pt x="304899" y="259953"/>
                </a:lnTo>
                <a:cubicBezTo>
                  <a:pt x="296069" y="268784"/>
                  <a:pt x="282277" y="270173"/>
                  <a:pt x="271859" y="263227"/>
                </a:cubicBezTo>
                <a:lnTo>
                  <a:pt x="237133" y="240109"/>
                </a:lnTo>
                <a:cubicBezTo>
                  <a:pt x="227707" y="243979"/>
                  <a:pt x="217686" y="246757"/>
                  <a:pt x="207466" y="248146"/>
                </a:cubicBezTo>
                <a:lnTo>
                  <a:pt x="189012" y="285452"/>
                </a:lnTo>
                <a:cubicBezTo>
                  <a:pt x="183455" y="296664"/>
                  <a:pt x="170755" y="302320"/>
                  <a:pt x="158750" y="299145"/>
                </a:cubicBezTo>
                <a:lnTo>
                  <a:pt x="132755" y="292199"/>
                </a:lnTo>
                <a:cubicBezTo>
                  <a:pt x="120650" y="288925"/>
                  <a:pt x="112613" y="277614"/>
                  <a:pt x="113407" y="265212"/>
                </a:cubicBezTo>
                <a:lnTo>
                  <a:pt x="116086" y="223639"/>
                </a:lnTo>
                <a:cubicBezTo>
                  <a:pt x="107851" y="217289"/>
                  <a:pt x="100608" y="209947"/>
                  <a:pt x="94357" y="201811"/>
                </a:cubicBezTo>
                <a:lnTo>
                  <a:pt x="52685" y="204490"/>
                </a:lnTo>
                <a:cubicBezTo>
                  <a:pt x="40283" y="205284"/>
                  <a:pt x="28972" y="197148"/>
                  <a:pt x="25698" y="185142"/>
                </a:cubicBezTo>
                <a:lnTo>
                  <a:pt x="18752" y="159147"/>
                </a:lnTo>
                <a:cubicBezTo>
                  <a:pt x="15577" y="147141"/>
                  <a:pt x="21233" y="134441"/>
                  <a:pt x="32445" y="128885"/>
                </a:cubicBezTo>
                <a:lnTo>
                  <a:pt x="69850" y="110430"/>
                </a:lnTo>
                <a:cubicBezTo>
                  <a:pt x="70545" y="105370"/>
                  <a:pt x="71537" y="100409"/>
                  <a:pt x="72827" y="95349"/>
                </a:cubicBezTo>
                <a:cubicBezTo>
                  <a:pt x="74216" y="90289"/>
                  <a:pt x="75803" y="85427"/>
                  <a:pt x="77788" y="80764"/>
                </a:cubicBezTo>
                <a:lnTo>
                  <a:pt x="54670" y="46137"/>
                </a:lnTo>
                <a:cubicBezTo>
                  <a:pt x="47724" y="35719"/>
                  <a:pt x="49113" y="21927"/>
                  <a:pt x="57944" y="13097"/>
                </a:cubicBezTo>
                <a:lnTo>
                  <a:pt x="76994" y="-5953"/>
                </a:lnTo>
                <a:cubicBezTo>
                  <a:pt x="85824" y="-14784"/>
                  <a:pt x="99616" y="-16173"/>
                  <a:pt x="110034" y="-9227"/>
                </a:cubicBezTo>
                <a:lnTo>
                  <a:pt x="144760" y="13891"/>
                </a:lnTo>
                <a:cubicBezTo>
                  <a:pt x="154186" y="10021"/>
                  <a:pt x="164207" y="7243"/>
                  <a:pt x="174427" y="5854"/>
                </a:cubicBezTo>
                <a:lnTo>
                  <a:pt x="192881" y="-31452"/>
                </a:lnTo>
                <a:cubicBezTo>
                  <a:pt x="198437" y="-42664"/>
                  <a:pt x="211038" y="-48320"/>
                  <a:pt x="223143" y="-45145"/>
                </a:cubicBezTo>
                <a:close/>
                <a:moveTo>
                  <a:pt x="190897" y="83344"/>
                </a:moveTo>
                <a:cubicBezTo>
                  <a:pt x="166802" y="83344"/>
                  <a:pt x="147241" y="102905"/>
                  <a:pt x="147241" y="127000"/>
                </a:cubicBezTo>
                <a:cubicBezTo>
                  <a:pt x="147241" y="151095"/>
                  <a:pt x="166802" y="170656"/>
                  <a:pt x="190897" y="170656"/>
                </a:cubicBezTo>
                <a:cubicBezTo>
                  <a:pt x="214991" y="170656"/>
                  <a:pt x="234553" y="151095"/>
                  <a:pt x="234553" y="127000"/>
                </a:cubicBezTo>
                <a:cubicBezTo>
                  <a:pt x="234553" y="102905"/>
                  <a:pt x="214991" y="83344"/>
                  <a:pt x="190897" y="83344"/>
                </a:cubicBezTo>
                <a:close/>
              </a:path>
            </a:pathLst>
          </a:custGeom>
          <a:solidFill>
            <a:srgbClr val="00D4FF"/>
          </a:solidFill>
          <a:ln/>
        </p:spPr>
      </p:sp>
      <p:sp>
        <p:nvSpPr>
          <p:cNvPr id="16" name="Text 13"/>
          <p:cNvSpPr/>
          <p:nvPr/>
        </p:nvSpPr>
        <p:spPr>
          <a:xfrm>
            <a:off x="6858000" y="2222500"/>
            <a:ext cx="3365500" cy="889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hciconfig</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HCI device configuration</a:t>
            </a:r>
            <a:endParaRPr lang="en-US" sz="1600" dirty="0"/>
          </a:p>
        </p:txBody>
      </p:sp>
      <p:sp>
        <p:nvSpPr>
          <p:cNvPr id="17" name="Shape 14"/>
          <p:cNvSpPr/>
          <p:nvPr/>
        </p:nvSpPr>
        <p:spPr>
          <a:xfrm>
            <a:off x="10795000" y="2032000"/>
            <a:ext cx="4699000" cy="1270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8" name="Shape 15"/>
          <p:cNvSpPr/>
          <p:nvPr/>
        </p:nvSpPr>
        <p:spPr>
          <a:xfrm>
            <a:off x="11112500" y="2349500"/>
            <a:ext cx="508000" cy="508000"/>
          </a:xfrm>
          <a:custGeom>
            <a:avLst/>
            <a:gdLst/>
            <a:ahLst/>
            <a:cxnLst/>
            <a:rect l="l" t="t" r="r" b="b"/>
            <a:pathLst>
              <a:path w="508000" h="508000">
                <a:moveTo>
                  <a:pt x="412750" y="206375"/>
                </a:moveTo>
                <a:cubicBezTo>
                  <a:pt x="412750" y="251916"/>
                  <a:pt x="397966" y="293985"/>
                  <a:pt x="373063" y="328116"/>
                </a:cubicBezTo>
                <a:lnTo>
                  <a:pt x="498673" y="453827"/>
                </a:lnTo>
                <a:cubicBezTo>
                  <a:pt x="511076" y="466229"/>
                  <a:pt x="511076" y="486370"/>
                  <a:pt x="498673" y="498773"/>
                </a:cubicBezTo>
                <a:cubicBezTo>
                  <a:pt x="486271" y="511175"/>
                  <a:pt x="466130" y="511175"/>
                  <a:pt x="453727" y="498773"/>
                </a:cubicBezTo>
                <a:lnTo>
                  <a:pt x="328116" y="373063"/>
                </a:lnTo>
                <a:cubicBezTo>
                  <a:pt x="293985" y="397966"/>
                  <a:pt x="251916" y="412750"/>
                  <a:pt x="206375" y="412750"/>
                </a:cubicBezTo>
                <a:cubicBezTo>
                  <a:pt x="92373" y="412750"/>
                  <a:pt x="0" y="320377"/>
                  <a:pt x="0" y="206375"/>
                </a:cubicBezTo>
                <a:cubicBezTo>
                  <a:pt x="0" y="92373"/>
                  <a:pt x="92373" y="0"/>
                  <a:pt x="206375" y="0"/>
                </a:cubicBezTo>
                <a:cubicBezTo>
                  <a:pt x="320377" y="0"/>
                  <a:pt x="412750" y="92373"/>
                  <a:pt x="412750" y="206375"/>
                </a:cubicBezTo>
                <a:close/>
                <a:moveTo>
                  <a:pt x="206375" y="349250"/>
                </a:moveTo>
                <a:cubicBezTo>
                  <a:pt x="285230" y="349250"/>
                  <a:pt x="349250" y="285230"/>
                  <a:pt x="349250" y="206375"/>
                </a:cubicBezTo>
                <a:cubicBezTo>
                  <a:pt x="349250" y="127520"/>
                  <a:pt x="285230" y="63500"/>
                  <a:pt x="206375" y="63500"/>
                </a:cubicBezTo>
                <a:cubicBezTo>
                  <a:pt x="127520" y="63500"/>
                  <a:pt x="63500" y="127520"/>
                  <a:pt x="63500" y="206375"/>
                </a:cubicBezTo>
                <a:cubicBezTo>
                  <a:pt x="63500" y="285230"/>
                  <a:pt x="127520" y="349250"/>
                  <a:pt x="206375" y="349250"/>
                </a:cubicBezTo>
                <a:close/>
              </a:path>
            </a:pathLst>
          </a:custGeom>
          <a:solidFill>
            <a:srgbClr val="00D4FF"/>
          </a:solidFill>
          <a:ln/>
        </p:spPr>
      </p:sp>
      <p:sp>
        <p:nvSpPr>
          <p:cNvPr id="19" name="Text 16"/>
          <p:cNvSpPr/>
          <p:nvPr/>
        </p:nvSpPr>
        <p:spPr>
          <a:xfrm>
            <a:off x="11874500" y="2222500"/>
            <a:ext cx="3365500" cy="889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sdptool</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Service discovery protocol</a:t>
            </a:r>
            <a:endParaRPr lang="en-US" sz="1600" dirty="0"/>
          </a:p>
        </p:txBody>
      </p:sp>
      <p:sp>
        <p:nvSpPr>
          <p:cNvPr id="20" name="Shape 17"/>
          <p:cNvSpPr/>
          <p:nvPr/>
        </p:nvSpPr>
        <p:spPr>
          <a:xfrm>
            <a:off x="762000" y="3683000"/>
            <a:ext cx="14732000" cy="4318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1" name="Text 18"/>
          <p:cNvSpPr/>
          <p:nvPr/>
        </p:nvSpPr>
        <p:spPr>
          <a:xfrm>
            <a:off x="1079500" y="38735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Discovery Process</a:t>
            </a:r>
            <a:endParaRPr lang="en-US" sz="2200" dirty="0"/>
          </a:p>
        </p:txBody>
      </p:sp>
      <p:sp>
        <p:nvSpPr>
          <p:cNvPr id="22" name="Shape 19"/>
          <p:cNvSpPr/>
          <p:nvPr/>
        </p:nvSpPr>
        <p:spPr>
          <a:xfrm>
            <a:off x="1079500" y="4445000"/>
            <a:ext cx="457200" cy="457200"/>
          </a:xfrm>
          <a:prstGeom prst="ellipse">
            <a:avLst/>
          </a:prstGeom>
          <a:solidFill>
            <a:srgbClr val="00D4FF"/>
          </a:solidFill>
          <a:ln/>
        </p:spPr>
      </p:sp>
      <p:sp>
        <p:nvSpPr>
          <p:cNvPr id="23" name="Text 20"/>
          <p:cNvSpPr/>
          <p:nvPr/>
        </p:nvSpPr>
        <p:spPr>
          <a:xfrm>
            <a:off x="1079500" y="4445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1</a:t>
            </a:r>
            <a:endParaRPr lang="en-US" sz="1600" dirty="0"/>
          </a:p>
        </p:txBody>
      </p:sp>
      <p:sp>
        <p:nvSpPr>
          <p:cNvPr id="24" name="Text 21"/>
          <p:cNvSpPr/>
          <p:nvPr/>
        </p:nvSpPr>
        <p:spPr>
          <a:xfrm>
            <a:off x="1714500" y="43815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Scan for Devices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Discover nearby Bluetooth devices</a:t>
            </a:r>
            <a:endParaRPr lang="en-US" sz="1600" dirty="0"/>
          </a:p>
        </p:txBody>
      </p:sp>
      <p:sp>
        <p:nvSpPr>
          <p:cNvPr id="25" name="Shape 22"/>
          <p:cNvSpPr/>
          <p:nvPr/>
        </p:nvSpPr>
        <p:spPr>
          <a:xfrm>
            <a:off x="1079500" y="5207000"/>
            <a:ext cx="457200" cy="457200"/>
          </a:xfrm>
          <a:prstGeom prst="ellipse">
            <a:avLst/>
          </a:prstGeom>
          <a:solidFill>
            <a:srgbClr val="00D4FF"/>
          </a:solidFill>
          <a:ln/>
        </p:spPr>
      </p:sp>
      <p:sp>
        <p:nvSpPr>
          <p:cNvPr id="26" name="Text 23"/>
          <p:cNvSpPr/>
          <p:nvPr/>
        </p:nvSpPr>
        <p:spPr>
          <a:xfrm>
            <a:off x="1079500" y="5207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2</a:t>
            </a:r>
            <a:endParaRPr lang="en-US" sz="1600" dirty="0"/>
          </a:p>
        </p:txBody>
      </p:sp>
      <p:sp>
        <p:nvSpPr>
          <p:cNvPr id="27" name="Text 24"/>
          <p:cNvSpPr/>
          <p:nvPr/>
        </p:nvSpPr>
        <p:spPr>
          <a:xfrm>
            <a:off x="1714500" y="52070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Pair with Target</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Connect to Android smartphone</a:t>
            </a:r>
            <a:endParaRPr lang="en-US" sz="1600" dirty="0"/>
          </a:p>
        </p:txBody>
      </p:sp>
      <p:sp>
        <p:nvSpPr>
          <p:cNvPr id="28" name="Shape 25"/>
          <p:cNvSpPr/>
          <p:nvPr/>
        </p:nvSpPr>
        <p:spPr>
          <a:xfrm>
            <a:off x="1079500" y="5969000"/>
            <a:ext cx="457200" cy="457200"/>
          </a:xfrm>
          <a:prstGeom prst="ellipse">
            <a:avLst/>
          </a:prstGeom>
          <a:solidFill>
            <a:srgbClr val="00D4FF"/>
          </a:solidFill>
          <a:ln/>
        </p:spPr>
      </p:sp>
      <p:sp>
        <p:nvSpPr>
          <p:cNvPr id="29" name="Text 26"/>
          <p:cNvSpPr/>
          <p:nvPr/>
        </p:nvSpPr>
        <p:spPr>
          <a:xfrm>
            <a:off x="1079500" y="5969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3</a:t>
            </a:r>
            <a:endParaRPr lang="en-US" sz="1600" dirty="0"/>
          </a:p>
        </p:txBody>
      </p:sp>
      <p:sp>
        <p:nvSpPr>
          <p:cNvPr id="30" name="Text 27"/>
          <p:cNvSpPr/>
          <p:nvPr/>
        </p:nvSpPr>
        <p:spPr>
          <a:xfrm>
            <a:off x="1714500" y="60325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Discover MAP Service</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Use sdptool to find MAP record</a:t>
            </a:r>
            <a:endParaRPr lang="en-US" sz="1600" dirty="0"/>
          </a:p>
        </p:txBody>
      </p:sp>
      <p:sp>
        <p:nvSpPr>
          <p:cNvPr id="31" name="Shape 28"/>
          <p:cNvSpPr/>
          <p:nvPr/>
        </p:nvSpPr>
        <p:spPr>
          <a:xfrm>
            <a:off x="7620000" y="4445000"/>
            <a:ext cx="457200" cy="457200"/>
          </a:xfrm>
          <a:prstGeom prst="ellipse">
            <a:avLst/>
          </a:prstGeom>
          <a:solidFill>
            <a:srgbClr val="00D4FF"/>
          </a:solidFill>
          <a:ln/>
        </p:spPr>
      </p:sp>
      <p:sp>
        <p:nvSpPr>
          <p:cNvPr id="32" name="Text 29"/>
          <p:cNvSpPr/>
          <p:nvPr/>
        </p:nvSpPr>
        <p:spPr>
          <a:xfrm>
            <a:off x="7620000" y="4445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4</a:t>
            </a:r>
            <a:endParaRPr lang="en-US" sz="1600" dirty="0"/>
          </a:p>
        </p:txBody>
      </p:sp>
      <p:sp>
        <p:nvSpPr>
          <p:cNvPr id="33" name="Text 30"/>
          <p:cNvSpPr/>
          <p:nvPr/>
        </p:nvSpPr>
        <p:spPr>
          <a:xfrm>
            <a:off x="8255000" y="43815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Get Record Handle</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Extract service record handle</a:t>
            </a:r>
            <a:endParaRPr lang="en-US" sz="1600" dirty="0"/>
          </a:p>
        </p:txBody>
      </p:sp>
      <p:sp>
        <p:nvSpPr>
          <p:cNvPr id="34" name="Shape 31"/>
          <p:cNvSpPr/>
          <p:nvPr/>
        </p:nvSpPr>
        <p:spPr>
          <a:xfrm>
            <a:off x="7620000" y="5207000"/>
            <a:ext cx="457200" cy="457200"/>
          </a:xfrm>
          <a:prstGeom prst="ellipse">
            <a:avLst/>
          </a:prstGeom>
          <a:solidFill>
            <a:srgbClr val="00D4FF"/>
          </a:solidFill>
          <a:ln/>
        </p:spPr>
      </p:sp>
      <p:sp>
        <p:nvSpPr>
          <p:cNvPr id="35" name="Text 32"/>
          <p:cNvSpPr/>
          <p:nvPr/>
        </p:nvSpPr>
        <p:spPr>
          <a:xfrm>
            <a:off x="7620000" y="5207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5</a:t>
            </a:r>
            <a:endParaRPr lang="en-US" sz="1600" dirty="0"/>
          </a:p>
        </p:txBody>
      </p:sp>
      <p:sp>
        <p:nvSpPr>
          <p:cNvPr id="36" name="Text 33"/>
          <p:cNvSpPr/>
          <p:nvPr/>
        </p:nvSpPr>
        <p:spPr>
          <a:xfrm>
            <a:off x="8255000" y="52070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Map Folder Structure</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Identify message folder paths</a:t>
            </a:r>
            <a:endParaRPr lang="en-US" sz="1600" dirty="0"/>
          </a:p>
        </p:txBody>
      </p:sp>
      <p:sp>
        <p:nvSpPr>
          <p:cNvPr id="37" name="Shape 34"/>
          <p:cNvSpPr/>
          <p:nvPr/>
        </p:nvSpPr>
        <p:spPr>
          <a:xfrm>
            <a:off x="7620000" y="5969000"/>
            <a:ext cx="457200" cy="457200"/>
          </a:xfrm>
          <a:prstGeom prst="ellipse">
            <a:avLst/>
          </a:prstGeom>
          <a:solidFill>
            <a:srgbClr val="00D4FF"/>
          </a:solidFill>
          <a:ln/>
        </p:spPr>
      </p:sp>
      <p:sp>
        <p:nvSpPr>
          <p:cNvPr id="38" name="Text 35"/>
          <p:cNvSpPr/>
          <p:nvPr/>
        </p:nvSpPr>
        <p:spPr>
          <a:xfrm>
            <a:off x="7620000" y="5969000"/>
            <a:ext cx="457200" cy="457200"/>
          </a:xfrm>
          <a:prstGeom prst="rect">
            <a:avLst/>
          </a:prstGeom>
          <a:noFill/>
          <a:ln/>
        </p:spPr>
        <p:txBody>
          <a:bodyPr wrap="none" lIns="0" tIns="0" rIns="0" bIns="0" rtlCol="0" anchor="ctr"/>
          <a:lstStyle/>
          <a:p>
            <a:pPr algn="ctr">
              <a:lnSpc>
                <a:spcPct val="100000"/>
              </a:lnSpc>
            </a:pPr>
            <a:r>
              <a:rPr lang="en-US" sz="1600" b="1" dirty="0">
                <a:solidFill>
                  <a:srgbClr val="060D1F"/>
                </a:solidFill>
                <a:latin typeface="Liter" pitchFamily="34" charset="0"/>
                <a:ea typeface="Liter" pitchFamily="34" charset="-122"/>
                <a:cs typeface="Liter" pitchFamily="34" charset="-120"/>
              </a:rPr>
              <a:t>6</a:t>
            </a:r>
            <a:endParaRPr lang="en-US" sz="1600" dirty="0"/>
          </a:p>
        </p:txBody>
      </p:sp>
      <p:sp>
        <p:nvSpPr>
          <p:cNvPr id="39" name="Text 36"/>
          <p:cNvSpPr/>
          <p:nvPr/>
        </p:nvSpPr>
        <p:spPr>
          <a:xfrm>
            <a:off x="8255000" y="6032500"/>
            <a:ext cx="5080000" cy="762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Establish Connection</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Set parameters for MAP communication</a:t>
            </a:r>
            <a:endParaRPr lang="en-US" sz="1600" dirty="0"/>
          </a:p>
        </p:txBody>
      </p:sp>
      <p:sp>
        <p:nvSpPr>
          <p:cNvPr id="40" name="Shape 37"/>
          <p:cNvSpPr/>
          <p:nvPr/>
        </p:nvSpPr>
        <p:spPr>
          <a:xfrm>
            <a:off x="1079500" y="6921500"/>
            <a:ext cx="14097000" cy="1016000"/>
          </a:xfrm>
          <a:prstGeom prst="roundRect">
            <a:avLst>
              <a:gd name="adj" fmla="val 6000"/>
            </a:avLst>
          </a:prstGeom>
          <a:solidFill>
            <a:srgbClr val="060D1F"/>
          </a:solidFill>
          <a:ln w="12700">
            <a:solidFill>
              <a:srgbClr val="1E3A6E"/>
            </a:solidFill>
            <a:prstDash val="solid"/>
          </a:ln>
        </p:spPr>
      </p:sp>
      <p:sp>
        <p:nvSpPr>
          <p:cNvPr id="41" name="Text 38"/>
          <p:cNvSpPr/>
          <p:nvPr/>
        </p:nvSpPr>
        <p:spPr>
          <a:xfrm>
            <a:off x="1333500" y="7048500"/>
            <a:ext cx="13589000" cy="762000"/>
          </a:xfrm>
          <a:prstGeom prst="rect">
            <a:avLst/>
          </a:prstGeom>
          <a:noFill/>
          <a:ln/>
        </p:spPr>
        <p:txBody>
          <a:bodyPr wrap="square" lIns="0" tIns="0" rIns="0" bIns="0" rtlCol="0" anchor="t"/>
          <a:lstStyle/>
          <a:p>
            <a:pPr>
              <a:lnSpc>
                <a:spcPct val="160000"/>
              </a:lnSpc>
            </a:pPr>
            <a:r>
              <a:rPr lang="en-US" sz="1400" dirty="0">
                <a:solidFill>
                  <a:srgbClr val="8B9DC3"/>
                </a:solidFill>
                <a:latin typeface="Quattrocento Sans" pitchFamily="34" charset="0"/>
                <a:ea typeface="Quattrocento Sans" pitchFamily="34" charset="-122"/>
                <a:cs typeface="Quattrocento Sans" pitchFamily="34" charset="-120"/>
              </a:rPr>
              <a:t># Discover MAP service on paired device</a:t>
            </a:r>
            <a:endParaRPr lang="en-US" sz="1600" dirty="0"/>
          </a:p>
          <a:p>
            <a:pPr>
              <a:lnSpc>
                <a:spcPct val="160000"/>
              </a:lnSpc>
            </a:pPr>
            <a:r>
              <a:rPr lang="en-US" sz="1400" dirty="0">
                <a:solidFill>
                  <a:srgbClr val="FFFFFF"/>
                </a:solidFill>
                <a:latin typeface="Quattrocento Sans" pitchFamily="34" charset="0"/>
                <a:ea typeface="Quattrocento Sans" pitchFamily="34" charset="-122"/>
                <a:cs typeface="Quattrocento Sans" pitchFamily="34" charset="-120"/>
              </a:rPr>
              <a:t>$</a:t>
            </a:r>
            <a:r>
              <a:rPr lang="en-US" sz="1400" dirty="0">
                <a:solidFill>
                  <a:srgbClr val="00D4FF"/>
                </a:solidFill>
                <a:latin typeface="Quattrocento Sans" pitchFamily="34" charset="0"/>
                <a:ea typeface="Quattrocento Sans" pitchFamily="34" charset="-122"/>
                <a:cs typeface="Quattrocento Sans" pitchFamily="34" charset="-120"/>
              </a:rPr>
              <a:t> sdptool browse </a:t>
            </a:r>
            <a:r>
              <a:rPr lang="en-US" sz="1400" dirty="0">
                <a:solidFill>
                  <a:srgbClr val="FF9F43"/>
                </a:solidFill>
                <a:latin typeface="Quattrocento Sans" pitchFamily="34" charset="0"/>
                <a:ea typeface="Quattrocento Sans" pitchFamily="34" charset="-122"/>
                <a:cs typeface="Quattrocento Sans" pitchFamily="34" charset="-120"/>
              </a:rPr>
              <a:t>&lt;device_mac&gt;</a:t>
            </a:r>
            <a:r>
              <a:rPr lang="en-US" sz="1400" dirty="0">
                <a:solidFill>
                  <a:srgbClr val="00D4FF"/>
                </a:solidFill>
                <a:latin typeface="Quattrocento Sans" pitchFamily="34" charset="0"/>
                <a:ea typeface="Quattrocento Sans" pitchFamily="34" charset="-122"/>
                <a:cs typeface="Quattrocento Sans" pitchFamily="34" charset="-120"/>
              </a:rPr>
              <a:t> | grep -A 10 "Message Access"</a:t>
            </a:r>
            <a:endParaRPr lang="en-US" sz="1600" dirty="0"/>
          </a:p>
        </p:txBody>
      </p:sp>
      <p:sp>
        <p:nvSpPr>
          <p:cNvPr id="42" name="Shape 39"/>
          <p:cNvSpPr/>
          <p:nvPr/>
        </p:nvSpPr>
        <p:spPr>
          <a:xfrm>
            <a:off x="762000" y="8382000"/>
            <a:ext cx="14732000" cy="12700"/>
          </a:xfrm>
          <a:prstGeom prst="rect">
            <a:avLst/>
          </a:prstGeom>
          <a:solidFill>
            <a:srgbClr val="1E3A6E"/>
          </a:solidFill>
          <a:ln/>
        </p:spPr>
      </p:sp>
      <p:sp>
        <p:nvSpPr>
          <p:cNvPr id="43" name="Text 40"/>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44" name="Text 41"/>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9 / 18</a:t>
            </a:r>
            <a:endParaRPr lang="en-US" sz="14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7886700" y="0"/>
            <a:ext cx="889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a:t>
            </a:r>
            <a:r>
              <a:rPr lang="en-US" sz="1200" kern="0" spc="100" dirty="0">
                <a:solidFill>
                  <a:srgbClr val="00D4FF"/>
                </a:solidFill>
                <a:latin typeface="Liter" pitchFamily="34" charset="0"/>
                <a:ea typeface="Liter" pitchFamily="34" charset="-122"/>
                <a:cs typeface="Liter" pitchFamily="34" charset="-120"/>
              </a:rPr>
              <a:t>PHASES</a:t>
            </a:r>
            <a:r>
              <a:rPr lang="en-US" sz="1200" kern="0" spc="100" dirty="0">
                <a:solidFill>
                  <a:srgbClr val="8B9DC3"/>
                </a:solidFill>
                <a:latin typeface="Liter" pitchFamily="34" charset="0"/>
                <a:ea typeface="Liter" pitchFamily="34" charset="-122"/>
                <a:cs typeface="Liter" pitchFamily="34" charset="-120"/>
              </a:rPr>
              <a:t> | CHALLENGES | SECURITY | RESULTS</a:t>
            </a:r>
            <a:endParaRPr lang="en-US" sz="1200" dirty="0"/>
          </a:p>
        </p:txBody>
      </p:sp>
      <p:sp>
        <p:nvSpPr>
          <p:cNvPr id="6"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Phase 3 – SMS Monitoring</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3716000" y="698500"/>
            <a:ext cx="1778000" cy="457200"/>
          </a:xfrm>
          <a:prstGeom prst="roundRect">
            <a:avLst>
              <a:gd name="adj" fmla="val 16000"/>
            </a:avLst>
          </a:prstGeom>
          <a:solidFill>
            <a:srgbClr val="00D4FF"/>
          </a:solidFill>
          <a:ln/>
        </p:spPr>
      </p:sp>
      <p:sp>
        <p:nvSpPr>
          <p:cNvPr id="9" name="Text 6"/>
          <p:cNvSpPr/>
          <p:nvPr/>
        </p:nvSpPr>
        <p:spPr>
          <a:xfrm>
            <a:off x="13716000" y="698500"/>
            <a:ext cx="1778000" cy="457200"/>
          </a:xfrm>
          <a:prstGeom prst="rect">
            <a:avLst/>
          </a:prstGeom>
          <a:noFill/>
          <a:ln/>
        </p:spPr>
        <p:txBody>
          <a:bodyPr wrap="none" lIns="0" tIns="0" rIns="0" bIns="0" rtlCol="0" anchor="ctr"/>
          <a:lstStyle/>
          <a:p>
            <a:pPr algn="ctr">
              <a:lnSpc>
                <a:spcPct val="100000"/>
              </a:lnSpc>
            </a:pPr>
            <a:r>
              <a:rPr lang="en-US" sz="1400" b="1" dirty="0">
                <a:solidFill>
                  <a:srgbClr val="060D1F"/>
                </a:solidFill>
                <a:latin typeface="Liter" pitchFamily="34" charset="0"/>
                <a:ea typeface="Liter" pitchFamily="34" charset="-122"/>
                <a:cs typeface="Liter" pitchFamily="34" charset="-120"/>
              </a:rPr>
              <a:t>PHASE 3 / 5</a:t>
            </a:r>
            <a:endParaRPr lang="en-US" sz="1600" dirty="0"/>
          </a:p>
        </p:txBody>
      </p:sp>
      <p:sp>
        <p:nvSpPr>
          <p:cNvPr id="10" name="Shape 7"/>
          <p:cNvSpPr/>
          <p:nvPr/>
        </p:nvSpPr>
        <p:spPr>
          <a:xfrm>
            <a:off x="762000" y="1524000"/>
            <a:ext cx="14732000" cy="762000"/>
          </a:xfrm>
          <a:prstGeom prst="roundRect">
            <a:avLst>
              <a:gd name="adj" fmla="val 6000"/>
            </a:avLst>
          </a:prstGeom>
          <a:gradFill flip="none" rotWithShape="1">
            <a:gsLst>
              <a:gs pos="0">
                <a:srgbClr val="1E3A6E"/>
              </a:gs>
              <a:gs pos="100000">
                <a:srgbClr val="0B1A3E"/>
              </a:gs>
            </a:gsLst>
            <a:lin ang="0" scaled="1"/>
          </a:gradFill>
          <a:ln w="12700">
            <a:solidFill>
              <a:srgbClr val="00D4FF"/>
            </a:solidFill>
            <a:prstDash val="solid"/>
          </a:ln>
        </p:spPr>
      </p:sp>
      <p:sp>
        <p:nvSpPr>
          <p:cNvPr id="11" name="Shape 8"/>
          <p:cNvSpPr/>
          <p:nvPr/>
        </p:nvSpPr>
        <p:spPr>
          <a:xfrm>
            <a:off x="1050925" y="1676400"/>
            <a:ext cx="514350" cy="457200"/>
          </a:xfrm>
          <a:custGeom>
            <a:avLst/>
            <a:gdLst/>
            <a:ahLst/>
            <a:cxnLst/>
            <a:rect l="l" t="t" r="r" b="b"/>
            <a:pathLst>
              <a:path w="514350" h="457200">
                <a:moveTo>
                  <a:pt x="171450" y="85725"/>
                </a:moveTo>
                <a:cubicBezTo>
                  <a:pt x="171450" y="38398"/>
                  <a:pt x="209848" y="0"/>
                  <a:pt x="257175" y="0"/>
                </a:cubicBezTo>
                <a:cubicBezTo>
                  <a:pt x="304502" y="0"/>
                  <a:pt x="342900" y="38398"/>
                  <a:pt x="342900" y="85725"/>
                </a:cubicBezTo>
                <a:lnTo>
                  <a:pt x="342900" y="88940"/>
                </a:lnTo>
                <a:cubicBezTo>
                  <a:pt x="342900" y="102959"/>
                  <a:pt x="331559" y="114300"/>
                  <a:pt x="317540" y="114300"/>
                </a:cubicBezTo>
                <a:lnTo>
                  <a:pt x="196900" y="114300"/>
                </a:lnTo>
                <a:cubicBezTo>
                  <a:pt x="182880" y="114300"/>
                  <a:pt x="171539" y="102959"/>
                  <a:pt x="171539" y="88940"/>
                </a:cubicBezTo>
                <a:lnTo>
                  <a:pt x="171539" y="85725"/>
                </a:lnTo>
                <a:close/>
                <a:moveTo>
                  <a:pt x="480060" y="97155"/>
                </a:moveTo>
                <a:cubicBezTo>
                  <a:pt x="489525" y="109746"/>
                  <a:pt x="486936" y="127695"/>
                  <a:pt x="474345" y="137160"/>
                </a:cubicBezTo>
                <a:lnTo>
                  <a:pt x="387013" y="202615"/>
                </a:lnTo>
                <a:cubicBezTo>
                  <a:pt x="391745" y="210562"/>
                  <a:pt x="395317" y="219313"/>
                  <a:pt x="397550" y="228600"/>
                </a:cubicBezTo>
                <a:lnTo>
                  <a:pt x="485775" y="228600"/>
                </a:lnTo>
                <a:cubicBezTo>
                  <a:pt x="501581" y="228600"/>
                  <a:pt x="514350" y="241369"/>
                  <a:pt x="514350" y="257175"/>
                </a:cubicBezTo>
                <a:cubicBezTo>
                  <a:pt x="514350" y="272981"/>
                  <a:pt x="501581" y="285750"/>
                  <a:pt x="485775" y="285750"/>
                </a:cubicBezTo>
                <a:lnTo>
                  <a:pt x="400050" y="285750"/>
                </a:lnTo>
                <a:lnTo>
                  <a:pt x="400050" y="314325"/>
                </a:lnTo>
                <a:cubicBezTo>
                  <a:pt x="400050" y="316647"/>
                  <a:pt x="399961" y="319058"/>
                  <a:pt x="399871" y="321379"/>
                </a:cubicBezTo>
                <a:lnTo>
                  <a:pt x="474345" y="377190"/>
                </a:lnTo>
                <a:cubicBezTo>
                  <a:pt x="486936" y="386655"/>
                  <a:pt x="489525" y="404604"/>
                  <a:pt x="480060" y="417195"/>
                </a:cubicBezTo>
                <a:cubicBezTo>
                  <a:pt x="470595" y="429786"/>
                  <a:pt x="452646" y="432375"/>
                  <a:pt x="440055" y="422910"/>
                </a:cubicBezTo>
                <a:lnTo>
                  <a:pt x="383709" y="380673"/>
                </a:lnTo>
                <a:cubicBezTo>
                  <a:pt x="362992" y="420142"/>
                  <a:pt x="324326" y="448717"/>
                  <a:pt x="278606" y="455593"/>
                </a:cubicBezTo>
                <a:lnTo>
                  <a:pt x="278606" y="250031"/>
                </a:lnTo>
                <a:cubicBezTo>
                  <a:pt x="278606" y="238155"/>
                  <a:pt x="269051" y="228600"/>
                  <a:pt x="257175" y="228600"/>
                </a:cubicBezTo>
                <a:cubicBezTo>
                  <a:pt x="245299" y="228600"/>
                  <a:pt x="235744" y="238155"/>
                  <a:pt x="235744" y="250031"/>
                </a:cubicBezTo>
                <a:lnTo>
                  <a:pt x="235744" y="455593"/>
                </a:lnTo>
                <a:cubicBezTo>
                  <a:pt x="190024" y="448717"/>
                  <a:pt x="151358" y="420142"/>
                  <a:pt x="130641" y="380673"/>
                </a:cubicBezTo>
                <a:lnTo>
                  <a:pt x="74295" y="422910"/>
                </a:lnTo>
                <a:cubicBezTo>
                  <a:pt x="61704" y="432375"/>
                  <a:pt x="43755" y="429786"/>
                  <a:pt x="34290" y="417195"/>
                </a:cubicBezTo>
                <a:cubicBezTo>
                  <a:pt x="24825" y="404604"/>
                  <a:pt x="27414" y="386655"/>
                  <a:pt x="40005" y="377190"/>
                </a:cubicBezTo>
                <a:lnTo>
                  <a:pt x="114479" y="321379"/>
                </a:lnTo>
                <a:cubicBezTo>
                  <a:pt x="114389" y="319058"/>
                  <a:pt x="114300" y="316736"/>
                  <a:pt x="114300" y="314325"/>
                </a:cubicBezTo>
                <a:lnTo>
                  <a:pt x="114300" y="285750"/>
                </a:lnTo>
                <a:lnTo>
                  <a:pt x="28575" y="285750"/>
                </a:lnTo>
                <a:cubicBezTo>
                  <a:pt x="12769" y="285750"/>
                  <a:pt x="0" y="272981"/>
                  <a:pt x="0" y="257175"/>
                </a:cubicBezTo>
                <a:cubicBezTo>
                  <a:pt x="0" y="241369"/>
                  <a:pt x="12769" y="228600"/>
                  <a:pt x="28575" y="228600"/>
                </a:cubicBezTo>
                <a:lnTo>
                  <a:pt x="116800" y="228600"/>
                </a:lnTo>
                <a:cubicBezTo>
                  <a:pt x="119033" y="219313"/>
                  <a:pt x="122605" y="210562"/>
                  <a:pt x="127337" y="202615"/>
                </a:cubicBezTo>
                <a:lnTo>
                  <a:pt x="40005" y="137160"/>
                </a:lnTo>
                <a:cubicBezTo>
                  <a:pt x="27414" y="127695"/>
                  <a:pt x="24825" y="109746"/>
                  <a:pt x="34290" y="97155"/>
                </a:cubicBezTo>
                <a:cubicBezTo>
                  <a:pt x="43755" y="84564"/>
                  <a:pt x="61704" y="81975"/>
                  <a:pt x="74295" y="91440"/>
                </a:cubicBezTo>
                <a:lnTo>
                  <a:pt x="171450" y="164306"/>
                </a:lnTo>
                <a:cubicBezTo>
                  <a:pt x="182434" y="159752"/>
                  <a:pt x="194489" y="157163"/>
                  <a:pt x="207169" y="157163"/>
                </a:cubicBezTo>
                <a:lnTo>
                  <a:pt x="307181" y="157163"/>
                </a:lnTo>
                <a:cubicBezTo>
                  <a:pt x="319861" y="157163"/>
                  <a:pt x="331916" y="159663"/>
                  <a:pt x="342900" y="164306"/>
                </a:cubicBezTo>
                <a:lnTo>
                  <a:pt x="440055" y="91440"/>
                </a:lnTo>
                <a:cubicBezTo>
                  <a:pt x="452646" y="81975"/>
                  <a:pt x="470595" y="84564"/>
                  <a:pt x="480060" y="97155"/>
                </a:cubicBezTo>
                <a:close/>
              </a:path>
            </a:pathLst>
          </a:custGeom>
          <a:solidFill>
            <a:srgbClr val="FF6B6B"/>
          </a:solidFill>
          <a:ln/>
        </p:spPr>
      </p:sp>
      <p:sp>
        <p:nvSpPr>
          <p:cNvPr id="12" name="Text 9"/>
          <p:cNvSpPr/>
          <p:nvPr/>
        </p:nvSpPr>
        <p:spPr>
          <a:xfrm>
            <a:off x="1714500" y="1587500"/>
            <a:ext cx="6350000" cy="635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Tool: </a:t>
            </a:r>
            <a:r>
              <a:rPr lang="en-US" sz="2000" dirty="0">
                <a:solidFill>
                  <a:srgbClr val="FF6B6B"/>
                </a:solidFill>
                <a:latin typeface="Liter" pitchFamily="34" charset="0"/>
                <a:ea typeface="Liter" pitchFamily="34" charset="-122"/>
                <a:cs typeface="Liter" pitchFamily="34" charset="-120"/>
              </a:rPr>
              <a:t>mapAccountHijack</a:t>
            </a:r>
            <a:endParaRPr lang="en-US" sz="1600" dirty="0"/>
          </a:p>
        </p:txBody>
      </p:sp>
      <p:sp>
        <p:nvSpPr>
          <p:cNvPr id="13" name="Text 10"/>
          <p:cNvSpPr/>
          <p:nvPr/>
        </p:nvSpPr>
        <p:spPr>
          <a:xfrm>
            <a:off x="762000" y="25400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Core Functions</a:t>
            </a:r>
            <a:endParaRPr lang="en-US" sz="2200" dirty="0"/>
          </a:p>
        </p:txBody>
      </p:sp>
      <p:sp>
        <p:nvSpPr>
          <p:cNvPr id="14" name="Shape 11"/>
          <p:cNvSpPr/>
          <p:nvPr/>
        </p:nvSpPr>
        <p:spPr>
          <a:xfrm>
            <a:off x="762000" y="3048000"/>
            <a:ext cx="342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5" name="Shape 12"/>
          <p:cNvSpPr/>
          <p:nvPr/>
        </p:nvSpPr>
        <p:spPr>
          <a:xfrm>
            <a:off x="2032000" y="3238500"/>
            <a:ext cx="508000" cy="508000"/>
          </a:xfrm>
          <a:custGeom>
            <a:avLst/>
            <a:gdLst/>
            <a:ahLst/>
            <a:cxnLst/>
            <a:rect l="l" t="t" r="r" b="b"/>
            <a:pathLst>
              <a:path w="508000" h="508000">
                <a:moveTo>
                  <a:pt x="47625" y="63500"/>
                </a:moveTo>
                <a:cubicBezTo>
                  <a:pt x="21332" y="63500"/>
                  <a:pt x="0" y="84832"/>
                  <a:pt x="0" y="111125"/>
                </a:cubicBezTo>
                <a:cubicBezTo>
                  <a:pt x="0" y="126107"/>
                  <a:pt x="7045" y="140196"/>
                  <a:pt x="19050" y="149225"/>
                </a:cubicBezTo>
                <a:lnTo>
                  <a:pt x="225425" y="304006"/>
                </a:lnTo>
                <a:cubicBezTo>
                  <a:pt x="242391" y="316706"/>
                  <a:pt x="265609" y="316706"/>
                  <a:pt x="282575" y="304006"/>
                </a:cubicBezTo>
                <a:lnTo>
                  <a:pt x="488950" y="149225"/>
                </a:lnTo>
                <a:cubicBezTo>
                  <a:pt x="500955" y="140196"/>
                  <a:pt x="508000" y="126107"/>
                  <a:pt x="508000" y="111125"/>
                </a:cubicBezTo>
                <a:cubicBezTo>
                  <a:pt x="508000" y="84832"/>
                  <a:pt x="486668" y="63500"/>
                  <a:pt x="460375" y="63500"/>
                </a:cubicBezTo>
                <a:lnTo>
                  <a:pt x="47625" y="63500"/>
                </a:lnTo>
                <a:close/>
                <a:moveTo>
                  <a:pt x="0" y="194469"/>
                </a:moveTo>
                <a:lnTo>
                  <a:pt x="0" y="381000"/>
                </a:lnTo>
                <a:cubicBezTo>
                  <a:pt x="0" y="416024"/>
                  <a:pt x="28476" y="444500"/>
                  <a:pt x="63500" y="444500"/>
                </a:cubicBezTo>
                <a:lnTo>
                  <a:pt x="444500" y="444500"/>
                </a:lnTo>
                <a:cubicBezTo>
                  <a:pt x="479524" y="444500"/>
                  <a:pt x="508000" y="416024"/>
                  <a:pt x="508000" y="381000"/>
                </a:cubicBezTo>
                <a:lnTo>
                  <a:pt x="508000" y="194469"/>
                </a:lnTo>
                <a:lnTo>
                  <a:pt x="311150" y="342106"/>
                </a:lnTo>
                <a:cubicBezTo>
                  <a:pt x="277316" y="367506"/>
                  <a:pt x="230684" y="367506"/>
                  <a:pt x="196850" y="342106"/>
                </a:cubicBezTo>
                <a:lnTo>
                  <a:pt x="0" y="194469"/>
                </a:lnTo>
                <a:close/>
              </a:path>
            </a:pathLst>
          </a:custGeom>
          <a:solidFill>
            <a:srgbClr val="00D4FF"/>
          </a:solidFill>
          <a:ln/>
        </p:spPr>
      </p:sp>
      <p:sp>
        <p:nvSpPr>
          <p:cNvPr id="16" name="Text 13"/>
          <p:cNvSpPr/>
          <p:nvPr/>
        </p:nvSpPr>
        <p:spPr>
          <a:xfrm>
            <a:off x="952500" y="3873500"/>
            <a:ext cx="3048000" cy="635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SMS Monitoring</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Read incoming messages</a:t>
            </a:r>
            <a:endParaRPr lang="en-US" sz="1600" dirty="0"/>
          </a:p>
        </p:txBody>
      </p:sp>
      <p:sp>
        <p:nvSpPr>
          <p:cNvPr id="17" name="Shape 14"/>
          <p:cNvSpPr/>
          <p:nvPr/>
        </p:nvSpPr>
        <p:spPr>
          <a:xfrm>
            <a:off x="4508500" y="3048000"/>
            <a:ext cx="342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8" name="Shape 15"/>
          <p:cNvSpPr/>
          <p:nvPr/>
        </p:nvSpPr>
        <p:spPr>
          <a:xfrm>
            <a:off x="5746750" y="3238500"/>
            <a:ext cx="571500" cy="508000"/>
          </a:xfrm>
          <a:custGeom>
            <a:avLst/>
            <a:gdLst/>
            <a:ahLst/>
            <a:cxnLst/>
            <a:rect l="l" t="t" r="r" b="b"/>
            <a:pathLst>
              <a:path w="571500" h="508000">
                <a:moveTo>
                  <a:pt x="55563" y="223838"/>
                </a:moveTo>
                <a:lnTo>
                  <a:pt x="32147" y="293886"/>
                </a:lnTo>
                <a:lnTo>
                  <a:pt x="32147" y="95250"/>
                </a:lnTo>
                <a:cubicBezTo>
                  <a:pt x="32147" y="60226"/>
                  <a:pt x="60623" y="31750"/>
                  <a:pt x="95647" y="31750"/>
                </a:cubicBezTo>
                <a:lnTo>
                  <a:pt x="233263" y="31750"/>
                </a:lnTo>
                <a:cubicBezTo>
                  <a:pt x="246955" y="31750"/>
                  <a:pt x="260350" y="36215"/>
                  <a:pt x="271363" y="44450"/>
                </a:cubicBezTo>
                <a:lnTo>
                  <a:pt x="309463" y="73025"/>
                </a:lnTo>
                <a:cubicBezTo>
                  <a:pt x="314920" y="77192"/>
                  <a:pt x="321667" y="79375"/>
                  <a:pt x="328513" y="79375"/>
                </a:cubicBezTo>
                <a:lnTo>
                  <a:pt x="444897" y="79375"/>
                </a:lnTo>
                <a:cubicBezTo>
                  <a:pt x="479921" y="79375"/>
                  <a:pt x="508397" y="107851"/>
                  <a:pt x="508397" y="142875"/>
                </a:cubicBezTo>
                <a:lnTo>
                  <a:pt x="508397" y="158750"/>
                </a:lnTo>
                <a:lnTo>
                  <a:pt x="145852" y="158750"/>
                </a:lnTo>
                <a:cubicBezTo>
                  <a:pt x="104874" y="158750"/>
                  <a:pt x="68461" y="184944"/>
                  <a:pt x="55463" y="223838"/>
                </a:cubicBezTo>
                <a:close/>
                <a:moveTo>
                  <a:pt x="474067" y="444500"/>
                </a:moveTo>
                <a:lnTo>
                  <a:pt x="98227" y="444500"/>
                </a:lnTo>
                <a:cubicBezTo>
                  <a:pt x="65683" y="444500"/>
                  <a:pt x="42763" y="412651"/>
                  <a:pt x="53082" y="381794"/>
                </a:cubicBezTo>
                <a:lnTo>
                  <a:pt x="100707" y="238919"/>
                </a:lnTo>
                <a:cubicBezTo>
                  <a:pt x="107156" y="219472"/>
                  <a:pt x="125413" y="206375"/>
                  <a:pt x="145852" y="206375"/>
                </a:cubicBezTo>
                <a:lnTo>
                  <a:pt x="521692" y="206375"/>
                </a:lnTo>
                <a:cubicBezTo>
                  <a:pt x="554236" y="206375"/>
                  <a:pt x="577155" y="238224"/>
                  <a:pt x="566837" y="269081"/>
                </a:cubicBezTo>
                <a:lnTo>
                  <a:pt x="519212" y="411956"/>
                </a:lnTo>
                <a:cubicBezTo>
                  <a:pt x="512762" y="431403"/>
                  <a:pt x="494506" y="444500"/>
                  <a:pt x="474067" y="444500"/>
                </a:cubicBezTo>
                <a:close/>
              </a:path>
            </a:pathLst>
          </a:custGeom>
          <a:solidFill>
            <a:srgbClr val="00D4FF"/>
          </a:solidFill>
          <a:ln/>
        </p:spPr>
      </p:sp>
      <p:sp>
        <p:nvSpPr>
          <p:cNvPr id="19" name="Text 16"/>
          <p:cNvSpPr/>
          <p:nvPr/>
        </p:nvSpPr>
        <p:spPr>
          <a:xfrm>
            <a:off x="4699000" y="3873500"/>
            <a:ext cx="3048000" cy="635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Folder Access</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Navigate message folders</a:t>
            </a:r>
            <a:endParaRPr lang="en-US" sz="1600" dirty="0"/>
          </a:p>
        </p:txBody>
      </p:sp>
      <p:sp>
        <p:nvSpPr>
          <p:cNvPr id="20" name="Shape 17"/>
          <p:cNvSpPr/>
          <p:nvPr/>
        </p:nvSpPr>
        <p:spPr>
          <a:xfrm>
            <a:off x="8255000" y="3048000"/>
            <a:ext cx="342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1" name="Shape 18"/>
          <p:cNvSpPr/>
          <p:nvPr/>
        </p:nvSpPr>
        <p:spPr>
          <a:xfrm>
            <a:off x="9556750" y="3238500"/>
            <a:ext cx="444500" cy="508000"/>
          </a:xfrm>
          <a:custGeom>
            <a:avLst/>
            <a:gdLst/>
            <a:ahLst/>
            <a:cxnLst/>
            <a:rect l="l" t="t" r="r" b="b"/>
            <a:pathLst>
              <a:path w="444500" h="508000">
                <a:moveTo>
                  <a:pt x="444500" y="204192"/>
                </a:moveTo>
                <a:cubicBezTo>
                  <a:pt x="429816" y="213916"/>
                  <a:pt x="412948" y="221754"/>
                  <a:pt x="395387" y="228005"/>
                </a:cubicBezTo>
                <a:cubicBezTo>
                  <a:pt x="348754" y="244673"/>
                  <a:pt x="287536" y="254000"/>
                  <a:pt x="222250" y="254000"/>
                </a:cubicBezTo>
                <a:cubicBezTo>
                  <a:pt x="156964" y="254000"/>
                  <a:pt x="95647" y="244574"/>
                  <a:pt x="49113" y="228005"/>
                </a:cubicBezTo>
                <a:cubicBezTo>
                  <a:pt x="31651" y="221754"/>
                  <a:pt x="14684" y="213916"/>
                  <a:pt x="0" y="204192"/>
                </a:cubicBezTo>
                <a:lnTo>
                  <a:pt x="0" y="285750"/>
                </a:lnTo>
                <a:cubicBezTo>
                  <a:pt x="0" y="329605"/>
                  <a:pt x="99516" y="365125"/>
                  <a:pt x="222250" y="365125"/>
                </a:cubicBezTo>
                <a:cubicBezTo>
                  <a:pt x="344984" y="365125"/>
                  <a:pt x="444500" y="329605"/>
                  <a:pt x="444500" y="285750"/>
                </a:cubicBezTo>
                <a:lnTo>
                  <a:pt x="444500" y="204192"/>
                </a:lnTo>
                <a:close/>
                <a:moveTo>
                  <a:pt x="444500" y="127000"/>
                </a:moveTo>
                <a:lnTo>
                  <a:pt x="444500" y="79375"/>
                </a:lnTo>
                <a:cubicBezTo>
                  <a:pt x="444500" y="35520"/>
                  <a:pt x="344984" y="0"/>
                  <a:pt x="222250" y="0"/>
                </a:cubicBezTo>
                <a:cubicBezTo>
                  <a:pt x="99516" y="0"/>
                  <a:pt x="0" y="35520"/>
                  <a:pt x="0" y="79375"/>
                </a:cubicBezTo>
                <a:lnTo>
                  <a:pt x="0" y="127000"/>
                </a:lnTo>
                <a:cubicBezTo>
                  <a:pt x="0" y="170855"/>
                  <a:pt x="99516" y="206375"/>
                  <a:pt x="222250" y="206375"/>
                </a:cubicBezTo>
                <a:cubicBezTo>
                  <a:pt x="344984" y="206375"/>
                  <a:pt x="444500" y="170855"/>
                  <a:pt x="444500" y="127000"/>
                </a:cubicBezTo>
                <a:close/>
                <a:moveTo>
                  <a:pt x="395387" y="386755"/>
                </a:moveTo>
                <a:cubicBezTo>
                  <a:pt x="348853" y="403324"/>
                  <a:pt x="287635" y="412750"/>
                  <a:pt x="222250" y="412750"/>
                </a:cubicBezTo>
                <a:cubicBezTo>
                  <a:pt x="156865" y="412750"/>
                  <a:pt x="95647" y="403324"/>
                  <a:pt x="49113" y="386755"/>
                </a:cubicBezTo>
                <a:cubicBezTo>
                  <a:pt x="31651" y="380504"/>
                  <a:pt x="14684" y="372666"/>
                  <a:pt x="0" y="362942"/>
                </a:cubicBezTo>
                <a:lnTo>
                  <a:pt x="0" y="428625"/>
                </a:lnTo>
                <a:cubicBezTo>
                  <a:pt x="0" y="472480"/>
                  <a:pt x="99516" y="508000"/>
                  <a:pt x="222250" y="508000"/>
                </a:cubicBezTo>
                <a:cubicBezTo>
                  <a:pt x="344984" y="508000"/>
                  <a:pt x="444500" y="472480"/>
                  <a:pt x="444500" y="428625"/>
                </a:cubicBezTo>
                <a:lnTo>
                  <a:pt x="444500" y="362942"/>
                </a:lnTo>
                <a:cubicBezTo>
                  <a:pt x="429816" y="372666"/>
                  <a:pt x="412948" y="380504"/>
                  <a:pt x="395387" y="386755"/>
                </a:cubicBezTo>
                <a:close/>
              </a:path>
            </a:pathLst>
          </a:custGeom>
          <a:solidFill>
            <a:srgbClr val="00D4FF"/>
          </a:solidFill>
          <a:ln/>
        </p:spPr>
      </p:sp>
      <p:sp>
        <p:nvSpPr>
          <p:cNvPr id="22" name="Text 19"/>
          <p:cNvSpPr/>
          <p:nvPr/>
        </p:nvSpPr>
        <p:spPr>
          <a:xfrm>
            <a:off x="8445500" y="3873500"/>
            <a:ext cx="3048000" cy="635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Metadata Retrieval</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Sender, timestamp, content</a:t>
            </a:r>
            <a:endParaRPr lang="en-US" sz="1600" dirty="0"/>
          </a:p>
        </p:txBody>
      </p:sp>
      <p:sp>
        <p:nvSpPr>
          <p:cNvPr id="23" name="Shape 20"/>
          <p:cNvSpPr/>
          <p:nvPr/>
        </p:nvSpPr>
        <p:spPr>
          <a:xfrm>
            <a:off x="12001500" y="3048000"/>
            <a:ext cx="34925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4" name="Shape 21"/>
          <p:cNvSpPr/>
          <p:nvPr/>
        </p:nvSpPr>
        <p:spPr>
          <a:xfrm>
            <a:off x="13265150" y="3238500"/>
            <a:ext cx="571500" cy="508000"/>
          </a:xfrm>
          <a:custGeom>
            <a:avLst/>
            <a:gdLst/>
            <a:ahLst/>
            <a:cxnLst/>
            <a:rect l="l" t="t" r="r" b="b"/>
            <a:pathLst>
              <a:path w="571500" h="508000">
                <a:moveTo>
                  <a:pt x="87213" y="11410"/>
                </a:moveTo>
                <a:cubicBezTo>
                  <a:pt x="76002" y="4564"/>
                  <a:pt x="61317" y="8235"/>
                  <a:pt x="54471" y="19447"/>
                </a:cubicBezTo>
                <a:cubicBezTo>
                  <a:pt x="29865" y="60127"/>
                  <a:pt x="15776" y="107851"/>
                  <a:pt x="15776" y="158750"/>
                </a:cubicBezTo>
                <a:cubicBezTo>
                  <a:pt x="15776" y="209649"/>
                  <a:pt x="29865" y="257373"/>
                  <a:pt x="54471" y="298053"/>
                </a:cubicBezTo>
                <a:cubicBezTo>
                  <a:pt x="61317" y="309265"/>
                  <a:pt x="75902" y="312936"/>
                  <a:pt x="87213" y="306090"/>
                </a:cubicBezTo>
                <a:cubicBezTo>
                  <a:pt x="98524" y="299244"/>
                  <a:pt x="102096" y="284659"/>
                  <a:pt x="95250" y="273348"/>
                </a:cubicBezTo>
                <a:cubicBezTo>
                  <a:pt x="75109" y="240010"/>
                  <a:pt x="63500" y="200720"/>
                  <a:pt x="63500" y="158750"/>
                </a:cubicBezTo>
                <a:cubicBezTo>
                  <a:pt x="63500" y="116780"/>
                  <a:pt x="75109" y="77490"/>
                  <a:pt x="95349" y="44053"/>
                </a:cubicBezTo>
                <a:cubicBezTo>
                  <a:pt x="102195" y="32841"/>
                  <a:pt x="98524" y="18157"/>
                  <a:pt x="87313" y="11311"/>
                </a:cubicBezTo>
                <a:close/>
                <a:moveTo>
                  <a:pt x="484187" y="11410"/>
                </a:moveTo>
                <a:cubicBezTo>
                  <a:pt x="472976" y="18256"/>
                  <a:pt x="469305" y="32841"/>
                  <a:pt x="476151" y="44152"/>
                </a:cubicBezTo>
                <a:cubicBezTo>
                  <a:pt x="496391" y="77589"/>
                  <a:pt x="508000" y="116880"/>
                  <a:pt x="508000" y="158849"/>
                </a:cubicBezTo>
                <a:cubicBezTo>
                  <a:pt x="508000" y="200819"/>
                  <a:pt x="496391" y="240109"/>
                  <a:pt x="476151" y="273546"/>
                </a:cubicBezTo>
                <a:cubicBezTo>
                  <a:pt x="469305" y="284758"/>
                  <a:pt x="472976" y="299442"/>
                  <a:pt x="484187" y="306288"/>
                </a:cubicBezTo>
                <a:cubicBezTo>
                  <a:pt x="495399" y="313134"/>
                  <a:pt x="510084" y="309463"/>
                  <a:pt x="516930" y="298252"/>
                </a:cubicBezTo>
                <a:cubicBezTo>
                  <a:pt x="541536" y="257572"/>
                  <a:pt x="555625" y="209848"/>
                  <a:pt x="555625" y="158948"/>
                </a:cubicBezTo>
                <a:cubicBezTo>
                  <a:pt x="555625" y="108049"/>
                  <a:pt x="541536" y="60127"/>
                  <a:pt x="516930" y="19447"/>
                </a:cubicBezTo>
                <a:cubicBezTo>
                  <a:pt x="510084" y="8235"/>
                  <a:pt x="495498" y="4564"/>
                  <a:pt x="484187" y="11410"/>
                </a:cubicBezTo>
                <a:close/>
                <a:moveTo>
                  <a:pt x="317500" y="213717"/>
                </a:moveTo>
                <a:cubicBezTo>
                  <a:pt x="336451" y="202704"/>
                  <a:pt x="349250" y="182265"/>
                  <a:pt x="349250" y="158750"/>
                </a:cubicBezTo>
                <a:cubicBezTo>
                  <a:pt x="349250" y="123726"/>
                  <a:pt x="320774" y="95250"/>
                  <a:pt x="285750" y="95250"/>
                </a:cubicBezTo>
                <a:cubicBezTo>
                  <a:pt x="250726" y="95250"/>
                  <a:pt x="222250" y="123726"/>
                  <a:pt x="222250" y="158750"/>
                </a:cubicBezTo>
                <a:cubicBezTo>
                  <a:pt x="222250" y="182265"/>
                  <a:pt x="235049" y="202803"/>
                  <a:pt x="254000" y="213717"/>
                </a:cubicBezTo>
                <a:lnTo>
                  <a:pt x="254000" y="476250"/>
                </a:lnTo>
                <a:cubicBezTo>
                  <a:pt x="254000" y="493812"/>
                  <a:pt x="268188" y="508000"/>
                  <a:pt x="285750" y="508000"/>
                </a:cubicBezTo>
                <a:cubicBezTo>
                  <a:pt x="303312" y="508000"/>
                  <a:pt x="317500" y="493812"/>
                  <a:pt x="317500" y="476250"/>
                </a:cubicBezTo>
                <a:lnTo>
                  <a:pt x="317500" y="213717"/>
                </a:lnTo>
                <a:close/>
                <a:moveTo>
                  <a:pt x="178792" y="90289"/>
                </a:moveTo>
                <a:cubicBezTo>
                  <a:pt x="185936" y="79177"/>
                  <a:pt x="182662" y="64492"/>
                  <a:pt x="171648" y="57348"/>
                </a:cubicBezTo>
                <a:cubicBezTo>
                  <a:pt x="160635" y="50205"/>
                  <a:pt x="145852" y="53479"/>
                  <a:pt x="138708" y="64492"/>
                </a:cubicBezTo>
                <a:cubicBezTo>
                  <a:pt x="121245" y="91678"/>
                  <a:pt x="111125" y="124023"/>
                  <a:pt x="111125" y="158750"/>
                </a:cubicBezTo>
                <a:cubicBezTo>
                  <a:pt x="111125" y="193477"/>
                  <a:pt x="121245" y="225822"/>
                  <a:pt x="138708" y="253008"/>
                </a:cubicBezTo>
                <a:cubicBezTo>
                  <a:pt x="145852" y="264120"/>
                  <a:pt x="160536" y="267295"/>
                  <a:pt x="171648" y="260152"/>
                </a:cubicBezTo>
                <a:cubicBezTo>
                  <a:pt x="182761" y="253008"/>
                  <a:pt x="185936" y="238323"/>
                  <a:pt x="178792" y="227211"/>
                </a:cubicBezTo>
                <a:cubicBezTo>
                  <a:pt x="166092" y="207466"/>
                  <a:pt x="158750" y="183952"/>
                  <a:pt x="158750" y="158750"/>
                </a:cubicBezTo>
                <a:cubicBezTo>
                  <a:pt x="158750" y="133548"/>
                  <a:pt x="166092" y="110034"/>
                  <a:pt x="178792" y="90289"/>
                </a:cubicBezTo>
                <a:close/>
                <a:moveTo>
                  <a:pt x="432792" y="64492"/>
                </a:moveTo>
                <a:cubicBezTo>
                  <a:pt x="425648" y="53380"/>
                  <a:pt x="410964" y="50205"/>
                  <a:pt x="399852" y="57348"/>
                </a:cubicBezTo>
                <a:cubicBezTo>
                  <a:pt x="388739" y="64492"/>
                  <a:pt x="385564" y="79177"/>
                  <a:pt x="392708" y="90289"/>
                </a:cubicBezTo>
                <a:cubicBezTo>
                  <a:pt x="405408" y="110034"/>
                  <a:pt x="412750" y="133548"/>
                  <a:pt x="412750" y="158750"/>
                </a:cubicBezTo>
                <a:cubicBezTo>
                  <a:pt x="412750" y="183952"/>
                  <a:pt x="405408" y="207466"/>
                  <a:pt x="392708" y="227211"/>
                </a:cubicBezTo>
                <a:cubicBezTo>
                  <a:pt x="385564" y="238323"/>
                  <a:pt x="388838" y="253008"/>
                  <a:pt x="399852" y="260152"/>
                </a:cubicBezTo>
                <a:cubicBezTo>
                  <a:pt x="410865" y="267295"/>
                  <a:pt x="425648" y="264021"/>
                  <a:pt x="432792" y="253008"/>
                </a:cubicBezTo>
                <a:cubicBezTo>
                  <a:pt x="450255" y="225822"/>
                  <a:pt x="460375" y="193477"/>
                  <a:pt x="460375" y="158750"/>
                </a:cubicBezTo>
                <a:cubicBezTo>
                  <a:pt x="460375" y="124023"/>
                  <a:pt x="450255" y="91678"/>
                  <a:pt x="432792" y="64492"/>
                </a:cubicBezTo>
                <a:close/>
              </a:path>
            </a:pathLst>
          </a:custGeom>
          <a:solidFill>
            <a:srgbClr val="FF6B6B"/>
          </a:solidFill>
          <a:ln/>
        </p:spPr>
      </p:sp>
      <p:sp>
        <p:nvSpPr>
          <p:cNvPr id="25" name="Text 22"/>
          <p:cNvSpPr/>
          <p:nvPr/>
        </p:nvSpPr>
        <p:spPr>
          <a:xfrm>
            <a:off x="12192000" y="3873500"/>
            <a:ext cx="3111500" cy="635000"/>
          </a:xfrm>
          <a:prstGeom prst="rect">
            <a:avLst/>
          </a:prstGeom>
          <a:noFill/>
          <a:ln/>
        </p:spPr>
        <p:txBody>
          <a:bodyPr wrap="square" lIns="0" tIns="0" rIns="0" bIns="0" rtlCol="0" anchor="t"/>
          <a:lstStyle/>
          <a:p>
            <a:pPr algn="ct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Real-Time Events</a:t>
            </a:r>
            <a:endParaRPr lang="en-US" sz="1600" dirty="0"/>
          </a:p>
          <a:p>
            <a:pPr algn="ctr">
              <a:lnSpc>
                <a:spcPct val="140000"/>
              </a:lnSpc>
            </a:pPr>
            <a:r>
              <a:rPr lang="en-US" sz="1500" dirty="0">
                <a:solidFill>
                  <a:srgbClr val="E8EDF5"/>
                </a:solidFill>
                <a:latin typeface="Quattrocento Sans" pitchFamily="34" charset="0"/>
                <a:ea typeface="Quattrocento Sans" pitchFamily="34" charset="-122"/>
                <a:cs typeface="Quattrocento Sans" pitchFamily="34" charset="-120"/>
              </a:rPr>
              <a:t>Live message interception</a:t>
            </a:r>
            <a:endParaRPr lang="en-US" sz="1600" dirty="0"/>
          </a:p>
        </p:txBody>
      </p:sp>
      <p:sp>
        <p:nvSpPr>
          <p:cNvPr id="26" name="Shape 23"/>
          <p:cNvSpPr/>
          <p:nvPr/>
        </p:nvSpPr>
        <p:spPr>
          <a:xfrm>
            <a:off x="762000" y="5016500"/>
            <a:ext cx="14732000" cy="3048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7" name="Text 24"/>
          <p:cNvSpPr/>
          <p:nvPr/>
        </p:nvSpPr>
        <p:spPr>
          <a:xfrm>
            <a:off x="1079500" y="52070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Execution Flow</a:t>
            </a:r>
            <a:endParaRPr lang="en-US" sz="2200" dirty="0"/>
          </a:p>
        </p:txBody>
      </p:sp>
      <p:sp>
        <p:nvSpPr>
          <p:cNvPr id="28" name="Text 25"/>
          <p:cNvSpPr/>
          <p:nvPr/>
        </p:nvSpPr>
        <p:spPr>
          <a:xfrm>
            <a:off x="1079500" y="5651500"/>
            <a:ext cx="14097000" cy="2159000"/>
          </a:xfrm>
          <a:prstGeom prst="rect">
            <a:avLst/>
          </a:prstGeom>
          <a:noFill/>
          <a:ln/>
        </p:spPr>
        <p:txBody>
          <a:bodyPr wrap="square" lIns="0" tIns="0" rIns="0" bIns="0" rtlCol="0" anchor="t"/>
          <a:lstStyle/>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1.</a:t>
            </a:r>
            <a:r>
              <a:rPr lang="en-US" sz="1600" dirty="0">
                <a:solidFill>
                  <a:srgbClr val="E8EDF5"/>
                </a:solidFill>
                <a:latin typeface="Quattrocento Sans" pitchFamily="34" charset="0"/>
                <a:ea typeface="Quattrocento Sans" pitchFamily="34" charset="-122"/>
                <a:cs typeface="Quattrocento Sans" pitchFamily="34" charset="-120"/>
              </a:rPr>
              <a:t> Connect to target device MAP service using discovered service record</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2.</a:t>
            </a:r>
            <a:r>
              <a:rPr lang="en-US" sz="1600" dirty="0">
                <a:solidFill>
                  <a:srgbClr val="E8EDF5"/>
                </a:solidFill>
                <a:latin typeface="Quattrocento Sans" pitchFamily="34" charset="0"/>
                <a:ea typeface="Quattrocento Sans" pitchFamily="34" charset="-122"/>
                <a:cs typeface="Quattrocento Sans" pitchFamily="34" charset="-120"/>
              </a:rPr>
              <a:t> Access SMS message folders: inbox, sent, drafts</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3.</a:t>
            </a:r>
            <a:r>
              <a:rPr lang="en-US" sz="1600" dirty="0">
                <a:solidFill>
                  <a:srgbClr val="E8EDF5"/>
                </a:solidFill>
                <a:latin typeface="Quattrocento Sans" pitchFamily="34" charset="0"/>
                <a:ea typeface="Quattrocento Sans" pitchFamily="34" charset="-122"/>
                <a:cs typeface="Quattrocento Sans" pitchFamily="34" charset="-120"/>
              </a:rPr>
              <a:t> Retrieve message metadata: sender number, timestamp, content preview</a:t>
            </a:r>
            <a:endParaRPr lang="en-US" sz="1600" dirty="0"/>
          </a:p>
          <a:p>
            <a:pPr>
              <a:lnSpc>
                <a:spcPct val="160000"/>
              </a:lnSpc>
            </a:pPr>
            <a:r>
              <a:rPr lang="en-US" sz="1600" dirty="0">
                <a:solidFill>
                  <a:srgbClr val="FF6B6B"/>
                </a:solidFill>
                <a:latin typeface="Quattrocento Sans" pitchFamily="34" charset="0"/>
                <a:ea typeface="Quattrocento Sans" pitchFamily="34" charset="-122"/>
                <a:cs typeface="Quattrocento Sans" pitchFamily="34" charset="-120"/>
              </a:rPr>
              <a:t>4.</a:t>
            </a:r>
            <a:r>
              <a:rPr lang="en-US" sz="1600" dirty="0">
                <a:solidFill>
                  <a:srgbClr val="E8EDF5"/>
                </a:solidFill>
                <a:latin typeface="Quattrocento Sans" pitchFamily="34" charset="0"/>
                <a:ea typeface="Quattrocento Sans" pitchFamily="34" charset="-122"/>
                <a:cs typeface="Quattrocento Sans" pitchFamily="34" charset="-120"/>
              </a:rPr>
              <a:t> Monitor real-time SMS events as messages arrive on target device</a:t>
            </a:r>
            <a:endParaRPr lang="en-US" sz="1600" dirty="0"/>
          </a:p>
        </p:txBody>
      </p:sp>
      <p:sp>
        <p:nvSpPr>
          <p:cNvPr id="29" name="Shape 26"/>
          <p:cNvSpPr/>
          <p:nvPr/>
        </p:nvSpPr>
        <p:spPr>
          <a:xfrm>
            <a:off x="762000" y="8382000"/>
            <a:ext cx="14732000" cy="12700"/>
          </a:xfrm>
          <a:prstGeom prst="rect">
            <a:avLst/>
          </a:prstGeom>
          <a:solidFill>
            <a:srgbClr val="1E3A6E"/>
          </a:solidFill>
          <a:ln/>
        </p:spPr>
      </p:sp>
      <p:sp>
        <p:nvSpPr>
          <p:cNvPr id="30" name="Text 27"/>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1" name="Text 28"/>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10 / 18</a:t>
            </a:r>
            <a:endParaRPr lang="en-US" sz="14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7886700" y="0"/>
            <a:ext cx="889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a:t>
            </a:r>
            <a:r>
              <a:rPr lang="en-US" sz="1200" kern="0" spc="100" dirty="0">
                <a:solidFill>
                  <a:srgbClr val="00D4FF"/>
                </a:solidFill>
                <a:latin typeface="Liter" pitchFamily="34" charset="0"/>
                <a:ea typeface="Liter" pitchFamily="34" charset="-122"/>
                <a:cs typeface="Liter" pitchFamily="34" charset="-120"/>
              </a:rPr>
              <a:t>PHASES</a:t>
            </a:r>
            <a:r>
              <a:rPr lang="en-US" sz="1200" kern="0" spc="100" dirty="0">
                <a:solidFill>
                  <a:srgbClr val="8B9DC3"/>
                </a:solidFill>
                <a:latin typeface="Liter" pitchFamily="34" charset="0"/>
                <a:ea typeface="Liter" pitchFamily="34" charset="-122"/>
                <a:cs typeface="Liter" pitchFamily="34" charset="-120"/>
              </a:rPr>
              <a:t> | CHALLENGES | SECURITY | RESULTS</a:t>
            </a:r>
            <a:endParaRPr lang="en-US" sz="1200" dirty="0"/>
          </a:p>
        </p:txBody>
      </p:sp>
      <p:sp>
        <p:nvSpPr>
          <p:cNvPr id="6" name="Text 3"/>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Phase 4 – OTP Authentication Simulation</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3716000" y="698500"/>
            <a:ext cx="1778000" cy="457200"/>
          </a:xfrm>
          <a:prstGeom prst="roundRect">
            <a:avLst>
              <a:gd name="adj" fmla="val 16000"/>
            </a:avLst>
          </a:prstGeom>
          <a:solidFill>
            <a:srgbClr val="00D4FF"/>
          </a:solidFill>
          <a:ln/>
        </p:spPr>
      </p:sp>
      <p:sp>
        <p:nvSpPr>
          <p:cNvPr id="9" name="Text 6"/>
          <p:cNvSpPr/>
          <p:nvPr/>
        </p:nvSpPr>
        <p:spPr>
          <a:xfrm>
            <a:off x="13716000" y="698500"/>
            <a:ext cx="1778000" cy="457200"/>
          </a:xfrm>
          <a:prstGeom prst="rect">
            <a:avLst/>
          </a:prstGeom>
          <a:noFill/>
          <a:ln/>
        </p:spPr>
        <p:txBody>
          <a:bodyPr wrap="none" lIns="0" tIns="0" rIns="0" bIns="0" rtlCol="0" anchor="ctr"/>
          <a:lstStyle/>
          <a:p>
            <a:pPr algn="ctr">
              <a:lnSpc>
                <a:spcPct val="100000"/>
              </a:lnSpc>
            </a:pPr>
            <a:r>
              <a:rPr lang="en-US" sz="1400" b="1" dirty="0">
                <a:solidFill>
                  <a:srgbClr val="060D1F"/>
                </a:solidFill>
                <a:latin typeface="Liter" pitchFamily="34" charset="0"/>
                <a:ea typeface="Liter" pitchFamily="34" charset="-122"/>
                <a:cs typeface="Liter" pitchFamily="34" charset="-120"/>
              </a:rPr>
              <a:t>PHASE 4 / 5</a:t>
            </a:r>
            <a:endParaRPr lang="en-US" sz="1600" dirty="0"/>
          </a:p>
        </p:txBody>
      </p:sp>
      <p:sp>
        <p:nvSpPr>
          <p:cNvPr id="10" name="Text 7"/>
          <p:cNvSpPr/>
          <p:nvPr/>
        </p:nvSpPr>
        <p:spPr>
          <a:xfrm>
            <a:off x="762000" y="15240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Technologies Used</a:t>
            </a:r>
            <a:endParaRPr lang="en-US" sz="2200" dirty="0"/>
          </a:p>
        </p:txBody>
      </p:sp>
      <p:sp>
        <p:nvSpPr>
          <p:cNvPr id="11" name="Shape 8"/>
          <p:cNvSpPr/>
          <p:nvPr/>
        </p:nvSpPr>
        <p:spPr>
          <a:xfrm>
            <a:off x="762000" y="2006600"/>
            <a:ext cx="1651000" cy="508000"/>
          </a:xfrm>
          <a:prstGeom prst="roundRect">
            <a:avLst>
              <a:gd name="adj" fmla="val 16000"/>
            </a:avLst>
          </a:prstGeom>
          <a:solidFill>
            <a:srgbClr val="E34F26"/>
          </a:solidFill>
          <a:ln/>
        </p:spPr>
      </p:sp>
      <p:sp>
        <p:nvSpPr>
          <p:cNvPr id="12" name="Text 9"/>
          <p:cNvSpPr/>
          <p:nvPr/>
        </p:nvSpPr>
        <p:spPr>
          <a:xfrm>
            <a:off x="762000" y="2006600"/>
            <a:ext cx="1651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HTML</a:t>
            </a:r>
            <a:endParaRPr lang="en-US" sz="1600" dirty="0"/>
          </a:p>
        </p:txBody>
      </p:sp>
      <p:sp>
        <p:nvSpPr>
          <p:cNvPr id="13" name="Shape 10"/>
          <p:cNvSpPr/>
          <p:nvPr/>
        </p:nvSpPr>
        <p:spPr>
          <a:xfrm>
            <a:off x="2603500" y="2006600"/>
            <a:ext cx="1651000" cy="508000"/>
          </a:xfrm>
          <a:prstGeom prst="roundRect">
            <a:avLst>
              <a:gd name="adj" fmla="val 16000"/>
            </a:avLst>
          </a:prstGeom>
          <a:solidFill>
            <a:srgbClr val="1572B6"/>
          </a:solidFill>
          <a:ln/>
        </p:spPr>
      </p:sp>
      <p:sp>
        <p:nvSpPr>
          <p:cNvPr id="14" name="Text 11"/>
          <p:cNvSpPr/>
          <p:nvPr/>
        </p:nvSpPr>
        <p:spPr>
          <a:xfrm>
            <a:off x="2603500" y="2006600"/>
            <a:ext cx="1651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CSS</a:t>
            </a:r>
            <a:endParaRPr lang="en-US" sz="1600" dirty="0"/>
          </a:p>
        </p:txBody>
      </p:sp>
      <p:sp>
        <p:nvSpPr>
          <p:cNvPr id="15" name="Shape 12"/>
          <p:cNvSpPr/>
          <p:nvPr/>
        </p:nvSpPr>
        <p:spPr>
          <a:xfrm>
            <a:off x="4445000" y="2006600"/>
            <a:ext cx="1651000" cy="508000"/>
          </a:xfrm>
          <a:prstGeom prst="roundRect">
            <a:avLst>
              <a:gd name="adj" fmla="val 16000"/>
            </a:avLst>
          </a:prstGeom>
          <a:solidFill>
            <a:srgbClr val="F7DF1E"/>
          </a:solidFill>
          <a:ln/>
        </p:spPr>
      </p:sp>
      <p:sp>
        <p:nvSpPr>
          <p:cNvPr id="16" name="Text 13"/>
          <p:cNvSpPr/>
          <p:nvPr/>
        </p:nvSpPr>
        <p:spPr>
          <a:xfrm>
            <a:off x="4445000" y="2006600"/>
            <a:ext cx="1651000" cy="508000"/>
          </a:xfrm>
          <a:prstGeom prst="rect">
            <a:avLst/>
          </a:prstGeom>
          <a:noFill/>
          <a:ln/>
        </p:spPr>
        <p:txBody>
          <a:bodyPr wrap="none" lIns="0" tIns="0" rIns="0" bIns="0" rtlCol="0" anchor="ctr"/>
          <a:lstStyle/>
          <a:p>
            <a:pPr algn="ctr">
              <a:lnSpc>
                <a:spcPct val="100000"/>
              </a:lnSpc>
            </a:pPr>
            <a:r>
              <a:rPr lang="en-US" sz="1400" b="1" dirty="0">
                <a:solidFill>
                  <a:srgbClr val="333333"/>
                </a:solidFill>
                <a:latin typeface="Liter" pitchFamily="34" charset="0"/>
                <a:ea typeface="Liter" pitchFamily="34" charset="-122"/>
                <a:cs typeface="Liter" pitchFamily="34" charset="-120"/>
              </a:rPr>
              <a:t>JavaScript</a:t>
            </a:r>
            <a:endParaRPr lang="en-US" sz="1600" dirty="0"/>
          </a:p>
        </p:txBody>
      </p:sp>
      <p:sp>
        <p:nvSpPr>
          <p:cNvPr id="17" name="Shape 14"/>
          <p:cNvSpPr/>
          <p:nvPr/>
        </p:nvSpPr>
        <p:spPr>
          <a:xfrm>
            <a:off x="6286500" y="2006600"/>
            <a:ext cx="2032000" cy="508000"/>
          </a:xfrm>
          <a:prstGeom prst="roundRect">
            <a:avLst>
              <a:gd name="adj" fmla="val 16000"/>
            </a:avLst>
          </a:prstGeom>
          <a:solidFill>
            <a:srgbClr val="FF9100"/>
          </a:solidFill>
          <a:ln/>
        </p:spPr>
      </p:sp>
      <p:sp>
        <p:nvSpPr>
          <p:cNvPr id="18" name="Text 15"/>
          <p:cNvSpPr/>
          <p:nvPr/>
        </p:nvSpPr>
        <p:spPr>
          <a:xfrm>
            <a:off x="6286500" y="2006600"/>
            <a:ext cx="2032000" cy="508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Firebase Auth</a:t>
            </a:r>
            <a:endParaRPr lang="en-US" sz="1600" dirty="0"/>
          </a:p>
        </p:txBody>
      </p:sp>
      <p:sp>
        <p:nvSpPr>
          <p:cNvPr id="19" name="Shape 16"/>
          <p:cNvSpPr/>
          <p:nvPr/>
        </p:nvSpPr>
        <p:spPr>
          <a:xfrm>
            <a:off x="762000" y="2794000"/>
            <a:ext cx="7112000" cy="5080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0" name="Text 17"/>
          <p:cNvSpPr/>
          <p:nvPr/>
        </p:nvSpPr>
        <p:spPr>
          <a:xfrm>
            <a:off x="1079500" y="29845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Portal Features</a:t>
            </a:r>
            <a:endParaRPr lang="en-US" sz="2200" dirty="0"/>
          </a:p>
        </p:txBody>
      </p:sp>
      <p:sp>
        <p:nvSpPr>
          <p:cNvPr id="21" name="Shape 18"/>
          <p:cNvSpPr/>
          <p:nvPr/>
        </p:nvSpPr>
        <p:spPr>
          <a:xfrm>
            <a:off x="1143000" y="3619500"/>
            <a:ext cx="355600" cy="355600"/>
          </a:xfrm>
          <a:custGeom>
            <a:avLst/>
            <a:gdLst/>
            <a:ahLst/>
            <a:cxnLst/>
            <a:rect l="l" t="t" r="r" b="b"/>
            <a:pathLst>
              <a:path w="355600" h="355600">
                <a:moveTo>
                  <a:pt x="239613" y="189607"/>
                </a:moveTo>
                <a:cubicBezTo>
                  <a:pt x="246142" y="183078"/>
                  <a:pt x="246142" y="172522"/>
                  <a:pt x="239613" y="166062"/>
                </a:cubicBezTo>
                <a:lnTo>
                  <a:pt x="139601" y="65980"/>
                </a:lnTo>
                <a:cubicBezTo>
                  <a:pt x="134809" y="61188"/>
                  <a:pt x="127655" y="59799"/>
                  <a:pt x="121404" y="62369"/>
                </a:cubicBezTo>
                <a:cubicBezTo>
                  <a:pt x="115153" y="64939"/>
                  <a:pt x="111125" y="71051"/>
                  <a:pt x="111125" y="77788"/>
                </a:cubicBezTo>
                <a:lnTo>
                  <a:pt x="111125" y="133350"/>
                </a:lnTo>
                <a:lnTo>
                  <a:pt x="33337" y="133350"/>
                </a:lnTo>
                <a:cubicBezTo>
                  <a:pt x="14932" y="133350"/>
                  <a:pt x="0" y="148282"/>
                  <a:pt x="0" y="166688"/>
                </a:cubicBezTo>
                <a:lnTo>
                  <a:pt x="0" y="188913"/>
                </a:lnTo>
                <a:cubicBezTo>
                  <a:pt x="0" y="207318"/>
                  <a:pt x="14932" y="222250"/>
                  <a:pt x="33337" y="222250"/>
                </a:cubicBezTo>
                <a:lnTo>
                  <a:pt x="111125" y="222250"/>
                </a:lnTo>
                <a:lnTo>
                  <a:pt x="111125" y="277813"/>
                </a:lnTo>
                <a:cubicBezTo>
                  <a:pt x="111125" y="284549"/>
                  <a:pt x="115153" y="290661"/>
                  <a:pt x="121404" y="293231"/>
                </a:cubicBezTo>
                <a:cubicBezTo>
                  <a:pt x="127655" y="295801"/>
                  <a:pt x="134809" y="294412"/>
                  <a:pt x="139601" y="289620"/>
                </a:cubicBezTo>
                <a:lnTo>
                  <a:pt x="239613" y="189607"/>
                </a:lnTo>
                <a:close/>
                <a:moveTo>
                  <a:pt x="244475" y="288925"/>
                </a:moveTo>
                <a:cubicBezTo>
                  <a:pt x="232182" y="288925"/>
                  <a:pt x="222250" y="298857"/>
                  <a:pt x="222250" y="311150"/>
                </a:cubicBezTo>
                <a:cubicBezTo>
                  <a:pt x="222250" y="323443"/>
                  <a:pt x="232182" y="333375"/>
                  <a:pt x="244475" y="333375"/>
                </a:cubicBezTo>
                <a:lnTo>
                  <a:pt x="288925" y="333375"/>
                </a:lnTo>
                <a:cubicBezTo>
                  <a:pt x="325735" y="333375"/>
                  <a:pt x="355600" y="303510"/>
                  <a:pt x="355600" y="266700"/>
                </a:cubicBezTo>
                <a:lnTo>
                  <a:pt x="355600" y="88900"/>
                </a:lnTo>
                <a:cubicBezTo>
                  <a:pt x="355600" y="52090"/>
                  <a:pt x="325735" y="22225"/>
                  <a:pt x="288925" y="22225"/>
                </a:cubicBezTo>
                <a:lnTo>
                  <a:pt x="244475" y="22225"/>
                </a:lnTo>
                <a:cubicBezTo>
                  <a:pt x="232182" y="22225"/>
                  <a:pt x="222250" y="32157"/>
                  <a:pt x="222250" y="44450"/>
                </a:cubicBezTo>
                <a:cubicBezTo>
                  <a:pt x="222250" y="56743"/>
                  <a:pt x="232182" y="66675"/>
                  <a:pt x="244475" y="66675"/>
                </a:cubicBezTo>
                <a:lnTo>
                  <a:pt x="288925" y="66675"/>
                </a:lnTo>
                <a:cubicBezTo>
                  <a:pt x="301218" y="66675"/>
                  <a:pt x="311150" y="76607"/>
                  <a:pt x="311150" y="88900"/>
                </a:cubicBezTo>
                <a:lnTo>
                  <a:pt x="311150" y="266700"/>
                </a:lnTo>
                <a:cubicBezTo>
                  <a:pt x="311150" y="278993"/>
                  <a:pt x="301218" y="288925"/>
                  <a:pt x="288925" y="288925"/>
                </a:cubicBezTo>
                <a:lnTo>
                  <a:pt x="244475" y="288925"/>
                </a:lnTo>
                <a:close/>
              </a:path>
            </a:pathLst>
          </a:custGeom>
          <a:solidFill>
            <a:srgbClr val="00D4FF"/>
          </a:solidFill>
          <a:ln/>
        </p:spPr>
      </p:sp>
      <p:sp>
        <p:nvSpPr>
          <p:cNvPr id="22" name="Text 19"/>
          <p:cNvSpPr/>
          <p:nvPr/>
        </p:nvSpPr>
        <p:spPr>
          <a:xfrm>
            <a:off x="1651000" y="3530600"/>
            <a:ext cx="5969000" cy="7874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Login</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User authentication with phone number</a:t>
            </a:r>
            <a:endParaRPr lang="en-US" sz="1600" dirty="0"/>
          </a:p>
        </p:txBody>
      </p:sp>
      <p:sp>
        <p:nvSpPr>
          <p:cNvPr id="23" name="Shape 20"/>
          <p:cNvSpPr/>
          <p:nvPr/>
        </p:nvSpPr>
        <p:spPr>
          <a:xfrm>
            <a:off x="1143000" y="44450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00D4FF"/>
          </a:solidFill>
          <a:ln/>
        </p:spPr>
      </p:sp>
      <p:sp>
        <p:nvSpPr>
          <p:cNvPr id="24" name="Text 21"/>
          <p:cNvSpPr/>
          <p:nvPr/>
        </p:nvSpPr>
        <p:spPr>
          <a:xfrm>
            <a:off x="1651000" y="4419600"/>
            <a:ext cx="5969000" cy="7874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OTP Verification</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SMS code validation for secure access</a:t>
            </a:r>
            <a:endParaRPr lang="en-US" sz="1600" dirty="0"/>
          </a:p>
        </p:txBody>
      </p:sp>
      <p:sp>
        <p:nvSpPr>
          <p:cNvPr id="25" name="Shape 22"/>
          <p:cNvSpPr/>
          <p:nvPr/>
        </p:nvSpPr>
        <p:spPr>
          <a:xfrm>
            <a:off x="1143000" y="5270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00D4FF"/>
          </a:solidFill>
          <a:ln/>
        </p:spPr>
      </p:sp>
      <p:sp>
        <p:nvSpPr>
          <p:cNvPr id="26" name="Text 23"/>
          <p:cNvSpPr/>
          <p:nvPr/>
        </p:nvSpPr>
        <p:spPr>
          <a:xfrm>
            <a:off x="1651000" y="5308600"/>
            <a:ext cx="5969000" cy="7874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Forgot Password</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Account recovery via phone verification</a:t>
            </a:r>
            <a:endParaRPr lang="en-US" sz="1600" dirty="0"/>
          </a:p>
        </p:txBody>
      </p:sp>
      <p:sp>
        <p:nvSpPr>
          <p:cNvPr id="27" name="Shape 24"/>
          <p:cNvSpPr/>
          <p:nvPr/>
        </p:nvSpPr>
        <p:spPr>
          <a:xfrm>
            <a:off x="1143000" y="6096000"/>
            <a:ext cx="355600" cy="355600"/>
          </a:xfrm>
          <a:custGeom>
            <a:avLst/>
            <a:gdLst/>
            <a:ahLst/>
            <a:cxnLst/>
            <a:rect l="l" t="t" r="r" b="b"/>
            <a:pathLst>
              <a:path w="355600" h="355600">
                <a:moveTo>
                  <a:pt x="333444" y="133350"/>
                </a:moveTo>
                <a:lnTo>
                  <a:pt x="338931" y="133350"/>
                </a:lnTo>
                <a:cubicBezTo>
                  <a:pt x="348169" y="133350"/>
                  <a:pt x="355600" y="125919"/>
                  <a:pt x="355600" y="116681"/>
                </a:cubicBezTo>
                <a:lnTo>
                  <a:pt x="355600" y="16669"/>
                </a:lnTo>
                <a:cubicBezTo>
                  <a:pt x="355600" y="9932"/>
                  <a:pt x="351572" y="3820"/>
                  <a:pt x="345321" y="1250"/>
                </a:cubicBezTo>
                <a:cubicBezTo>
                  <a:pt x="339070" y="-1320"/>
                  <a:pt x="331916" y="139"/>
                  <a:pt x="327124" y="4862"/>
                </a:cubicBezTo>
                <a:lnTo>
                  <a:pt x="291217" y="40838"/>
                </a:lnTo>
                <a:cubicBezTo>
                  <a:pt x="260449" y="15349"/>
                  <a:pt x="220861" y="0"/>
                  <a:pt x="177800" y="0"/>
                </a:cubicBezTo>
                <a:cubicBezTo>
                  <a:pt x="88205" y="0"/>
                  <a:pt x="14099" y="66258"/>
                  <a:pt x="1806" y="152450"/>
                </a:cubicBezTo>
                <a:cubicBezTo>
                  <a:pt x="69" y="164604"/>
                  <a:pt x="8473" y="175855"/>
                  <a:pt x="20628" y="177592"/>
                </a:cubicBezTo>
                <a:cubicBezTo>
                  <a:pt x="32782" y="179328"/>
                  <a:pt x="44033" y="170855"/>
                  <a:pt x="45770" y="158770"/>
                </a:cubicBezTo>
                <a:cubicBezTo>
                  <a:pt x="55007" y="94109"/>
                  <a:pt x="110639" y="44450"/>
                  <a:pt x="177800" y="44450"/>
                </a:cubicBezTo>
                <a:cubicBezTo>
                  <a:pt x="208637" y="44450"/>
                  <a:pt x="236974" y="54868"/>
                  <a:pt x="259546" y="72440"/>
                </a:cubicBezTo>
                <a:lnTo>
                  <a:pt x="227112" y="104874"/>
                </a:lnTo>
                <a:cubicBezTo>
                  <a:pt x="222319" y="109666"/>
                  <a:pt x="220930" y="116820"/>
                  <a:pt x="223500" y="123071"/>
                </a:cubicBezTo>
                <a:cubicBezTo>
                  <a:pt x="226070" y="129322"/>
                  <a:pt x="232182" y="133350"/>
                  <a:pt x="238919" y="133350"/>
                </a:cubicBezTo>
                <a:lnTo>
                  <a:pt x="333444" y="133350"/>
                </a:lnTo>
                <a:close/>
                <a:moveTo>
                  <a:pt x="353864" y="203150"/>
                </a:moveTo>
                <a:cubicBezTo>
                  <a:pt x="355600" y="190996"/>
                  <a:pt x="347127" y="179745"/>
                  <a:pt x="335042" y="178008"/>
                </a:cubicBezTo>
                <a:cubicBezTo>
                  <a:pt x="322957" y="176272"/>
                  <a:pt x="311636" y="184745"/>
                  <a:pt x="309900" y="196830"/>
                </a:cubicBezTo>
                <a:cubicBezTo>
                  <a:pt x="300663" y="261422"/>
                  <a:pt x="245031" y="311081"/>
                  <a:pt x="177869" y="311081"/>
                </a:cubicBezTo>
                <a:cubicBezTo>
                  <a:pt x="147032" y="311081"/>
                  <a:pt x="118695" y="300663"/>
                  <a:pt x="96123" y="283091"/>
                </a:cubicBezTo>
                <a:lnTo>
                  <a:pt x="128488" y="250726"/>
                </a:lnTo>
                <a:cubicBezTo>
                  <a:pt x="133281" y="245934"/>
                  <a:pt x="134670" y="238780"/>
                  <a:pt x="132100" y="232529"/>
                </a:cubicBezTo>
                <a:cubicBezTo>
                  <a:pt x="129530" y="226278"/>
                  <a:pt x="123418" y="222250"/>
                  <a:pt x="116681" y="222250"/>
                </a:cubicBezTo>
                <a:lnTo>
                  <a:pt x="16669" y="222250"/>
                </a:lnTo>
                <a:cubicBezTo>
                  <a:pt x="7431" y="222250"/>
                  <a:pt x="0" y="229681"/>
                  <a:pt x="0" y="238919"/>
                </a:cubicBezTo>
                <a:lnTo>
                  <a:pt x="0" y="338931"/>
                </a:lnTo>
                <a:cubicBezTo>
                  <a:pt x="0" y="345668"/>
                  <a:pt x="4028" y="351780"/>
                  <a:pt x="10279" y="354350"/>
                </a:cubicBezTo>
                <a:cubicBezTo>
                  <a:pt x="16530" y="356920"/>
                  <a:pt x="23684" y="355461"/>
                  <a:pt x="28476" y="350738"/>
                </a:cubicBezTo>
                <a:lnTo>
                  <a:pt x="64453" y="314762"/>
                </a:lnTo>
                <a:cubicBezTo>
                  <a:pt x="95151" y="340251"/>
                  <a:pt x="134739" y="355600"/>
                  <a:pt x="177800" y="355600"/>
                </a:cubicBezTo>
                <a:cubicBezTo>
                  <a:pt x="267395" y="355600"/>
                  <a:pt x="341501" y="289342"/>
                  <a:pt x="353794" y="203150"/>
                </a:cubicBezTo>
                <a:close/>
              </a:path>
            </a:pathLst>
          </a:custGeom>
          <a:solidFill>
            <a:srgbClr val="00D4FF"/>
          </a:solidFill>
          <a:ln/>
        </p:spPr>
      </p:sp>
      <p:sp>
        <p:nvSpPr>
          <p:cNvPr id="28" name="Text 25"/>
          <p:cNvSpPr/>
          <p:nvPr/>
        </p:nvSpPr>
        <p:spPr>
          <a:xfrm>
            <a:off x="1651000" y="6197600"/>
            <a:ext cx="5969000" cy="7874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Password Reset</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Secure credential update mechanism</a:t>
            </a:r>
            <a:endParaRPr lang="en-US" sz="1600" dirty="0"/>
          </a:p>
        </p:txBody>
      </p:sp>
      <p:sp>
        <p:nvSpPr>
          <p:cNvPr id="29" name="Text 26"/>
          <p:cNvSpPr/>
          <p:nvPr/>
        </p:nvSpPr>
        <p:spPr>
          <a:xfrm>
            <a:off x="1079500" y="6985000"/>
            <a:ext cx="6477000" cy="635000"/>
          </a:xfrm>
          <a:prstGeom prst="rect">
            <a:avLst/>
          </a:prstGeom>
          <a:noFill/>
          <a:ln/>
        </p:spPr>
        <p:txBody>
          <a:bodyPr wrap="square" lIns="0" tIns="0" rIns="0" bIns="0" rtlCol="0" anchor="t"/>
          <a:lstStyle/>
          <a:p>
            <a:pPr>
              <a:lnSpc>
                <a:spcPct val="140000"/>
              </a:lnSpc>
            </a:pPr>
            <a:r>
              <a:rPr lang="en-US" sz="1400" dirty="0">
                <a:solidFill>
                  <a:srgbClr val="8B9DC3"/>
                </a:solidFill>
                <a:latin typeface="Quattrocento Sans" pitchFamily="34" charset="0"/>
                <a:ea typeface="Quattrocento Sans" pitchFamily="34" charset="-122"/>
                <a:cs typeface="Quattrocento Sans" pitchFamily="34" charset="-120"/>
              </a:rPr>
              <a:t>This portal demonstrates how OTP codes sent via SMS can be intercepted through Bluetooth MAP monitoring.</a:t>
            </a:r>
            <a:endParaRPr lang="en-US" sz="1600" dirty="0"/>
          </a:p>
        </p:txBody>
      </p:sp>
      <p:sp>
        <p:nvSpPr>
          <p:cNvPr id="30" name="Shape 27"/>
          <p:cNvSpPr/>
          <p:nvPr/>
        </p:nvSpPr>
        <p:spPr>
          <a:xfrm>
            <a:off x="8382000" y="2794000"/>
            <a:ext cx="7112000" cy="5080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31" name="Text 28"/>
          <p:cNvSpPr/>
          <p:nvPr/>
        </p:nvSpPr>
        <p:spPr>
          <a:xfrm>
            <a:off x="8699500" y="29845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Authentication Flow</a:t>
            </a:r>
            <a:endParaRPr lang="en-US" sz="2200" dirty="0"/>
          </a:p>
        </p:txBody>
      </p:sp>
      <p:sp>
        <p:nvSpPr>
          <p:cNvPr id="32" name="Shape 29"/>
          <p:cNvSpPr/>
          <p:nvPr/>
        </p:nvSpPr>
        <p:spPr>
          <a:xfrm>
            <a:off x="8890000" y="3619500"/>
            <a:ext cx="6096000" cy="571500"/>
          </a:xfrm>
          <a:prstGeom prst="roundRect">
            <a:avLst>
              <a:gd name="adj" fmla="val 10000"/>
            </a:avLst>
          </a:prstGeom>
          <a:solidFill>
            <a:srgbClr val="0B1A3E"/>
          </a:solidFill>
          <a:ln w="12700">
            <a:solidFill>
              <a:srgbClr val="00D4FF"/>
            </a:solidFill>
            <a:prstDash val="solid"/>
          </a:ln>
        </p:spPr>
      </p:sp>
      <p:sp>
        <p:nvSpPr>
          <p:cNvPr id="33" name="Text 30"/>
          <p:cNvSpPr/>
          <p:nvPr/>
        </p:nvSpPr>
        <p:spPr>
          <a:xfrm>
            <a:off x="8890000" y="3619500"/>
            <a:ext cx="6096000" cy="571500"/>
          </a:xfrm>
          <a:prstGeom prst="rect">
            <a:avLst/>
          </a:prstGeom>
          <a:noFill/>
          <a:ln/>
        </p:spPr>
        <p:txBody>
          <a:bodyPr wrap="none" lIns="0" tIns="0" rIns="0" bIns="0" rtlCol="0" anchor="ctr"/>
          <a:lstStyle/>
          <a:p>
            <a:pPr algn="ctr">
              <a:lnSpc>
                <a:spcPct val="100000"/>
              </a:lnSpc>
            </a:pPr>
            <a:r>
              <a:rPr lang="en-US" sz="1500" dirty="0">
                <a:solidFill>
                  <a:srgbClr val="00D4FF"/>
                </a:solidFill>
                <a:latin typeface="Quattrocento Sans" pitchFamily="34" charset="0"/>
                <a:ea typeface="Quattrocento Sans" pitchFamily="34" charset="-122"/>
                <a:cs typeface="Quattrocento Sans" pitchFamily="34" charset="-120"/>
              </a:rPr>
              <a:t>1</a:t>
            </a:r>
            <a:r>
              <a:rPr lang="en-US" sz="1500" dirty="0">
                <a:solidFill>
                  <a:srgbClr val="FFFFFF"/>
                </a:solidFill>
                <a:latin typeface="Quattrocento Sans" pitchFamily="34" charset="0"/>
                <a:ea typeface="Quattrocento Sans" pitchFamily="34" charset="-122"/>
                <a:cs typeface="Quattrocento Sans" pitchFamily="34" charset="-120"/>
              </a:rPr>
              <a:t> User enters phone number on login portal</a:t>
            </a:r>
            <a:endParaRPr lang="en-US" sz="1600" dirty="0"/>
          </a:p>
        </p:txBody>
      </p:sp>
      <p:sp>
        <p:nvSpPr>
          <p:cNvPr id="34" name="Shape 31"/>
          <p:cNvSpPr/>
          <p:nvPr/>
        </p:nvSpPr>
        <p:spPr>
          <a:xfrm>
            <a:off x="11874500" y="4191000"/>
            <a:ext cx="0" cy="254000"/>
          </a:xfrm>
          <a:prstGeom prst="straightConnector1">
            <a:avLst/>
          </a:prstGeom>
          <a:noFill/>
          <a:ln w="25400">
            <a:solidFill>
              <a:srgbClr val="00D4FF"/>
            </a:solidFill>
            <a:prstDash val="solid"/>
            <a:headEnd type="none"/>
            <a:tailEnd type="arrow"/>
          </a:ln>
        </p:spPr>
      </p:sp>
      <p:sp>
        <p:nvSpPr>
          <p:cNvPr id="35" name="Shape 32"/>
          <p:cNvSpPr/>
          <p:nvPr/>
        </p:nvSpPr>
        <p:spPr>
          <a:xfrm>
            <a:off x="8890000" y="4445000"/>
            <a:ext cx="6096000" cy="571500"/>
          </a:xfrm>
          <a:prstGeom prst="roundRect">
            <a:avLst>
              <a:gd name="adj" fmla="val 10000"/>
            </a:avLst>
          </a:prstGeom>
          <a:solidFill>
            <a:srgbClr val="0B1A3E"/>
          </a:solidFill>
          <a:ln w="12700">
            <a:solidFill>
              <a:srgbClr val="FF9F43"/>
            </a:solidFill>
            <a:prstDash val="solid"/>
          </a:ln>
        </p:spPr>
      </p:sp>
      <p:sp>
        <p:nvSpPr>
          <p:cNvPr id="36" name="Text 33"/>
          <p:cNvSpPr/>
          <p:nvPr/>
        </p:nvSpPr>
        <p:spPr>
          <a:xfrm>
            <a:off x="8890000" y="4445000"/>
            <a:ext cx="6096000" cy="571500"/>
          </a:xfrm>
          <a:prstGeom prst="rect">
            <a:avLst/>
          </a:prstGeom>
          <a:noFill/>
          <a:ln/>
        </p:spPr>
        <p:txBody>
          <a:bodyPr wrap="none" lIns="0" tIns="0" rIns="0" bIns="0" rtlCol="0" anchor="ctr"/>
          <a:lstStyle/>
          <a:p>
            <a:pPr algn="ctr">
              <a:lnSpc>
                <a:spcPct val="100000"/>
              </a:lnSpc>
            </a:pPr>
            <a:r>
              <a:rPr lang="en-US" sz="1500" dirty="0">
                <a:solidFill>
                  <a:srgbClr val="FF9F43"/>
                </a:solidFill>
                <a:latin typeface="Quattrocento Sans" pitchFamily="34" charset="0"/>
                <a:ea typeface="Quattrocento Sans" pitchFamily="34" charset="-122"/>
                <a:cs typeface="Quattrocento Sans" pitchFamily="34" charset="-120"/>
              </a:rPr>
              <a:t>2</a:t>
            </a:r>
            <a:r>
              <a:rPr lang="en-US" sz="1500" dirty="0">
                <a:solidFill>
                  <a:srgbClr val="FFFFFF"/>
                </a:solidFill>
                <a:latin typeface="Quattrocento Sans" pitchFamily="34" charset="0"/>
                <a:ea typeface="Quattrocento Sans" pitchFamily="34" charset="-122"/>
                <a:cs typeface="Quattrocento Sans" pitchFamily="34" charset="-120"/>
              </a:rPr>
              <a:t> Firebase sends OTP via SMS</a:t>
            </a:r>
            <a:endParaRPr lang="en-US" sz="1600" dirty="0"/>
          </a:p>
        </p:txBody>
      </p:sp>
      <p:sp>
        <p:nvSpPr>
          <p:cNvPr id="37" name="Shape 34"/>
          <p:cNvSpPr/>
          <p:nvPr/>
        </p:nvSpPr>
        <p:spPr>
          <a:xfrm>
            <a:off x="11874500" y="5016500"/>
            <a:ext cx="0" cy="254000"/>
          </a:xfrm>
          <a:prstGeom prst="straightConnector1">
            <a:avLst/>
          </a:prstGeom>
          <a:noFill/>
          <a:ln w="25400">
            <a:solidFill>
              <a:srgbClr val="FF9F43"/>
            </a:solidFill>
            <a:prstDash val="solid"/>
            <a:headEnd type="none"/>
            <a:tailEnd type="arrow"/>
          </a:ln>
        </p:spPr>
      </p:sp>
      <p:sp>
        <p:nvSpPr>
          <p:cNvPr id="38" name="Shape 35"/>
          <p:cNvSpPr/>
          <p:nvPr/>
        </p:nvSpPr>
        <p:spPr>
          <a:xfrm>
            <a:off x="8890000" y="5270500"/>
            <a:ext cx="6096000" cy="571500"/>
          </a:xfrm>
          <a:prstGeom prst="roundRect">
            <a:avLst>
              <a:gd name="adj" fmla="val 10000"/>
            </a:avLst>
          </a:prstGeom>
          <a:solidFill>
            <a:srgbClr val="3A1E1E"/>
          </a:solidFill>
          <a:ln w="12700">
            <a:solidFill>
              <a:srgbClr val="FF6B6B"/>
            </a:solidFill>
            <a:prstDash val="solid"/>
          </a:ln>
        </p:spPr>
      </p:sp>
      <p:sp>
        <p:nvSpPr>
          <p:cNvPr id="39" name="Text 36"/>
          <p:cNvSpPr/>
          <p:nvPr/>
        </p:nvSpPr>
        <p:spPr>
          <a:xfrm>
            <a:off x="8890000" y="5270500"/>
            <a:ext cx="6096000" cy="571500"/>
          </a:xfrm>
          <a:prstGeom prst="rect">
            <a:avLst/>
          </a:prstGeom>
          <a:noFill/>
          <a:ln/>
        </p:spPr>
        <p:txBody>
          <a:bodyPr wrap="none" lIns="0" tIns="0" rIns="0" bIns="0" rtlCol="0" anchor="ctr"/>
          <a:lstStyle/>
          <a:p>
            <a:pPr algn="ctr">
              <a:lnSpc>
                <a:spcPct val="100000"/>
              </a:lnSpc>
            </a:pPr>
            <a:r>
              <a:rPr lang="en-US" sz="1500" dirty="0">
                <a:solidFill>
                  <a:srgbClr val="FF6B6B"/>
                </a:solidFill>
                <a:latin typeface="Quattrocento Sans" pitchFamily="34" charset="0"/>
                <a:ea typeface="Quattrocento Sans" pitchFamily="34" charset="-122"/>
                <a:cs typeface="Quattrocento Sans" pitchFamily="34" charset="-120"/>
              </a:rPr>
              <a:t>3</a:t>
            </a:r>
            <a:r>
              <a:rPr lang="en-US" sz="1500" dirty="0">
                <a:solidFill>
                  <a:srgbClr val="FFFFFF"/>
                </a:solidFill>
                <a:latin typeface="Quattrocento Sans" pitchFamily="34" charset="0"/>
                <a:ea typeface="Quattrocento Sans" pitchFamily="34" charset="-122"/>
                <a:cs typeface="Quattrocento Sans" pitchFamily="34" charset="-120"/>
              </a:rPr>
              <a:t> Bluetooth MAP intercepts SMS</a:t>
            </a:r>
            <a:endParaRPr lang="en-US" sz="1600" dirty="0"/>
          </a:p>
        </p:txBody>
      </p:sp>
      <p:sp>
        <p:nvSpPr>
          <p:cNvPr id="40" name="Shape 37"/>
          <p:cNvSpPr/>
          <p:nvPr/>
        </p:nvSpPr>
        <p:spPr>
          <a:xfrm>
            <a:off x="11874500" y="5842000"/>
            <a:ext cx="0" cy="254000"/>
          </a:xfrm>
          <a:prstGeom prst="straightConnector1">
            <a:avLst/>
          </a:prstGeom>
          <a:noFill/>
          <a:ln w="25400">
            <a:solidFill>
              <a:srgbClr val="FF6B6B"/>
            </a:solidFill>
            <a:prstDash val="solid"/>
            <a:headEnd type="none"/>
            <a:tailEnd type="arrow"/>
          </a:ln>
        </p:spPr>
      </p:sp>
      <p:sp>
        <p:nvSpPr>
          <p:cNvPr id="41" name="Shape 38"/>
          <p:cNvSpPr/>
          <p:nvPr/>
        </p:nvSpPr>
        <p:spPr>
          <a:xfrm>
            <a:off x="8890000" y="6096000"/>
            <a:ext cx="6096000" cy="571500"/>
          </a:xfrm>
          <a:prstGeom prst="roundRect">
            <a:avLst>
              <a:gd name="adj" fmla="val 10000"/>
            </a:avLst>
          </a:prstGeom>
          <a:solidFill>
            <a:srgbClr val="0B1A3E"/>
          </a:solidFill>
          <a:ln w="12700">
            <a:solidFill>
              <a:srgbClr val="00D4FF"/>
            </a:solidFill>
            <a:prstDash val="solid"/>
          </a:ln>
        </p:spPr>
      </p:sp>
      <p:sp>
        <p:nvSpPr>
          <p:cNvPr id="42" name="Text 39"/>
          <p:cNvSpPr/>
          <p:nvPr/>
        </p:nvSpPr>
        <p:spPr>
          <a:xfrm>
            <a:off x="8890000" y="6096000"/>
            <a:ext cx="6096000" cy="571500"/>
          </a:xfrm>
          <a:prstGeom prst="rect">
            <a:avLst/>
          </a:prstGeom>
          <a:noFill/>
          <a:ln/>
        </p:spPr>
        <p:txBody>
          <a:bodyPr wrap="none" lIns="0" tIns="0" rIns="0" bIns="0" rtlCol="0" anchor="ctr"/>
          <a:lstStyle/>
          <a:p>
            <a:pPr algn="ctr">
              <a:lnSpc>
                <a:spcPct val="100000"/>
              </a:lnSpc>
            </a:pPr>
            <a:r>
              <a:rPr lang="en-US" sz="1500" dirty="0">
                <a:solidFill>
                  <a:srgbClr val="00D4FF"/>
                </a:solidFill>
                <a:latin typeface="Quattrocento Sans" pitchFamily="34" charset="0"/>
                <a:ea typeface="Quattrocento Sans" pitchFamily="34" charset="-122"/>
                <a:cs typeface="Quattrocento Sans" pitchFamily="34" charset="-120"/>
              </a:rPr>
              <a:t>4</a:t>
            </a:r>
            <a:r>
              <a:rPr lang="en-US" sz="1500" dirty="0">
                <a:solidFill>
                  <a:srgbClr val="FFFFFF"/>
                </a:solidFill>
                <a:latin typeface="Quattrocento Sans" pitchFamily="34" charset="0"/>
                <a:ea typeface="Quattrocento Sans" pitchFamily="34" charset="-122"/>
                <a:cs typeface="Quattrocento Sans" pitchFamily="34" charset="-120"/>
              </a:rPr>
              <a:t> Dashboard displays intercepted OTP</a:t>
            </a:r>
            <a:endParaRPr lang="en-US" sz="1600" dirty="0"/>
          </a:p>
        </p:txBody>
      </p:sp>
      <p:sp>
        <p:nvSpPr>
          <p:cNvPr id="43" name="Shape 40"/>
          <p:cNvSpPr/>
          <p:nvPr/>
        </p:nvSpPr>
        <p:spPr>
          <a:xfrm>
            <a:off x="11874500" y="6667500"/>
            <a:ext cx="0" cy="254000"/>
          </a:xfrm>
          <a:prstGeom prst="straightConnector1">
            <a:avLst/>
          </a:prstGeom>
          <a:noFill/>
          <a:ln w="25400">
            <a:solidFill>
              <a:srgbClr val="00D4FF"/>
            </a:solidFill>
            <a:prstDash val="solid"/>
            <a:headEnd type="none"/>
            <a:tailEnd type="arrow"/>
          </a:ln>
        </p:spPr>
      </p:sp>
      <p:sp>
        <p:nvSpPr>
          <p:cNvPr id="44" name="Shape 41"/>
          <p:cNvSpPr/>
          <p:nvPr/>
        </p:nvSpPr>
        <p:spPr>
          <a:xfrm>
            <a:off x="8890000" y="6921500"/>
            <a:ext cx="6096000" cy="571500"/>
          </a:xfrm>
          <a:prstGeom prst="roundRect">
            <a:avLst>
              <a:gd name="adj" fmla="val 10000"/>
            </a:avLst>
          </a:prstGeom>
          <a:solidFill>
            <a:srgbClr val="0B1A3E"/>
          </a:solidFill>
          <a:ln w="12700">
            <a:solidFill>
              <a:srgbClr val="FF6B6B"/>
            </a:solidFill>
            <a:prstDash val="solid"/>
          </a:ln>
        </p:spPr>
      </p:sp>
      <p:sp>
        <p:nvSpPr>
          <p:cNvPr id="45" name="Text 42"/>
          <p:cNvSpPr/>
          <p:nvPr/>
        </p:nvSpPr>
        <p:spPr>
          <a:xfrm>
            <a:off x="8890000" y="6921500"/>
            <a:ext cx="6096000" cy="571500"/>
          </a:xfrm>
          <a:prstGeom prst="rect">
            <a:avLst/>
          </a:prstGeom>
          <a:noFill/>
          <a:ln/>
        </p:spPr>
        <p:txBody>
          <a:bodyPr wrap="none" lIns="0" tIns="0" rIns="0" bIns="0" rtlCol="0" anchor="ctr"/>
          <a:lstStyle/>
          <a:p>
            <a:pPr algn="ctr">
              <a:lnSpc>
                <a:spcPct val="100000"/>
              </a:lnSpc>
            </a:pPr>
            <a:r>
              <a:rPr lang="en-US" sz="1500" dirty="0">
                <a:solidFill>
                  <a:srgbClr val="FF6B6B"/>
                </a:solidFill>
                <a:latin typeface="Quattrocento Sans" pitchFamily="34" charset="0"/>
                <a:ea typeface="Quattrocento Sans" pitchFamily="34" charset="-122"/>
                <a:cs typeface="Quattrocento Sans" pitchFamily="34" charset="-120"/>
              </a:rPr>
              <a:t>5</a:t>
            </a:r>
            <a:r>
              <a:rPr lang="en-US" sz="1500" dirty="0">
                <a:solidFill>
                  <a:srgbClr val="FFFFFF"/>
                </a:solidFill>
                <a:latin typeface="Quattrocento Sans" pitchFamily="34" charset="0"/>
                <a:ea typeface="Quattrocento Sans" pitchFamily="34" charset="-122"/>
                <a:cs typeface="Quattrocento Sans" pitchFamily="34" charset="-120"/>
              </a:rPr>
              <a:t> Attacker gains unauthorized access</a:t>
            </a:r>
            <a:endParaRPr lang="en-US" sz="1600" dirty="0"/>
          </a:p>
        </p:txBody>
      </p:sp>
      <p:sp>
        <p:nvSpPr>
          <p:cNvPr id="46" name="Shape 43"/>
          <p:cNvSpPr/>
          <p:nvPr/>
        </p:nvSpPr>
        <p:spPr>
          <a:xfrm>
            <a:off x="762000" y="8382000"/>
            <a:ext cx="14732000" cy="12700"/>
          </a:xfrm>
          <a:prstGeom prst="rect">
            <a:avLst/>
          </a:prstGeom>
          <a:solidFill>
            <a:srgbClr val="1E3A6E"/>
          </a:solidFill>
          <a:ln/>
        </p:spPr>
      </p:sp>
      <p:sp>
        <p:nvSpPr>
          <p:cNvPr id="47" name="Text 44"/>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48" name="Text 45"/>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11 / 18</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7886700" y="0"/>
            <a:ext cx="889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a:t>
            </a:r>
            <a:r>
              <a:rPr lang="en-US" sz="1200" kern="0" spc="100" dirty="0">
                <a:solidFill>
                  <a:srgbClr val="00D4FF"/>
                </a:solidFill>
                <a:latin typeface="Liter" pitchFamily="34" charset="0"/>
                <a:ea typeface="Liter" pitchFamily="34" charset="-122"/>
                <a:cs typeface="Liter" pitchFamily="34" charset="-120"/>
              </a:rPr>
              <a:t>PHASES</a:t>
            </a:r>
            <a:r>
              <a:rPr lang="en-US" sz="1200" kern="0" spc="100" dirty="0">
                <a:solidFill>
                  <a:srgbClr val="8B9DC3"/>
                </a:solidFill>
                <a:latin typeface="Liter" pitchFamily="34" charset="0"/>
                <a:ea typeface="Liter" pitchFamily="34" charset="-122"/>
                <a:cs typeface="Liter" pitchFamily="34" charset="-120"/>
              </a:rPr>
              <a:t> | CHALLENGES | SECURITY | RESULTS</a:t>
            </a:r>
            <a:endParaRPr lang="en-US" sz="1200" dirty="0"/>
          </a:p>
        </p:txBody>
      </p:sp>
      <p:sp>
        <p:nvSpPr>
          <p:cNvPr id="6"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Phase 5 – Flask Dashboard</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13716000" y="698500"/>
            <a:ext cx="1778000" cy="457200"/>
          </a:xfrm>
          <a:prstGeom prst="roundRect">
            <a:avLst>
              <a:gd name="adj" fmla="val 16000"/>
            </a:avLst>
          </a:prstGeom>
          <a:solidFill>
            <a:srgbClr val="00D4FF"/>
          </a:solidFill>
          <a:ln/>
        </p:spPr>
      </p:sp>
      <p:sp>
        <p:nvSpPr>
          <p:cNvPr id="9" name="Text 6"/>
          <p:cNvSpPr/>
          <p:nvPr/>
        </p:nvSpPr>
        <p:spPr>
          <a:xfrm>
            <a:off x="13716000" y="698500"/>
            <a:ext cx="1778000" cy="457200"/>
          </a:xfrm>
          <a:prstGeom prst="rect">
            <a:avLst/>
          </a:prstGeom>
          <a:noFill/>
          <a:ln/>
        </p:spPr>
        <p:txBody>
          <a:bodyPr wrap="none" lIns="0" tIns="0" rIns="0" bIns="0" rtlCol="0" anchor="ctr"/>
          <a:lstStyle/>
          <a:p>
            <a:pPr algn="ctr">
              <a:lnSpc>
                <a:spcPct val="100000"/>
              </a:lnSpc>
            </a:pPr>
            <a:r>
              <a:rPr lang="en-US" sz="1400" b="1" dirty="0">
                <a:solidFill>
                  <a:srgbClr val="060D1F"/>
                </a:solidFill>
                <a:latin typeface="Liter" pitchFamily="34" charset="0"/>
                <a:ea typeface="Liter" pitchFamily="34" charset="-122"/>
                <a:cs typeface="Liter" pitchFamily="34" charset="-120"/>
              </a:rPr>
              <a:t>PHASE 5 / 5</a:t>
            </a:r>
            <a:endParaRPr lang="en-US" sz="1600" dirty="0"/>
          </a:p>
        </p:txBody>
      </p:sp>
      <p:sp>
        <p:nvSpPr>
          <p:cNvPr id="10" name="Shape 7"/>
          <p:cNvSpPr/>
          <p:nvPr/>
        </p:nvSpPr>
        <p:spPr>
          <a:xfrm>
            <a:off x="762000" y="1587500"/>
            <a:ext cx="7112000" cy="152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1" name="Shape 8"/>
          <p:cNvSpPr/>
          <p:nvPr/>
        </p:nvSpPr>
        <p:spPr>
          <a:xfrm>
            <a:off x="1047750" y="1968500"/>
            <a:ext cx="571500" cy="508000"/>
          </a:xfrm>
          <a:custGeom>
            <a:avLst/>
            <a:gdLst/>
            <a:ahLst/>
            <a:cxnLst/>
            <a:rect l="l" t="t" r="r" b="b"/>
            <a:pathLst>
              <a:path w="571500" h="508000">
                <a:moveTo>
                  <a:pt x="285750" y="31750"/>
                </a:moveTo>
                <a:cubicBezTo>
                  <a:pt x="205581" y="31750"/>
                  <a:pt x="141387" y="68263"/>
                  <a:pt x="94655" y="111720"/>
                </a:cubicBezTo>
                <a:cubicBezTo>
                  <a:pt x="48220" y="154880"/>
                  <a:pt x="17165" y="206375"/>
                  <a:pt x="2381" y="241796"/>
                </a:cubicBezTo>
                <a:cubicBezTo>
                  <a:pt x="-893" y="249634"/>
                  <a:pt x="-893" y="258366"/>
                  <a:pt x="2381" y="266204"/>
                </a:cubicBezTo>
                <a:cubicBezTo>
                  <a:pt x="17165" y="301625"/>
                  <a:pt x="48220" y="353219"/>
                  <a:pt x="94655" y="396280"/>
                </a:cubicBezTo>
                <a:cubicBezTo>
                  <a:pt x="141387" y="439638"/>
                  <a:pt x="205581" y="476250"/>
                  <a:pt x="285750" y="476250"/>
                </a:cubicBezTo>
                <a:cubicBezTo>
                  <a:pt x="365919" y="476250"/>
                  <a:pt x="430113" y="439737"/>
                  <a:pt x="476845" y="396280"/>
                </a:cubicBezTo>
                <a:cubicBezTo>
                  <a:pt x="523280" y="353120"/>
                  <a:pt x="554335" y="301625"/>
                  <a:pt x="569119" y="266204"/>
                </a:cubicBezTo>
                <a:cubicBezTo>
                  <a:pt x="572393" y="258366"/>
                  <a:pt x="572393" y="249634"/>
                  <a:pt x="569119" y="241796"/>
                </a:cubicBezTo>
                <a:cubicBezTo>
                  <a:pt x="554335" y="206375"/>
                  <a:pt x="523280" y="154781"/>
                  <a:pt x="476845" y="111720"/>
                </a:cubicBezTo>
                <a:cubicBezTo>
                  <a:pt x="430113" y="68362"/>
                  <a:pt x="365919" y="31750"/>
                  <a:pt x="285750" y="31750"/>
                </a:cubicBezTo>
                <a:close/>
                <a:moveTo>
                  <a:pt x="142875" y="254000"/>
                </a:moveTo>
                <a:cubicBezTo>
                  <a:pt x="142875" y="175145"/>
                  <a:pt x="206895" y="111125"/>
                  <a:pt x="285750" y="111125"/>
                </a:cubicBezTo>
                <a:cubicBezTo>
                  <a:pt x="364605" y="111125"/>
                  <a:pt x="428625" y="175145"/>
                  <a:pt x="428625" y="254000"/>
                </a:cubicBezTo>
                <a:cubicBezTo>
                  <a:pt x="428625" y="332855"/>
                  <a:pt x="364605" y="396875"/>
                  <a:pt x="285750" y="396875"/>
                </a:cubicBezTo>
                <a:cubicBezTo>
                  <a:pt x="206895" y="396875"/>
                  <a:pt x="142875" y="332855"/>
                  <a:pt x="142875" y="254000"/>
                </a:cubicBezTo>
                <a:close/>
                <a:moveTo>
                  <a:pt x="285750" y="190500"/>
                </a:moveTo>
                <a:cubicBezTo>
                  <a:pt x="285750" y="225524"/>
                  <a:pt x="257274" y="254000"/>
                  <a:pt x="222250" y="254000"/>
                </a:cubicBezTo>
                <a:cubicBezTo>
                  <a:pt x="210840" y="254000"/>
                  <a:pt x="200124" y="251023"/>
                  <a:pt x="190798" y="245666"/>
                </a:cubicBezTo>
                <a:cubicBezTo>
                  <a:pt x="189805" y="256480"/>
                  <a:pt x="190698" y="267593"/>
                  <a:pt x="193675" y="278606"/>
                </a:cubicBezTo>
                <a:cubicBezTo>
                  <a:pt x="207268" y="329406"/>
                  <a:pt x="259556" y="359569"/>
                  <a:pt x="310356" y="345976"/>
                </a:cubicBezTo>
                <a:cubicBezTo>
                  <a:pt x="361156" y="332383"/>
                  <a:pt x="391319" y="280095"/>
                  <a:pt x="377726" y="229295"/>
                </a:cubicBezTo>
                <a:cubicBezTo>
                  <a:pt x="365621" y="183952"/>
                  <a:pt x="322659" y="155079"/>
                  <a:pt x="277416" y="159048"/>
                </a:cubicBezTo>
                <a:cubicBezTo>
                  <a:pt x="282674" y="168275"/>
                  <a:pt x="285750" y="178991"/>
                  <a:pt x="285750" y="190500"/>
                </a:cubicBezTo>
                <a:close/>
              </a:path>
            </a:pathLst>
          </a:custGeom>
          <a:solidFill>
            <a:srgbClr val="00D4FF"/>
          </a:solidFill>
          <a:ln/>
        </p:spPr>
      </p:sp>
      <p:sp>
        <p:nvSpPr>
          <p:cNvPr id="12" name="Text 9"/>
          <p:cNvSpPr/>
          <p:nvPr/>
        </p:nvSpPr>
        <p:spPr>
          <a:xfrm>
            <a:off x="1841500" y="1841500"/>
            <a:ext cx="5715000" cy="10795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Real-Time Event Display</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Live visualization of intercepted SMS messages as they arrive on the target device</a:t>
            </a:r>
            <a:endParaRPr lang="en-US" sz="1600" dirty="0"/>
          </a:p>
        </p:txBody>
      </p:sp>
      <p:sp>
        <p:nvSpPr>
          <p:cNvPr id="13" name="Shape 10"/>
          <p:cNvSpPr/>
          <p:nvPr/>
        </p:nvSpPr>
        <p:spPr>
          <a:xfrm>
            <a:off x="8382000" y="1587500"/>
            <a:ext cx="7112000" cy="152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4" name="Shape 11"/>
          <p:cNvSpPr/>
          <p:nvPr/>
        </p:nvSpPr>
        <p:spPr>
          <a:xfrm>
            <a:off x="8699500" y="1968500"/>
            <a:ext cx="508000" cy="508000"/>
          </a:xfrm>
          <a:custGeom>
            <a:avLst/>
            <a:gdLst/>
            <a:ahLst/>
            <a:cxnLst/>
            <a:rect l="l" t="t" r="r" b="b"/>
            <a:pathLst>
              <a:path w="508000" h="508000">
                <a:moveTo>
                  <a:pt x="254000" y="0"/>
                </a:moveTo>
                <a:cubicBezTo>
                  <a:pt x="394186" y="0"/>
                  <a:pt x="508000" y="113814"/>
                  <a:pt x="508000" y="254000"/>
                </a:cubicBezTo>
                <a:cubicBezTo>
                  <a:pt x="508000" y="394186"/>
                  <a:pt x="394186" y="508000"/>
                  <a:pt x="254000" y="508000"/>
                </a:cubicBezTo>
                <a:cubicBezTo>
                  <a:pt x="113814" y="508000"/>
                  <a:pt x="0" y="394186"/>
                  <a:pt x="0" y="254000"/>
                </a:cubicBezTo>
                <a:cubicBezTo>
                  <a:pt x="0" y="113814"/>
                  <a:pt x="113814" y="0"/>
                  <a:pt x="254000" y="0"/>
                </a:cubicBezTo>
                <a:close/>
                <a:moveTo>
                  <a:pt x="230188" y="119063"/>
                </a:moveTo>
                <a:lnTo>
                  <a:pt x="230188" y="254000"/>
                </a:lnTo>
                <a:cubicBezTo>
                  <a:pt x="230188" y="261937"/>
                  <a:pt x="234156" y="269379"/>
                  <a:pt x="240804" y="273844"/>
                </a:cubicBezTo>
                <a:lnTo>
                  <a:pt x="336054" y="337344"/>
                </a:lnTo>
                <a:cubicBezTo>
                  <a:pt x="346968" y="344686"/>
                  <a:pt x="361752" y="341709"/>
                  <a:pt x="369094" y="330696"/>
                </a:cubicBezTo>
                <a:cubicBezTo>
                  <a:pt x="376436" y="319683"/>
                  <a:pt x="373459" y="304998"/>
                  <a:pt x="362446" y="297656"/>
                </a:cubicBezTo>
                <a:lnTo>
                  <a:pt x="277813" y="241300"/>
                </a:lnTo>
                <a:lnTo>
                  <a:pt x="277813" y="119063"/>
                </a:lnTo>
                <a:cubicBezTo>
                  <a:pt x="277813" y="105866"/>
                  <a:pt x="267196" y="95250"/>
                  <a:pt x="254000" y="95250"/>
                </a:cubicBezTo>
                <a:cubicBezTo>
                  <a:pt x="240804" y="95250"/>
                  <a:pt x="230188" y="105866"/>
                  <a:pt x="230188" y="119063"/>
                </a:cubicBezTo>
                <a:close/>
              </a:path>
            </a:pathLst>
          </a:custGeom>
          <a:solidFill>
            <a:srgbClr val="00D4FF"/>
          </a:solidFill>
          <a:ln/>
        </p:spPr>
      </p:sp>
      <p:sp>
        <p:nvSpPr>
          <p:cNvPr id="15" name="Text 12"/>
          <p:cNvSpPr/>
          <p:nvPr/>
        </p:nvSpPr>
        <p:spPr>
          <a:xfrm>
            <a:off x="9461500" y="1841500"/>
            <a:ext cx="5715000" cy="10795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Timestamp Logging</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Accurate time tracking for each intercepted message and security event</a:t>
            </a:r>
            <a:endParaRPr lang="en-US" sz="1600" dirty="0"/>
          </a:p>
        </p:txBody>
      </p:sp>
      <p:sp>
        <p:nvSpPr>
          <p:cNvPr id="16" name="Shape 13"/>
          <p:cNvSpPr/>
          <p:nvPr/>
        </p:nvSpPr>
        <p:spPr>
          <a:xfrm>
            <a:off x="762000" y="3429000"/>
            <a:ext cx="7112000" cy="152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7" name="Shape 14"/>
          <p:cNvSpPr/>
          <p:nvPr/>
        </p:nvSpPr>
        <p:spPr>
          <a:xfrm>
            <a:off x="1079500" y="3810000"/>
            <a:ext cx="508000" cy="508000"/>
          </a:xfrm>
          <a:custGeom>
            <a:avLst/>
            <a:gdLst/>
            <a:ahLst/>
            <a:cxnLst/>
            <a:rect l="l" t="t" r="r" b="b"/>
            <a:pathLst>
              <a:path w="508000" h="508000">
                <a:moveTo>
                  <a:pt x="47625" y="63500"/>
                </a:moveTo>
                <a:cubicBezTo>
                  <a:pt x="21332" y="63500"/>
                  <a:pt x="0" y="84832"/>
                  <a:pt x="0" y="111125"/>
                </a:cubicBezTo>
                <a:cubicBezTo>
                  <a:pt x="0" y="126107"/>
                  <a:pt x="7045" y="140196"/>
                  <a:pt x="19050" y="149225"/>
                </a:cubicBezTo>
                <a:lnTo>
                  <a:pt x="225425" y="304006"/>
                </a:lnTo>
                <a:cubicBezTo>
                  <a:pt x="242391" y="316706"/>
                  <a:pt x="265609" y="316706"/>
                  <a:pt x="282575" y="304006"/>
                </a:cubicBezTo>
                <a:lnTo>
                  <a:pt x="488950" y="149225"/>
                </a:lnTo>
                <a:cubicBezTo>
                  <a:pt x="500955" y="140196"/>
                  <a:pt x="508000" y="126107"/>
                  <a:pt x="508000" y="111125"/>
                </a:cubicBezTo>
                <a:cubicBezTo>
                  <a:pt x="508000" y="84832"/>
                  <a:pt x="486668" y="63500"/>
                  <a:pt x="460375" y="63500"/>
                </a:cubicBezTo>
                <a:lnTo>
                  <a:pt x="47625" y="63500"/>
                </a:lnTo>
                <a:close/>
                <a:moveTo>
                  <a:pt x="0" y="194469"/>
                </a:moveTo>
                <a:lnTo>
                  <a:pt x="0" y="381000"/>
                </a:lnTo>
                <a:cubicBezTo>
                  <a:pt x="0" y="416024"/>
                  <a:pt x="28476" y="444500"/>
                  <a:pt x="63500" y="444500"/>
                </a:cubicBezTo>
                <a:lnTo>
                  <a:pt x="444500" y="444500"/>
                </a:lnTo>
                <a:cubicBezTo>
                  <a:pt x="479524" y="444500"/>
                  <a:pt x="508000" y="416024"/>
                  <a:pt x="508000" y="381000"/>
                </a:cubicBezTo>
                <a:lnTo>
                  <a:pt x="508000" y="194469"/>
                </a:lnTo>
                <a:lnTo>
                  <a:pt x="311150" y="342106"/>
                </a:lnTo>
                <a:cubicBezTo>
                  <a:pt x="277316" y="367506"/>
                  <a:pt x="230684" y="367506"/>
                  <a:pt x="196850" y="342106"/>
                </a:cubicBezTo>
                <a:lnTo>
                  <a:pt x="0" y="194469"/>
                </a:lnTo>
                <a:close/>
              </a:path>
            </a:pathLst>
          </a:custGeom>
          <a:solidFill>
            <a:srgbClr val="00D4FF"/>
          </a:solidFill>
          <a:ln/>
        </p:spPr>
      </p:sp>
      <p:sp>
        <p:nvSpPr>
          <p:cNvPr id="18" name="Text 15"/>
          <p:cNvSpPr/>
          <p:nvPr/>
        </p:nvSpPr>
        <p:spPr>
          <a:xfrm>
            <a:off x="1841500" y="3683000"/>
            <a:ext cx="5715000" cy="10795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SMS Activity Monitoring</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Message counters, sender identification, and content preview tracking</a:t>
            </a:r>
            <a:endParaRPr lang="en-US" sz="1600" dirty="0"/>
          </a:p>
        </p:txBody>
      </p:sp>
      <p:sp>
        <p:nvSpPr>
          <p:cNvPr id="19" name="Shape 16"/>
          <p:cNvSpPr/>
          <p:nvPr/>
        </p:nvSpPr>
        <p:spPr>
          <a:xfrm>
            <a:off x="8382000" y="3429000"/>
            <a:ext cx="7112000" cy="1524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0" name="Shape 17"/>
          <p:cNvSpPr/>
          <p:nvPr/>
        </p:nvSpPr>
        <p:spPr>
          <a:xfrm>
            <a:off x="8667750" y="3810000"/>
            <a:ext cx="571500" cy="508000"/>
          </a:xfrm>
          <a:custGeom>
            <a:avLst/>
            <a:gdLst/>
            <a:ahLst/>
            <a:cxnLst/>
            <a:rect l="l" t="t" r="r" b="b"/>
            <a:pathLst>
              <a:path w="571500" h="508000">
                <a:moveTo>
                  <a:pt x="508397" y="238125"/>
                </a:moveTo>
                <a:lnTo>
                  <a:pt x="333772" y="238125"/>
                </a:lnTo>
                <a:cubicBezTo>
                  <a:pt x="316210" y="238125"/>
                  <a:pt x="302022" y="223937"/>
                  <a:pt x="302022" y="206375"/>
                </a:cubicBezTo>
                <a:lnTo>
                  <a:pt x="302022" y="31750"/>
                </a:lnTo>
                <a:cubicBezTo>
                  <a:pt x="302022" y="14188"/>
                  <a:pt x="316309" y="-198"/>
                  <a:pt x="333673" y="2084"/>
                </a:cubicBezTo>
                <a:cubicBezTo>
                  <a:pt x="439837" y="16173"/>
                  <a:pt x="523974" y="100310"/>
                  <a:pt x="538063" y="206474"/>
                </a:cubicBezTo>
                <a:cubicBezTo>
                  <a:pt x="540345" y="223838"/>
                  <a:pt x="525959" y="238125"/>
                  <a:pt x="508397" y="238125"/>
                </a:cubicBezTo>
                <a:close/>
                <a:moveTo>
                  <a:pt x="220861" y="36909"/>
                </a:moveTo>
                <a:cubicBezTo>
                  <a:pt x="238820" y="33139"/>
                  <a:pt x="254397" y="47823"/>
                  <a:pt x="254397" y="66179"/>
                </a:cubicBezTo>
                <a:lnTo>
                  <a:pt x="254397" y="261937"/>
                </a:lnTo>
                <a:cubicBezTo>
                  <a:pt x="254397" y="267494"/>
                  <a:pt x="256381" y="272852"/>
                  <a:pt x="259854" y="277118"/>
                </a:cubicBezTo>
                <a:lnTo>
                  <a:pt x="390922" y="435273"/>
                </a:lnTo>
                <a:cubicBezTo>
                  <a:pt x="402530" y="449263"/>
                  <a:pt x="400050" y="470396"/>
                  <a:pt x="384076" y="479028"/>
                </a:cubicBezTo>
                <a:cubicBezTo>
                  <a:pt x="350242" y="497483"/>
                  <a:pt x="311448" y="508000"/>
                  <a:pt x="270272" y="508000"/>
                </a:cubicBezTo>
                <a:cubicBezTo>
                  <a:pt x="138807" y="508000"/>
                  <a:pt x="32147" y="401340"/>
                  <a:pt x="32147" y="269875"/>
                </a:cubicBezTo>
                <a:cubicBezTo>
                  <a:pt x="32147" y="155277"/>
                  <a:pt x="113010" y="59630"/>
                  <a:pt x="220861" y="36909"/>
                </a:cubicBezTo>
                <a:close/>
                <a:moveTo>
                  <a:pt x="474067" y="285750"/>
                </a:moveTo>
                <a:lnTo>
                  <a:pt x="537567" y="285750"/>
                </a:lnTo>
                <a:cubicBezTo>
                  <a:pt x="555923" y="285750"/>
                  <a:pt x="570607" y="301327"/>
                  <a:pt x="566837" y="319286"/>
                </a:cubicBezTo>
                <a:cubicBezTo>
                  <a:pt x="556716" y="367308"/>
                  <a:pt x="532110" y="409972"/>
                  <a:pt x="497780" y="442516"/>
                </a:cubicBezTo>
                <a:cubicBezTo>
                  <a:pt x="485577" y="454124"/>
                  <a:pt x="466427" y="451644"/>
                  <a:pt x="455712" y="438646"/>
                </a:cubicBezTo>
                <a:lnTo>
                  <a:pt x="371971" y="337741"/>
                </a:lnTo>
                <a:cubicBezTo>
                  <a:pt x="354806" y="317004"/>
                  <a:pt x="369590" y="285750"/>
                  <a:pt x="396379" y="285750"/>
                </a:cubicBezTo>
                <a:lnTo>
                  <a:pt x="473968" y="285750"/>
                </a:lnTo>
                <a:close/>
              </a:path>
            </a:pathLst>
          </a:custGeom>
          <a:solidFill>
            <a:srgbClr val="00D4FF"/>
          </a:solidFill>
          <a:ln/>
        </p:spPr>
      </p:sp>
      <p:sp>
        <p:nvSpPr>
          <p:cNvPr id="21" name="Text 18"/>
          <p:cNvSpPr/>
          <p:nvPr/>
        </p:nvSpPr>
        <p:spPr>
          <a:xfrm>
            <a:off x="9461500" y="3683000"/>
            <a:ext cx="5715000" cy="10795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Security Analysis Dashboard</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Threat metrics, risk assessment, and vulnerability scoring display</a:t>
            </a:r>
            <a:endParaRPr lang="en-US" sz="1600" dirty="0"/>
          </a:p>
        </p:txBody>
      </p:sp>
      <p:sp>
        <p:nvSpPr>
          <p:cNvPr id="22" name="Shape 19"/>
          <p:cNvSpPr/>
          <p:nvPr/>
        </p:nvSpPr>
        <p:spPr>
          <a:xfrm>
            <a:off x="762000" y="5270500"/>
            <a:ext cx="14732000" cy="2794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3" name="Text 20"/>
          <p:cNvSpPr/>
          <p:nvPr/>
        </p:nvSpPr>
        <p:spPr>
          <a:xfrm>
            <a:off x="1079500" y="5461000"/>
            <a:ext cx="508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Technical Implementation</a:t>
            </a:r>
            <a:endParaRPr lang="en-US" sz="2200" dirty="0"/>
          </a:p>
        </p:txBody>
      </p:sp>
      <p:sp>
        <p:nvSpPr>
          <p:cNvPr id="24" name="Text 21"/>
          <p:cNvSpPr/>
          <p:nvPr/>
        </p:nvSpPr>
        <p:spPr>
          <a:xfrm>
            <a:off x="1079500" y="5905500"/>
            <a:ext cx="6858000" cy="1905000"/>
          </a:xfrm>
          <a:prstGeom prst="rect">
            <a:avLst/>
          </a:prstGeom>
          <a:noFill/>
          <a:ln/>
        </p:spPr>
        <p:txBody>
          <a:bodyPr wrap="square" lIns="0" tIns="0" rIns="0" bIns="0" rtlCol="0" anchor="t"/>
          <a:lstStyle/>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Built with Python Flask framework</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HTTP JSON communication with mapAccountHijack</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WebSocket-like real-time updates</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Visual timeline of intercepted messages</a:t>
            </a:r>
            <a:endParaRPr lang="en-US" sz="1600" dirty="0"/>
          </a:p>
        </p:txBody>
      </p:sp>
      <p:sp>
        <p:nvSpPr>
          <p:cNvPr id="25" name="Text 22"/>
          <p:cNvSpPr/>
          <p:nvPr/>
        </p:nvSpPr>
        <p:spPr>
          <a:xfrm>
            <a:off x="8382000" y="5905500"/>
            <a:ext cx="6858000" cy="1905000"/>
          </a:xfrm>
          <a:prstGeom prst="rect">
            <a:avLst/>
          </a:prstGeom>
          <a:noFill/>
          <a:ln/>
        </p:spPr>
        <p:txBody>
          <a:bodyPr wrap="square" lIns="0" tIns="0" rIns="0" bIns="0" rtlCol="0" anchor="t"/>
          <a:lstStyle/>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Security metrics and threat analysis</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Responsive web interface design</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Event filtering and search capability</a:t>
            </a:r>
            <a:endParaRPr lang="en-US" sz="1600" dirty="0"/>
          </a:p>
          <a:p>
            <a:pPr>
              <a:lnSpc>
                <a:spcPct val="160000"/>
              </a:lnSpc>
            </a:pPr>
            <a:r>
              <a:rPr lang="en-US" sz="1600" dirty="0">
                <a:solidFill>
                  <a:srgbClr val="00D4FF"/>
                </a:solidFill>
                <a:latin typeface="Quattrocento Sans" pitchFamily="34" charset="0"/>
                <a:ea typeface="Quattrocento Sans" pitchFamily="34" charset="-122"/>
                <a:cs typeface="Quattrocento Sans" pitchFamily="34" charset="-120"/>
              </a:rPr>
              <a:t>●</a:t>
            </a:r>
            <a:r>
              <a:rPr lang="en-US" sz="1600" dirty="0">
                <a:solidFill>
                  <a:srgbClr val="E8EDF5"/>
                </a:solidFill>
                <a:latin typeface="Quattrocento Sans" pitchFamily="34" charset="0"/>
                <a:ea typeface="Quattrocento Sans" pitchFamily="34" charset="-122"/>
                <a:cs typeface="Quattrocento Sans" pitchFamily="34" charset="-120"/>
              </a:rPr>
              <a:t> Export functionality for reports</a:t>
            </a:r>
            <a:endParaRPr lang="en-US" sz="1600" dirty="0"/>
          </a:p>
        </p:txBody>
      </p:sp>
      <p:sp>
        <p:nvSpPr>
          <p:cNvPr id="26" name="Shape 23"/>
          <p:cNvSpPr/>
          <p:nvPr/>
        </p:nvSpPr>
        <p:spPr>
          <a:xfrm>
            <a:off x="762000" y="8382000"/>
            <a:ext cx="14732000" cy="12700"/>
          </a:xfrm>
          <a:prstGeom prst="rect">
            <a:avLst/>
          </a:prstGeom>
          <a:solidFill>
            <a:srgbClr val="1E3A6E"/>
          </a:solidFill>
          <a:ln/>
        </p:spPr>
      </p:sp>
      <p:sp>
        <p:nvSpPr>
          <p:cNvPr id="27" name="Text 24"/>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28" name="Text 25"/>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12 / 18</a:t>
            </a:r>
            <a:endParaRPr lang="en-US" sz="1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8775700" y="0"/>
            <a:ext cx="1270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PHASES | </a:t>
            </a:r>
            <a:r>
              <a:rPr lang="en-US" sz="1200" kern="0" spc="100" dirty="0">
                <a:solidFill>
                  <a:srgbClr val="00D4FF"/>
                </a:solidFill>
                <a:latin typeface="Liter" pitchFamily="34" charset="0"/>
                <a:ea typeface="Liter" pitchFamily="34" charset="-122"/>
                <a:cs typeface="Liter" pitchFamily="34" charset="-120"/>
              </a:rPr>
              <a:t>CHALLENGES</a:t>
            </a:r>
            <a:r>
              <a:rPr lang="en-US" sz="1200" kern="0" spc="100" dirty="0">
                <a:solidFill>
                  <a:srgbClr val="8B9DC3"/>
                </a:solidFill>
                <a:latin typeface="Liter" pitchFamily="34" charset="0"/>
                <a:ea typeface="Liter" pitchFamily="34" charset="-122"/>
                <a:cs typeface="Liter" pitchFamily="34" charset="-120"/>
              </a:rPr>
              <a:t> | SECURITY | RESULTS</a:t>
            </a:r>
            <a:endParaRPr lang="en-US" sz="1200" dirty="0"/>
          </a:p>
        </p:txBody>
      </p:sp>
      <p:sp>
        <p:nvSpPr>
          <p:cNvPr id="6" name="Text 3"/>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Problems Faced During Development (Part 1)</a:t>
            </a:r>
            <a:endParaRPr lang="en-US" sz="3000" dirty="0"/>
          </a:p>
        </p:txBody>
      </p:sp>
      <p:sp>
        <p:nvSpPr>
          <p:cNvPr id="7" name="Shape 4"/>
          <p:cNvSpPr/>
          <p:nvPr/>
        </p:nvSpPr>
        <p:spPr>
          <a:xfrm>
            <a:off x="762000" y="1270000"/>
            <a:ext cx="1016000" cy="38100"/>
          </a:xfrm>
          <a:prstGeom prst="rect">
            <a:avLst/>
          </a:prstGeom>
          <a:solidFill>
            <a:srgbClr val="00D4F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2000" y="1587500"/>
          <a:ext cx="14732000" cy="6477000"/>
        </p:xfrm>
        <a:graphic>
          <a:graphicData uri="http://schemas.openxmlformats.org/drawingml/2006/table">
            <a:tbl>
              <a:tblPr/>
              <a:tblGrid>
                <a:gridCol w="736600">
                  <a:extLst>
                    <a:ext uri="{9D8B030D-6E8A-4147-A177-3AD203B41FA5}">
                      <a16:colId xmlns:a16="http://schemas.microsoft.com/office/drawing/2014/main" val="20000"/>
                    </a:ext>
                  </a:extLst>
                </a:gridCol>
                <a:gridCol w="3241040">
                  <a:extLst>
                    <a:ext uri="{9D8B030D-6E8A-4147-A177-3AD203B41FA5}">
                      <a16:colId xmlns:a16="http://schemas.microsoft.com/office/drawing/2014/main" val="20001"/>
                    </a:ext>
                  </a:extLst>
                </a:gridCol>
                <a:gridCol w="4124960">
                  <a:extLst>
                    <a:ext uri="{9D8B030D-6E8A-4147-A177-3AD203B41FA5}">
                      <a16:colId xmlns:a16="http://schemas.microsoft.com/office/drawing/2014/main" val="20002"/>
                    </a:ext>
                  </a:extLst>
                </a:gridCol>
                <a:gridCol w="6629400">
                  <a:extLst>
                    <a:ext uri="{9D8B030D-6E8A-4147-A177-3AD203B41FA5}">
                      <a16:colId xmlns:a16="http://schemas.microsoft.com/office/drawing/2014/main" val="20003"/>
                    </a:ext>
                  </a:extLst>
                </a:gridCol>
              </a:tblGrid>
              <a:tr h="64643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Problem</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Cause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Solution</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extLst>
                  <a:ext uri="{0D108BD9-81ED-4DB2-BD59-A6C34878D82A}">
                    <a16:rowId xmlns:a16="http://schemas.microsoft.com/office/drawing/2014/main" val="10000"/>
                  </a:ext>
                </a:extLst>
              </a:tr>
              <a:tr h="145764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1</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Bluetooth Adapter Not Detected</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VirtualBox USB passthrough failure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Installed VirtualBox Extension Pack and manually attached adapter</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extLst>
                  <a:ext uri="{0D108BD9-81ED-4DB2-BD59-A6C34878D82A}">
                    <a16:rowId xmlns:a16="http://schemas.microsoft.com/office/drawing/2014/main" val="10001"/>
                  </a:ext>
                </a:extLst>
              </a:tr>
              <a:tr h="145764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2</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Device Not Available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Phone not discoverable or paired</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Enabled discoverability and paired using bluetoothctl</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extLst>
                  <a:ext uri="{0D108BD9-81ED-4DB2-BD59-A6C34878D82A}">
                    <a16:rowId xmlns:a16="http://schemas.microsoft.com/office/drawing/2014/main" val="10002"/>
                  </a:ext>
                </a:extLst>
              </a:tr>
              <a:tr h="145764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3</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Python Dependency Errors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Kali Linux package restrictions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Created virtual environment and installed dependencies manually</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extLst>
                  <a:ext uri="{0D108BD9-81ED-4DB2-BD59-A6C34878D82A}">
                    <a16:rowId xmlns:a16="http://schemas.microsoft.com/office/drawing/2014/main" val="10003"/>
                  </a:ext>
                </a:extLst>
              </a:tr>
              <a:tr h="145764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4</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MAP Tool Installation Issues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Python compatibility and missing modules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Installed required modules and adjusted environment</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extLst>
                  <a:ext uri="{0D108BD9-81ED-4DB2-BD59-A6C34878D82A}">
                    <a16:rowId xmlns:a16="http://schemas.microsoft.com/office/drawing/2014/main" val="10004"/>
                  </a:ext>
                </a:extLst>
              </a:tr>
            </a:tbl>
          </a:graphicData>
        </a:graphic>
      </p:graphicFrame>
      <p:sp>
        <p:nvSpPr>
          <p:cNvPr id="9" name="Shape 5"/>
          <p:cNvSpPr/>
          <p:nvPr/>
        </p:nvSpPr>
        <p:spPr>
          <a:xfrm>
            <a:off x="762000" y="8382000"/>
            <a:ext cx="14732000" cy="12700"/>
          </a:xfrm>
          <a:prstGeom prst="rect">
            <a:avLst/>
          </a:prstGeom>
          <a:solidFill>
            <a:srgbClr val="1E3A6E"/>
          </a:solidFill>
          <a:ln/>
        </p:spPr>
      </p:sp>
      <p:sp>
        <p:nvSpPr>
          <p:cNvPr id="10" name="Text 6"/>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11" name="Text 7"/>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13 / 18</a:t>
            </a:r>
            <a:endParaRPr lang="en-US" sz="1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8775700" y="0"/>
            <a:ext cx="1270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PHASES | </a:t>
            </a:r>
            <a:r>
              <a:rPr lang="en-US" sz="1200" kern="0" spc="100" dirty="0">
                <a:solidFill>
                  <a:srgbClr val="00D4FF"/>
                </a:solidFill>
                <a:latin typeface="Liter" pitchFamily="34" charset="0"/>
                <a:ea typeface="Liter" pitchFamily="34" charset="-122"/>
                <a:cs typeface="Liter" pitchFamily="34" charset="-120"/>
              </a:rPr>
              <a:t>CHALLENGES</a:t>
            </a:r>
            <a:r>
              <a:rPr lang="en-US" sz="1200" kern="0" spc="100" dirty="0">
                <a:solidFill>
                  <a:srgbClr val="8B9DC3"/>
                </a:solidFill>
                <a:latin typeface="Liter" pitchFamily="34" charset="0"/>
                <a:ea typeface="Liter" pitchFamily="34" charset="-122"/>
                <a:cs typeface="Liter" pitchFamily="34" charset="-120"/>
              </a:rPr>
              <a:t> | SECURITY | RESULTS</a:t>
            </a:r>
            <a:endParaRPr lang="en-US" sz="1200" dirty="0"/>
          </a:p>
        </p:txBody>
      </p:sp>
      <p:sp>
        <p:nvSpPr>
          <p:cNvPr id="6" name="Text 3"/>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Problems Faced During Development (Part 2)</a:t>
            </a:r>
            <a:endParaRPr lang="en-US" sz="3000" dirty="0"/>
          </a:p>
        </p:txBody>
      </p:sp>
      <p:sp>
        <p:nvSpPr>
          <p:cNvPr id="7" name="Shape 4"/>
          <p:cNvSpPr/>
          <p:nvPr/>
        </p:nvSpPr>
        <p:spPr>
          <a:xfrm>
            <a:off x="762000" y="1270000"/>
            <a:ext cx="1016000" cy="38100"/>
          </a:xfrm>
          <a:prstGeom prst="rect">
            <a:avLst/>
          </a:prstGeom>
          <a:solidFill>
            <a:srgbClr val="00D4F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62000" y="1778000"/>
          <a:ext cx="14732000" cy="4826000"/>
        </p:xfrm>
        <a:graphic>
          <a:graphicData uri="http://schemas.openxmlformats.org/drawingml/2006/table">
            <a:tbl>
              <a:tblPr/>
              <a:tblGrid>
                <a:gridCol w="7366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3683000">
                  <a:extLst>
                    <a:ext uri="{9D8B030D-6E8A-4147-A177-3AD203B41FA5}">
                      <a16:colId xmlns:a16="http://schemas.microsoft.com/office/drawing/2014/main" val="20003"/>
                    </a:ext>
                  </a:extLst>
                </a:gridCol>
                <a:gridCol w="5156200">
                  <a:extLst>
                    <a:ext uri="{9D8B030D-6E8A-4147-A177-3AD203B41FA5}">
                      <a16:colId xmlns:a16="http://schemas.microsoft.com/office/drawing/2014/main" val="20004"/>
                    </a:ext>
                  </a:extLst>
                </a:gridCol>
              </a:tblGrid>
              <a:tr h="623942">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Problem</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Error</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Cause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Solution</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B1A3E"/>
                    </a:solidFill>
                  </a:tcPr>
                </a:tc>
                <a:extLst>
                  <a:ext uri="{0D108BD9-81ED-4DB2-BD59-A6C34878D82A}">
                    <a16:rowId xmlns:a16="http://schemas.microsoft.com/office/drawing/2014/main" val="10000"/>
                  </a:ext>
                </a:extLst>
              </a:tr>
              <a:tr h="1400686">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5</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Bluetooth Service Failure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6B6B"/>
                          </a:solidFill>
                          <a:latin typeface="QuattrocentoSans" pitchFamily="34" charset="0"/>
                          <a:ea typeface="QuattrocentoSans" pitchFamily="34" charset="-122"/>
                          <a:cs typeface="QuattrocentoSans" pitchFamily="34" charset="-120"/>
                        </a:rPr>
                        <a:t>No such device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USB adapter disconnected</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Reattached adapter and restarted Bluetooth service</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extLst>
                  <a:ext uri="{0D108BD9-81ED-4DB2-BD59-A6C34878D82A}">
                    <a16:rowId xmlns:a16="http://schemas.microsoft.com/office/drawing/2014/main" val="10001"/>
                  </a:ext>
                </a:extLst>
              </a:tr>
              <a:tr h="1400686">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6</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Firebase SMS Testing Limitation</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FF9F43"/>
                          </a:solidFill>
                          <a:latin typeface="QuattrocentoSans" pitchFamily="34" charset="0"/>
                          <a:ea typeface="QuattrocentoSans" pitchFamily="34" charset="-122"/>
                          <a:cs typeface="QuattrocentoSans" pitchFamily="34" charset="-120"/>
                        </a:rPr>
                        <a:t>No real SMS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Testing mode does not send real SMS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Used testing OTPs and separate controlled SMS demonstrations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11254F"/>
                    </a:solidFill>
                  </a:tcPr>
                </a:tc>
                <a:extLst>
                  <a:ext uri="{0D108BD9-81ED-4DB2-BD59-A6C34878D82A}">
                    <a16:rowId xmlns:a16="http://schemas.microsoft.com/office/drawing/2014/main" val="10002"/>
                  </a:ext>
                </a:extLst>
              </a:tr>
              <a:tr h="1400686">
                <a:tc>
                  <a:txBody>
                    <a:bodyPr/>
                    <a:lstStyle/>
                    <a:p>
                      <a:pPr algn="l"/>
                      <a:r>
                        <a:rPr lang="en-US" sz="1600" b="1" u="none" dirty="0">
                          <a:solidFill>
                            <a:srgbClr val="00D4FF"/>
                          </a:solidFill>
                          <a:latin typeface="QuattrocentoSans" pitchFamily="34" charset="0"/>
                          <a:ea typeface="QuattrocentoSans" pitchFamily="34" charset="-122"/>
                          <a:cs typeface="QuattrocentoSans" pitchFamily="34" charset="-120"/>
                        </a:rPr>
                        <a:t>7</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FFFF"/>
                          </a:solidFill>
                          <a:latin typeface="QuattrocentoSans" pitchFamily="34" charset="0"/>
                          <a:ea typeface="QuattrocentoSans" pitchFamily="34" charset="-122"/>
                          <a:cs typeface="QuattrocentoSans" pitchFamily="34" charset="-120"/>
                        </a:rPr>
                        <a:t>Dashboard Not Showing Events</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FF9F43"/>
                          </a:solidFill>
                          <a:latin typeface="QuattrocentoSans" pitchFamily="34" charset="0"/>
                          <a:ea typeface="QuattrocentoSans" pitchFamily="34" charset="-122"/>
                          <a:cs typeface="QuattrocentoSans" pitchFamily="34" charset="-120"/>
                        </a:rPr>
                        <a:t>No data</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Backend communication mismatch</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tc>
                  <a:txBody>
                    <a:bodyPr/>
                    <a:lstStyle/>
                    <a:p>
                      <a:pPr algn="l"/>
                      <a:r>
                        <a:rPr lang="en-US" sz="1600" u="none" dirty="0">
                          <a:solidFill>
                            <a:srgbClr val="E8EDF5"/>
                          </a:solidFill>
                          <a:latin typeface="QuattrocentoSans" pitchFamily="34" charset="0"/>
                          <a:ea typeface="QuattrocentoSans" pitchFamily="34" charset="-122"/>
                          <a:cs typeface="QuattrocentoSans" pitchFamily="34" charset="-120"/>
                        </a:rPr>
                        <a:t>Implemented HTTP JSON communication between mapAccountHijack and Flask Dashboard</a:t>
                      </a:r>
                      <a:endParaRPr lang="en-US" sz="1600" dirty="0">
                        <a:latin typeface="QuattrocentoSans" charset="0"/>
                        <a:ea typeface="QuattrocentoSans" charset="0"/>
                        <a:cs typeface="QuattrocentoSans" charset="0"/>
                      </a:endParaRPr>
                    </a:p>
                  </a:txBody>
                  <a:tcPr marT="0" marB="0"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rgbClr val="0D1E45"/>
                    </a:solidFill>
                  </a:tcPr>
                </a:tc>
                <a:extLst>
                  <a:ext uri="{0D108BD9-81ED-4DB2-BD59-A6C34878D82A}">
                    <a16:rowId xmlns:a16="http://schemas.microsoft.com/office/drawing/2014/main" val="10003"/>
                  </a:ext>
                </a:extLst>
              </a:tr>
            </a:tbl>
          </a:graphicData>
        </a:graphic>
      </p:graphicFrame>
      <p:sp>
        <p:nvSpPr>
          <p:cNvPr id="9" name="Shape 5"/>
          <p:cNvSpPr/>
          <p:nvPr/>
        </p:nvSpPr>
        <p:spPr>
          <a:xfrm>
            <a:off x="762000" y="6985000"/>
            <a:ext cx="14732000" cy="1143000"/>
          </a:xfrm>
          <a:prstGeom prst="roundRect">
            <a:avLst>
              <a:gd name="adj" fmla="val 6000"/>
            </a:avLst>
          </a:prstGeom>
          <a:gradFill flip="none" rotWithShape="1">
            <a:gsLst>
              <a:gs pos="0">
                <a:srgbClr val="0B1A3E"/>
              </a:gs>
              <a:gs pos="100000">
                <a:srgbClr val="1E3A6E"/>
              </a:gs>
            </a:gsLst>
            <a:lin ang="0" scaled="1"/>
          </a:gradFill>
          <a:ln w="12700">
            <a:solidFill>
              <a:srgbClr val="00D4FF">
                <a:alpha val="18824"/>
              </a:srgbClr>
            </a:solidFill>
            <a:prstDash val="solid"/>
          </a:ln>
        </p:spPr>
      </p:sp>
      <p:sp>
        <p:nvSpPr>
          <p:cNvPr id="10" name="Shape 6"/>
          <p:cNvSpPr/>
          <p:nvPr/>
        </p:nvSpPr>
        <p:spPr>
          <a:xfrm>
            <a:off x="1333500" y="7239000"/>
            <a:ext cx="381000" cy="508000"/>
          </a:xfrm>
          <a:custGeom>
            <a:avLst/>
            <a:gdLst/>
            <a:ahLst/>
            <a:cxnLst/>
            <a:rect l="l" t="t" r="r" b="b"/>
            <a:pathLst>
              <a:path w="381000" h="508000">
                <a:moveTo>
                  <a:pt x="290612" y="381000"/>
                </a:moveTo>
                <a:cubicBezTo>
                  <a:pt x="297855" y="358874"/>
                  <a:pt x="312341" y="338832"/>
                  <a:pt x="328712" y="321568"/>
                </a:cubicBezTo>
                <a:cubicBezTo>
                  <a:pt x="361156" y="287437"/>
                  <a:pt x="381000" y="241300"/>
                  <a:pt x="381000" y="190500"/>
                </a:cubicBezTo>
                <a:cubicBezTo>
                  <a:pt x="381000" y="85328"/>
                  <a:pt x="295672" y="0"/>
                  <a:pt x="190500" y="0"/>
                </a:cubicBezTo>
                <a:cubicBezTo>
                  <a:pt x="85328" y="0"/>
                  <a:pt x="0" y="85328"/>
                  <a:pt x="0" y="190500"/>
                </a:cubicBezTo>
                <a:cubicBezTo>
                  <a:pt x="0" y="241300"/>
                  <a:pt x="19844" y="287437"/>
                  <a:pt x="52288" y="321568"/>
                </a:cubicBezTo>
                <a:cubicBezTo>
                  <a:pt x="68659" y="338832"/>
                  <a:pt x="83245" y="358874"/>
                  <a:pt x="90388" y="381000"/>
                </a:cubicBezTo>
                <a:lnTo>
                  <a:pt x="290513" y="381000"/>
                </a:lnTo>
                <a:close/>
                <a:moveTo>
                  <a:pt x="285750" y="428625"/>
                </a:moveTo>
                <a:lnTo>
                  <a:pt x="95250" y="428625"/>
                </a:lnTo>
                <a:lnTo>
                  <a:pt x="95250" y="444500"/>
                </a:lnTo>
                <a:cubicBezTo>
                  <a:pt x="95250" y="488355"/>
                  <a:pt x="130770" y="523875"/>
                  <a:pt x="174625" y="523875"/>
                </a:cubicBezTo>
                <a:lnTo>
                  <a:pt x="206375" y="523875"/>
                </a:lnTo>
                <a:cubicBezTo>
                  <a:pt x="250230" y="523875"/>
                  <a:pt x="285750" y="488355"/>
                  <a:pt x="285750" y="444500"/>
                </a:cubicBezTo>
                <a:lnTo>
                  <a:pt x="285750" y="428625"/>
                </a:lnTo>
                <a:close/>
                <a:moveTo>
                  <a:pt x="182563" y="111125"/>
                </a:moveTo>
                <a:cubicBezTo>
                  <a:pt x="143073" y="111125"/>
                  <a:pt x="111125" y="143073"/>
                  <a:pt x="111125" y="182563"/>
                </a:cubicBezTo>
                <a:cubicBezTo>
                  <a:pt x="111125" y="195759"/>
                  <a:pt x="100509" y="206375"/>
                  <a:pt x="87313" y="206375"/>
                </a:cubicBezTo>
                <a:cubicBezTo>
                  <a:pt x="74116" y="206375"/>
                  <a:pt x="63500" y="195759"/>
                  <a:pt x="63500" y="182563"/>
                </a:cubicBezTo>
                <a:cubicBezTo>
                  <a:pt x="63500" y="116780"/>
                  <a:pt x="116780" y="63500"/>
                  <a:pt x="182563" y="63500"/>
                </a:cubicBezTo>
                <a:cubicBezTo>
                  <a:pt x="195759" y="63500"/>
                  <a:pt x="206375" y="74116"/>
                  <a:pt x="206375" y="87313"/>
                </a:cubicBezTo>
                <a:cubicBezTo>
                  <a:pt x="206375" y="100509"/>
                  <a:pt x="195759" y="111125"/>
                  <a:pt x="182563" y="111125"/>
                </a:cubicBezTo>
                <a:close/>
              </a:path>
            </a:pathLst>
          </a:custGeom>
          <a:solidFill>
            <a:srgbClr val="00D4FF"/>
          </a:solidFill>
          <a:ln/>
        </p:spPr>
      </p:sp>
      <p:sp>
        <p:nvSpPr>
          <p:cNvPr id="11" name="Text 7"/>
          <p:cNvSpPr/>
          <p:nvPr/>
        </p:nvSpPr>
        <p:spPr>
          <a:xfrm>
            <a:off x="2032000" y="7112000"/>
            <a:ext cx="12954000" cy="889000"/>
          </a:xfrm>
          <a:prstGeom prst="rect">
            <a:avLst/>
          </a:prstGeom>
          <a:noFill/>
          <a:ln/>
        </p:spPr>
        <p:txBody>
          <a:bodyPr wrap="square" lIns="0" tIns="0" rIns="0" bIns="0" rtlCol="0" anchor="ctr"/>
          <a:lstStyle/>
          <a:p>
            <a:pPr>
              <a:lnSpc>
                <a:spcPct val="150000"/>
              </a:lnSpc>
            </a:pPr>
            <a:r>
              <a:rPr lang="en-US" sz="1600" b="1" dirty="0">
                <a:solidFill>
                  <a:srgbClr val="00D4FF"/>
                </a:solidFill>
                <a:latin typeface="Quattrocento Sans" pitchFamily="34" charset="0"/>
                <a:ea typeface="Quattrocento Sans" pitchFamily="34" charset="-122"/>
                <a:cs typeface="Quattrocento Sans" pitchFamily="34" charset="-120"/>
              </a:rPr>
              <a:t>Key Learning:</a:t>
            </a:r>
            <a:r>
              <a:rPr lang="en-US" sz="1600" dirty="0">
                <a:solidFill>
                  <a:srgbClr val="E8EDF5"/>
                </a:solidFill>
                <a:latin typeface="Quattrocento Sans" pitchFamily="34" charset="0"/>
                <a:ea typeface="Quattrocento Sans" pitchFamily="34" charset="-122"/>
                <a:cs typeface="Quattrocento Sans" pitchFamily="34" charset="-120"/>
              </a:rPr>
              <a:t> Each challenge provided valuable insights into Bluetooth protocol behavior, virtualized hardware integration, and inter-process communication design.</a:t>
            </a:r>
            <a:endParaRPr lang="en-US" sz="1600" dirty="0"/>
          </a:p>
        </p:txBody>
      </p:sp>
      <p:sp>
        <p:nvSpPr>
          <p:cNvPr id="12" name="Shape 8"/>
          <p:cNvSpPr/>
          <p:nvPr/>
        </p:nvSpPr>
        <p:spPr>
          <a:xfrm>
            <a:off x="762000" y="8382000"/>
            <a:ext cx="14732000" cy="12700"/>
          </a:xfrm>
          <a:prstGeom prst="rect">
            <a:avLst/>
          </a:prstGeom>
          <a:solidFill>
            <a:srgbClr val="1E3A6E"/>
          </a:solidFill>
          <a:ln/>
        </p:spPr>
      </p:sp>
      <p:sp>
        <p:nvSpPr>
          <p:cNvPr id="13" name="Text 9"/>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14" name="Text 10"/>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14 / 18</a:t>
            </a:r>
            <a:endParaRPr lang="en-US" sz="14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10045700" y="0"/>
            <a:ext cx="1143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PHASES | CHALLENGES | </a:t>
            </a:r>
            <a:r>
              <a:rPr lang="en-US" sz="1200" kern="0" spc="100" dirty="0">
                <a:solidFill>
                  <a:srgbClr val="00D4FF"/>
                </a:solidFill>
                <a:latin typeface="Liter" pitchFamily="34" charset="0"/>
                <a:ea typeface="Liter" pitchFamily="34" charset="-122"/>
                <a:cs typeface="Liter" pitchFamily="34" charset="-120"/>
              </a:rPr>
              <a:t>SECURITY</a:t>
            </a:r>
            <a:r>
              <a:rPr lang="en-US" sz="1200" kern="0" spc="100" dirty="0">
                <a:solidFill>
                  <a:srgbClr val="8B9DC3"/>
                </a:solidFill>
                <a:latin typeface="Liter" pitchFamily="34" charset="0"/>
                <a:ea typeface="Liter" pitchFamily="34" charset="-122"/>
                <a:cs typeface="Liter" pitchFamily="34" charset="-120"/>
              </a:rPr>
              <a:t>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Security Analysis</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Text 5"/>
          <p:cNvSpPr/>
          <p:nvPr/>
        </p:nvSpPr>
        <p:spPr>
          <a:xfrm>
            <a:off x="762000" y="1524000"/>
            <a:ext cx="3810000" cy="355600"/>
          </a:xfrm>
          <a:prstGeom prst="rect">
            <a:avLst/>
          </a:prstGeom>
          <a:noFill/>
          <a:ln/>
        </p:spPr>
        <p:txBody>
          <a:bodyPr wrap="none" lIns="0" tIns="0" rIns="0" bIns="0" rtlCol="0" anchor="ctr"/>
          <a:lstStyle/>
          <a:p>
            <a:pPr>
              <a:lnSpc>
                <a:spcPct val="130000"/>
              </a:lnSpc>
            </a:pPr>
            <a:r>
              <a:rPr lang="en-US" sz="1800" dirty="0">
                <a:solidFill>
                  <a:srgbClr val="00D4FF"/>
                </a:solidFill>
                <a:latin typeface="Liter" pitchFamily="34" charset="0"/>
                <a:ea typeface="Liter" pitchFamily="34" charset="-122"/>
                <a:cs typeface="Liter" pitchFamily="34" charset="-120"/>
              </a:rPr>
              <a:t>Identified Threats</a:t>
            </a:r>
            <a:endParaRPr lang="en-US" sz="2200" dirty="0"/>
          </a:p>
        </p:txBody>
      </p:sp>
      <p:sp>
        <p:nvSpPr>
          <p:cNvPr id="9" name="Shape 6"/>
          <p:cNvSpPr/>
          <p:nvPr/>
        </p:nvSpPr>
        <p:spPr>
          <a:xfrm>
            <a:off x="952500" y="2057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6B6B"/>
          </a:solidFill>
          <a:ln/>
        </p:spPr>
      </p:sp>
      <p:sp>
        <p:nvSpPr>
          <p:cNvPr id="10" name="Text 7"/>
          <p:cNvSpPr/>
          <p:nvPr/>
        </p:nvSpPr>
        <p:spPr>
          <a:xfrm>
            <a:off x="1397000" y="2006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SMS Metadata Exposure</a:t>
            </a:r>
            <a:endParaRPr lang="en-US" sz="1600" dirty="0"/>
          </a:p>
        </p:txBody>
      </p:sp>
      <p:sp>
        <p:nvSpPr>
          <p:cNvPr id="11" name="Shape 8"/>
          <p:cNvSpPr/>
          <p:nvPr/>
        </p:nvSpPr>
        <p:spPr>
          <a:xfrm>
            <a:off x="952500" y="2565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6B6B"/>
          </a:solidFill>
          <a:ln/>
        </p:spPr>
      </p:sp>
      <p:sp>
        <p:nvSpPr>
          <p:cNvPr id="12" name="Text 9"/>
          <p:cNvSpPr/>
          <p:nvPr/>
        </p:nvSpPr>
        <p:spPr>
          <a:xfrm>
            <a:off x="1397000" y="2514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OTP Exposure</a:t>
            </a:r>
            <a:endParaRPr lang="en-US" sz="1600" dirty="0"/>
          </a:p>
        </p:txBody>
      </p:sp>
      <p:sp>
        <p:nvSpPr>
          <p:cNvPr id="13" name="Shape 10"/>
          <p:cNvSpPr/>
          <p:nvPr/>
        </p:nvSpPr>
        <p:spPr>
          <a:xfrm>
            <a:off x="952500" y="3073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9F43"/>
          </a:solidFill>
          <a:ln/>
        </p:spPr>
      </p:sp>
      <p:sp>
        <p:nvSpPr>
          <p:cNvPr id="14" name="Text 11"/>
          <p:cNvSpPr/>
          <p:nvPr/>
        </p:nvSpPr>
        <p:spPr>
          <a:xfrm>
            <a:off x="1397000" y="3022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Bluetooth Trust Abuse</a:t>
            </a:r>
            <a:endParaRPr lang="en-US" sz="1600" dirty="0"/>
          </a:p>
        </p:txBody>
      </p:sp>
      <p:sp>
        <p:nvSpPr>
          <p:cNvPr id="15" name="Shape 12"/>
          <p:cNvSpPr/>
          <p:nvPr/>
        </p:nvSpPr>
        <p:spPr>
          <a:xfrm>
            <a:off x="952500" y="3581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9F43"/>
          </a:solidFill>
          <a:ln/>
        </p:spPr>
      </p:sp>
      <p:sp>
        <p:nvSpPr>
          <p:cNvPr id="16" name="Text 13"/>
          <p:cNvSpPr/>
          <p:nvPr/>
        </p:nvSpPr>
        <p:spPr>
          <a:xfrm>
            <a:off x="1397000" y="3530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Unauthorized Pairing</a:t>
            </a:r>
            <a:endParaRPr lang="en-US" sz="1600" dirty="0"/>
          </a:p>
        </p:txBody>
      </p:sp>
      <p:sp>
        <p:nvSpPr>
          <p:cNvPr id="17" name="Shape 14"/>
          <p:cNvSpPr/>
          <p:nvPr/>
        </p:nvSpPr>
        <p:spPr>
          <a:xfrm>
            <a:off x="952500" y="4089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FF9F43"/>
          </a:solidFill>
          <a:ln/>
        </p:spPr>
      </p:sp>
      <p:sp>
        <p:nvSpPr>
          <p:cNvPr id="18" name="Text 15"/>
          <p:cNvSpPr/>
          <p:nvPr/>
        </p:nvSpPr>
        <p:spPr>
          <a:xfrm>
            <a:off x="1397000" y="4038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Excessive Permissions</a:t>
            </a:r>
            <a:endParaRPr lang="en-US" sz="1600" dirty="0"/>
          </a:p>
        </p:txBody>
      </p:sp>
      <p:sp>
        <p:nvSpPr>
          <p:cNvPr id="19" name="Shape 16"/>
          <p:cNvSpPr/>
          <p:nvPr/>
        </p:nvSpPr>
        <p:spPr>
          <a:xfrm>
            <a:off x="952500" y="4597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00D4FF"/>
          </a:solidFill>
          <a:ln/>
        </p:spPr>
      </p:sp>
      <p:sp>
        <p:nvSpPr>
          <p:cNvPr id="20" name="Text 17"/>
          <p:cNvSpPr/>
          <p:nvPr/>
        </p:nvSpPr>
        <p:spPr>
          <a:xfrm>
            <a:off x="1397000" y="4546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Authentication Weaknesses</a:t>
            </a:r>
            <a:endParaRPr lang="en-US" sz="1600" dirty="0"/>
          </a:p>
        </p:txBody>
      </p:sp>
      <p:sp>
        <p:nvSpPr>
          <p:cNvPr id="21" name="Shape 18"/>
          <p:cNvSpPr/>
          <p:nvPr/>
        </p:nvSpPr>
        <p:spPr>
          <a:xfrm>
            <a:off x="952500" y="51054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00D4FF"/>
          </a:solidFill>
          <a:ln/>
        </p:spPr>
      </p:sp>
      <p:sp>
        <p:nvSpPr>
          <p:cNvPr id="22" name="Text 19"/>
          <p:cNvSpPr/>
          <p:nvPr/>
        </p:nvSpPr>
        <p:spPr>
          <a:xfrm>
            <a:off x="1397000" y="5054600"/>
            <a:ext cx="3556000" cy="406400"/>
          </a:xfrm>
          <a:prstGeom prst="rect">
            <a:avLst/>
          </a:prstGeom>
          <a:noFill/>
          <a:ln/>
        </p:spPr>
        <p:txBody>
          <a:bodyPr wrap="none" lIns="0" tIns="0" rIns="0" bIns="0" rtlCol="0" anchor="ctr"/>
          <a:lstStyle/>
          <a:p>
            <a:pP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Wireless Communication Risks</a:t>
            </a:r>
            <a:endParaRPr lang="en-US" sz="1600" dirty="0"/>
          </a:p>
        </p:txBody>
      </p:sp>
      <p:sp>
        <p:nvSpPr>
          <p:cNvPr id="23" name="Shape 20"/>
          <p:cNvSpPr/>
          <p:nvPr/>
        </p:nvSpPr>
        <p:spPr>
          <a:xfrm>
            <a:off x="5588000" y="1524000"/>
            <a:ext cx="9906000" cy="4318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4" name="Text 21"/>
          <p:cNvSpPr/>
          <p:nvPr/>
        </p:nvSpPr>
        <p:spPr>
          <a:xfrm>
            <a:off x="5905500" y="1676400"/>
            <a:ext cx="5080000" cy="330200"/>
          </a:xfrm>
          <a:prstGeom prst="rect">
            <a:avLst/>
          </a:prstGeom>
          <a:noFill/>
          <a:ln/>
        </p:spPr>
        <p:txBody>
          <a:bodyPr wrap="none" lIns="0" tIns="0" rIns="0" bIns="0" rtlCol="0" anchor="ctr"/>
          <a:lstStyle/>
          <a:p>
            <a:pPr>
              <a:lnSpc>
                <a:spcPct val="130000"/>
              </a:lnSpc>
            </a:pPr>
            <a:r>
              <a:rPr lang="en-US" sz="1600" dirty="0">
                <a:solidFill>
                  <a:srgbClr val="00D4FF"/>
                </a:solidFill>
                <a:latin typeface="Liter" pitchFamily="34" charset="0"/>
                <a:ea typeface="Liter" pitchFamily="34" charset="-122"/>
                <a:cs typeface="Liter" pitchFamily="34" charset="-120"/>
              </a:rPr>
              <a:t>Risk Severity Analysis</a:t>
            </a:r>
            <a:endParaRPr lang="en-US" sz="2200" dirty="0"/>
          </a:p>
        </p:txBody>
      </p:sp>
      <p:graphicFrame>
        <p:nvGraphicFramePr>
          <p:cNvPr id="25" name="Chart 0"/>
          <p:cNvGraphicFramePr/>
          <p:nvPr/>
        </p:nvGraphicFramePr>
        <p:xfrm>
          <a:off x="5715000" y="2032000"/>
          <a:ext cx="9652000" cy="355600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2"/>
          <p:cNvSpPr/>
          <p:nvPr/>
        </p:nvSpPr>
        <p:spPr>
          <a:xfrm>
            <a:off x="762000" y="5969000"/>
            <a:ext cx="14732000" cy="2159000"/>
          </a:xfrm>
          <a:prstGeom prst="roundRect">
            <a:avLst>
              <a:gd name="adj" fmla="val 6000"/>
            </a:avLst>
          </a:prstGeom>
          <a:solidFill>
            <a:srgbClr val="0D1E45">
              <a:alpha val="37647"/>
            </a:srgbClr>
          </a:solidFill>
          <a:ln w="12700">
            <a:solidFill>
              <a:srgbClr val="00D4FF">
                <a:alpha val="18824"/>
              </a:srgbClr>
            </a:solidFill>
            <a:prstDash val="solid"/>
          </a:ln>
        </p:spPr>
      </p:sp>
      <p:sp>
        <p:nvSpPr>
          <p:cNvPr id="27" name="Text 23"/>
          <p:cNvSpPr/>
          <p:nvPr/>
        </p:nvSpPr>
        <p:spPr>
          <a:xfrm>
            <a:off x="1079500" y="6159500"/>
            <a:ext cx="3810000" cy="330200"/>
          </a:xfrm>
          <a:prstGeom prst="rect">
            <a:avLst/>
          </a:prstGeom>
          <a:noFill/>
          <a:ln/>
        </p:spPr>
        <p:txBody>
          <a:bodyPr wrap="none" lIns="0" tIns="0" rIns="0" bIns="0" rtlCol="0" anchor="ctr"/>
          <a:lstStyle/>
          <a:p>
            <a:pPr>
              <a:lnSpc>
                <a:spcPct val="130000"/>
              </a:lnSpc>
            </a:pPr>
            <a:r>
              <a:rPr lang="en-US" sz="1600" dirty="0">
                <a:solidFill>
                  <a:srgbClr val="00D4FF"/>
                </a:solidFill>
                <a:latin typeface="Liter" pitchFamily="34" charset="0"/>
                <a:ea typeface="Liter" pitchFamily="34" charset="-122"/>
                <a:cs typeface="Liter" pitchFamily="34" charset="-120"/>
              </a:rPr>
              <a:t>Impact Assessment</a:t>
            </a:r>
            <a:endParaRPr lang="en-US" sz="2200" dirty="0"/>
          </a:p>
        </p:txBody>
      </p:sp>
      <p:sp>
        <p:nvSpPr>
          <p:cNvPr id="28" name="Text 24"/>
          <p:cNvSpPr/>
          <p:nvPr/>
        </p:nvSpPr>
        <p:spPr>
          <a:xfrm>
            <a:off x="1079500" y="6540500"/>
            <a:ext cx="14097000" cy="1397000"/>
          </a:xfrm>
          <a:prstGeom prst="rect">
            <a:avLst/>
          </a:prstGeom>
          <a:noFill/>
          <a:ln/>
        </p:spPr>
        <p:txBody>
          <a:bodyPr wrap="square" lIns="0" tIns="0" rIns="0" bIns="0" rtlCol="0" anchor="t"/>
          <a:lstStyle/>
          <a:p>
            <a:pPr>
              <a:lnSpc>
                <a:spcPct val="150000"/>
              </a:lnSpc>
            </a:pPr>
            <a:r>
              <a:rPr lang="en-US" sz="1500" b="1" dirty="0">
                <a:solidFill>
                  <a:srgbClr val="FF6B6B"/>
                </a:solidFill>
                <a:latin typeface="Quattrocento Sans" pitchFamily="34" charset="0"/>
                <a:ea typeface="Quattrocento Sans" pitchFamily="34" charset="-122"/>
                <a:cs typeface="Quattrocento Sans" pitchFamily="34" charset="-120"/>
              </a:rPr>
              <a:t>Critical:</a:t>
            </a:r>
            <a:r>
              <a:rPr lang="en-US" sz="1500" dirty="0">
                <a:solidFill>
                  <a:srgbClr val="E8EDF5"/>
                </a:solidFill>
                <a:latin typeface="Quattrocento Sans" pitchFamily="34" charset="0"/>
                <a:ea typeface="Quattrocento Sans" pitchFamily="34" charset="-122"/>
                <a:cs typeface="Quattrocento Sans" pitchFamily="34" charset="-120"/>
              </a:rPr>
              <a:t> OTP Exposure enables complete account takeover of SMS-based 2FA systems</a:t>
            </a:r>
            <a:endParaRPr lang="en-US" sz="1600" dirty="0"/>
          </a:p>
          <a:p>
            <a:pPr>
              <a:lnSpc>
                <a:spcPct val="150000"/>
              </a:lnSpc>
            </a:pPr>
            <a:r>
              <a:rPr lang="en-US" sz="1500" b="1" dirty="0">
                <a:solidFill>
                  <a:srgbClr val="FF9F43"/>
                </a:solidFill>
                <a:latin typeface="Quattrocento Sans" pitchFamily="34" charset="0"/>
                <a:ea typeface="Quattrocento Sans" pitchFamily="34" charset="-122"/>
                <a:cs typeface="Quattrocento Sans" pitchFamily="34" charset="-120"/>
              </a:rPr>
              <a:t>High:</a:t>
            </a:r>
            <a:r>
              <a:rPr lang="en-US" sz="1500" dirty="0">
                <a:solidFill>
                  <a:srgbClr val="E8EDF5"/>
                </a:solidFill>
                <a:latin typeface="Quattrocento Sans" pitchFamily="34" charset="0"/>
                <a:ea typeface="Quattrocento Sans" pitchFamily="34" charset="-122"/>
                <a:cs typeface="Quattrocento Sans" pitchFamily="34" charset="-120"/>
              </a:rPr>
              <a:t> SMS Metadata and Authentication Weaknesses expose sensitive user information</a:t>
            </a:r>
            <a:endParaRPr lang="en-US" sz="1600" dirty="0"/>
          </a:p>
          <a:p>
            <a:pPr>
              <a:lnSpc>
                <a:spcPct val="150000"/>
              </a:lnSpc>
            </a:pPr>
            <a:r>
              <a:rPr lang="en-US" sz="1500" b="1" dirty="0">
                <a:solidFill>
                  <a:srgbClr val="00D4FF"/>
                </a:solidFill>
                <a:latin typeface="Quattrocento Sans" pitchFamily="34" charset="0"/>
                <a:ea typeface="Quattrocento Sans" pitchFamily="34" charset="-122"/>
                <a:cs typeface="Quattrocento Sans" pitchFamily="34" charset="-120"/>
              </a:rPr>
              <a:t>Medium:</a:t>
            </a:r>
            <a:r>
              <a:rPr lang="en-US" sz="1500" dirty="0">
                <a:solidFill>
                  <a:srgbClr val="E8EDF5"/>
                </a:solidFill>
                <a:latin typeface="Quattrocento Sans" pitchFamily="34" charset="0"/>
                <a:ea typeface="Quattrocento Sans" pitchFamily="34" charset="-122"/>
                <a:cs typeface="Quattrocento Sans" pitchFamily="34" charset="-120"/>
              </a:rPr>
              <a:t> Trust Abuse and Excessive Permissions create persistent attack vectors</a:t>
            </a:r>
            <a:endParaRPr lang="en-US" sz="1600" dirty="0"/>
          </a:p>
        </p:txBody>
      </p:sp>
      <p:sp>
        <p:nvSpPr>
          <p:cNvPr id="29" name="Shape 25"/>
          <p:cNvSpPr/>
          <p:nvPr/>
        </p:nvSpPr>
        <p:spPr>
          <a:xfrm>
            <a:off x="762000" y="8382000"/>
            <a:ext cx="14732000" cy="12700"/>
          </a:xfrm>
          <a:prstGeom prst="rect">
            <a:avLst/>
          </a:prstGeom>
          <a:solidFill>
            <a:srgbClr val="1E3A6E"/>
          </a:solidFill>
          <a:ln/>
        </p:spPr>
      </p:sp>
      <p:sp>
        <p:nvSpPr>
          <p:cNvPr id="30" name="Text 26"/>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1" name="Text 27"/>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15 / 18</a:t>
            </a:r>
            <a:endParaRPr lang="en-US" sz="14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10045700" y="0"/>
            <a:ext cx="1143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PHASES | CHALLENGES | </a:t>
            </a:r>
            <a:r>
              <a:rPr lang="en-US" sz="1200" kern="0" spc="100" dirty="0">
                <a:solidFill>
                  <a:srgbClr val="00D4FF"/>
                </a:solidFill>
                <a:latin typeface="Liter" pitchFamily="34" charset="0"/>
                <a:ea typeface="Liter" pitchFamily="34" charset="-122"/>
                <a:cs typeface="Liter" pitchFamily="34" charset="-120"/>
              </a:rPr>
              <a:t>SECURITY</a:t>
            </a:r>
            <a:r>
              <a:rPr lang="en-US" sz="1200" kern="0" spc="100" dirty="0">
                <a:solidFill>
                  <a:srgbClr val="8B9DC3"/>
                </a:solidFill>
                <a:latin typeface="Liter" pitchFamily="34" charset="0"/>
                <a:ea typeface="Liter" pitchFamily="34" charset="-122"/>
                <a:cs typeface="Liter" pitchFamily="34" charset="-120"/>
              </a:rPr>
              <a:t> | 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Mitigation Strategies</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762000" y="15875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9" name="Shape 6"/>
          <p:cNvSpPr/>
          <p:nvPr/>
        </p:nvSpPr>
        <p:spPr>
          <a:xfrm>
            <a:off x="1079500" y="1968500"/>
            <a:ext cx="457200" cy="457200"/>
          </a:xfrm>
          <a:custGeom>
            <a:avLst/>
            <a:gdLst/>
            <a:ahLst/>
            <a:cxnLst/>
            <a:rect l="l" t="t" r="r" b="b"/>
            <a:pathLst>
              <a:path w="457200" h="457200">
                <a:moveTo>
                  <a:pt x="257175" y="0"/>
                </a:moveTo>
                <a:cubicBezTo>
                  <a:pt x="257175" y="-15806"/>
                  <a:pt x="244406" y="-28575"/>
                  <a:pt x="228600" y="-28575"/>
                </a:cubicBezTo>
                <a:cubicBezTo>
                  <a:pt x="212794" y="-28575"/>
                  <a:pt x="200025" y="-15806"/>
                  <a:pt x="200025" y="0"/>
                </a:cubicBezTo>
                <a:lnTo>
                  <a:pt x="200025" y="228600"/>
                </a:lnTo>
                <a:cubicBezTo>
                  <a:pt x="200025" y="244406"/>
                  <a:pt x="212794" y="257175"/>
                  <a:pt x="228600" y="257175"/>
                </a:cubicBezTo>
                <a:cubicBezTo>
                  <a:pt x="244406" y="257175"/>
                  <a:pt x="257175" y="244406"/>
                  <a:pt x="257175" y="228600"/>
                </a:cubicBezTo>
                <a:lnTo>
                  <a:pt x="257175" y="0"/>
                </a:lnTo>
                <a:close/>
                <a:moveTo>
                  <a:pt x="130641" y="87868"/>
                </a:moveTo>
                <a:cubicBezTo>
                  <a:pt x="143589" y="78849"/>
                  <a:pt x="146715" y="60990"/>
                  <a:pt x="137696" y="48042"/>
                </a:cubicBezTo>
                <a:cubicBezTo>
                  <a:pt x="128677" y="35094"/>
                  <a:pt x="110817" y="31968"/>
                  <a:pt x="97869" y="40987"/>
                </a:cubicBezTo>
                <a:cubicBezTo>
                  <a:pt x="38755" y="82242"/>
                  <a:pt x="0" y="150912"/>
                  <a:pt x="0" y="228600"/>
                </a:cubicBezTo>
                <a:cubicBezTo>
                  <a:pt x="0" y="354866"/>
                  <a:pt x="102334" y="457200"/>
                  <a:pt x="228600" y="457200"/>
                </a:cubicBezTo>
                <a:cubicBezTo>
                  <a:pt x="354866" y="457200"/>
                  <a:pt x="457200" y="354866"/>
                  <a:pt x="457200" y="228600"/>
                </a:cubicBezTo>
                <a:cubicBezTo>
                  <a:pt x="457200" y="150912"/>
                  <a:pt x="418445" y="82242"/>
                  <a:pt x="359241" y="40987"/>
                </a:cubicBezTo>
                <a:cubicBezTo>
                  <a:pt x="346293" y="31968"/>
                  <a:pt x="328523" y="35094"/>
                  <a:pt x="319415" y="48042"/>
                </a:cubicBezTo>
                <a:cubicBezTo>
                  <a:pt x="310307" y="60990"/>
                  <a:pt x="313521" y="78760"/>
                  <a:pt x="326469" y="87868"/>
                </a:cubicBezTo>
                <a:cubicBezTo>
                  <a:pt x="370939" y="118943"/>
                  <a:pt x="399961" y="170378"/>
                  <a:pt x="399961" y="228600"/>
                </a:cubicBezTo>
                <a:cubicBezTo>
                  <a:pt x="399961" y="323255"/>
                  <a:pt x="323165" y="400050"/>
                  <a:pt x="228511" y="400050"/>
                </a:cubicBezTo>
                <a:cubicBezTo>
                  <a:pt x="133856" y="400050"/>
                  <a:pt x="57150" y="323255"/>
                  <a:pt x="57150" y="228600"/>
                </a:cubicBezTo>
                <a:cubicBezTo>
                  <a:pt x="57150" y="170378"/>
                  <a:pt x="86171" y="118854"/>
                  <a:pt x="130641" y="87868"/>
                </a:cubicBezTo>
                <a:close/>
              </a:path>
            </a:pathLst>
          </a:custGeom>
          <a:solidFill>
            <a:srgbClr val="00D4FF"/>
          </a:solidFill>
          <a:ln/>
        </p:spPr>
      </p:sp>
      <p:sp>
        <p:nvSpPr>
          <p:cNvPr id="10" name="Text 7"/>
          <p:cNvSpPr/>
          <p:nvPr/>
        </p:nvSpPr>
        <p:spPr>
          <a:xfrm>
            <a:off x="1714500" y="18415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Disable Bluetooth</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Turn off Bluetooth when not actively needed</a:t>
            </a:r>
            <a:endParaRPr lang="en-US" sz="1600" dirty="0"/>
          </a:p>
        </p:txBody>
      </p:sp>
      <p:sp>
        <p:nvSpPr>
          <p:cNvPr id="11" name="Shape 8"/>
          <p:cNvSpPr/>
          <p:nvPr/>
        </p:nvSpPr>
        <p:spPr>
          <a:xfrm>
            <a:off x="5778500" y="15875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2" name="Shape 9"/>
          <p:cNvSpPr/>
          <p:nvPr/>
        </p:nvSpPr>
        <p:spPr>
          <a:xfrm>
            <a:off x="6124575" y="1968500"/>
            <a:ext cx="400050" cy="457200"/>
          </a:xfrm>
          <a:custGeom>
            <a:avLst/>
            <a:gdLst/>
            <a:ahLst/>
            <a:cxnLst/>
            <a:rect l="l" t="t" r="r" b="b"/>
            <a:pathLst>
              <a:path w="400050" h="457200">
                <a:moveTo>
                  <a:pt x="122069" y="5269"/>
                </a:moveTo>
                <a:cubicBezTo>
                  <a:pt x="125998" y="-6429"/>
                  <a:pt x="136892" y="-14287"/>
                  <a:pt x="149215" y="-14287"/>
                </a:cubicBezTo>
                <a:lnTo>
                  <a:pt x="250924" y="-14287"/>
                </a:lnTo>
                <a:cubicBezTo>
                  <a:pt x="263247" y="-14287"/>
                  <a:pt x="274141" y="-6429"/>
                  <a:pt x="278070" y="5269"/>
                </a:cubicBezTo>
                <a:lnTo>
                  <a:pt x="285750" y="28575"/>
                </a:lnTo>
                <a:lnTo>
                  <a:pt x="371475" y="28575"/>
                </a:lnTo>
                <a:cubicBezTo>
                  <a:pt x="387281" y="28575"/>
                  <a:pt x="400050" y="41344"/>
                  <a:pt x="400050" y="57150"/>
                </a:cubicBezTo>
                <a:cubicBezTo>
                  <a:pt x="400050" y="72956"/>
                  <a:pt x="387281" y="85725"/>
                  <a:pt x="371475" y="85725"/>
                </a:cubicBezTo>
                <a:lnTo>
                  <a:pt x="28575" y="85725"/>
                </a:lnTo>
                <a:cubicBezTo>
                  <a:pt x="12769" y="85725"/>
                  <a:pt x="0" y="72956"/>
                  <a:pt x="0" y="57150"/>
                </a:cubicBezTo>
                <a:cubicBezTo>
                  <a:pt x="0" y="41344"/>
                  <a:pt x="12769" y="28575"/>
                  <a:pt x="28575" y="28575"/>
                </a:cubicBezTo>
                <a:lnTo>
                  <a:pt x="114300" y="28575"/>
                </a:lnTo>
                <a:lnTo>
                  <a:pt x="122069" y="5269"/>
                </a:lnTo>
                <a:close/>
                <a:moveTo>
                  <a:pt x="28575" y="128588"/>
                </a:moveTo>
                <a:lnTo>
                  <a:pt x="371475" y="128588"/>
                </a:lnTo>
                <a:lnTo>
                  <a:pt x="371475" y="400050"/>
                </a:lnTo>
                <a:cubicBezTo>
                  <a:pt x="371475" y="431572"/>
                  <a:pt x="345847" y="457200"/>
                  <a:pt x="314325" y="457200"/>
                </a:cubicBezTo>
                <a:lnTo>
                  <a:pt x="85725" y="457200"/>
                </a:lnTo>
                <a:cubicBezTo>
                  <a:pt x="54203" y="457200"/>
                  <a:pt x="28575" y="431572"/>
                  <a:pt x="28575" y="400050"/>
                </a:cubicBezTo>
                <a:lnTo>
                  <a:pt x="28575" y="128588"/>
                </a:lnTo>
                <a:close/>
                <a:moveTo>
                  <a:pt x="107156" y="185738"/>
                </a:moveTo>
                <a:cubicBezTo>
                  <a:pt x="95280" y="185738"/>
                  <a:pt x="85725" y="195292"/>
                  <a:pt x="85725" y="207169"/>
                </a:cubicBezTo>
                <a:lnTo>
                  <a:pt x="85725" y="378619"/>
                </a:lnTo>
                <a:cubicBezTo>
                  <a:pt x="85725" y="390495"/>
                  <a:pt x="95280" y="400050"/>
                  <a:pt x="107156" y="400050"/>
                </a:cubicBezTo>
                <a:cubicBezTo>
                  <a:pt x="119033" y="400050"/>
                  <a:pt x="128588" y="390495"/>
                  <a:pt x="128588" y="378619"/>
                </a:cubicBezTo>
                <a:lnTo>
                  <a:pt x="128588" y="207169"/>
                </a:lnTo>
                <a:cubicBezTo>
                  <a:pt x="128588" y="195292"/>
                  <a:pt x="119033" y="185738"/>
                  <a:pt x="107156" y="185738"/>
                </a:cubicBezTo>
                <a:close/>
                <a:moveTo>
                  <a:pt x="200025" y="185738"/>
                </a:moveTo>
                <a:cubicBezTo>
                  <a:pt x="188149" y="185738"/>
                  <a:pt x="178594" y="195292"/>
                  <a:pt x="178594" y="207169"/>
                </a:cubicBezTo>
                <a:lnTo>
                  <a:pt x="178594" y="378619"/>
                </a:lnTo>
                <a:cubicBezTo>
                  <a:pt x="178594" y="390495"/>
                  <a:pt x="188149" y="400050"/>
                  <a:pt x="200025" y="400050"/>
                </a:cubicBezTo>
                <a:cubicBezTo>
                  <a:pt x="211901" y="400050"/>
                  <a:pt x="221456" y="390495"/>
                  <a:pt x="221456" y="378619"/>
                </a:cubicBezTo>
                <a:lnTo>
                  <a:pt x="221456" y="207169"/>
                </a:lnTo>
                <a:cubicBezTo>
                  <a:pt x="221456" y="195292"/>
                  <a:pt x="211901" y="185738"/>
                  <a:pt x="200025" y="185738"/>
                </a:cubicBezTo>
                <a:close/>
                <a:moveTo>
                  <a:pt x="292894" y="185738"/>
                </a:moveTo>
                <a:cubicBezTo>
                  <a:pt x="281017" y="185738"/>
                  <a:pt x="271463" y="195292"/>
                  <a:pt x="271463" y="207169"/>
                </a:cubicBezTo>
                <a:lnTo>
                  <a:pt x="271463" y="378619"/>
                </a:lnTo>
                <a:cubicBezTo>
                  <a:pt x="271463" y="390495"/>
                  <a:pt x="281017" y="400050"/>
                  <a:pt x="292894" y="400050"/>
                </a:cubicBezTo>
                <a:cubicBezTo>
                  <a:pt x="304770" y="400050"/>
                  <a:pt x="314325" y="390495"/>
                  <a:pt x="314325" y="378619"/>
                </a:cubicBezTo>
                <a:lnTo>
                  <a:pt x="314325" y="207169"/>
                </a:lnTo>
                <a:cubicBezTo>
                  <a:pt x="314325" y="195292"/>
                  <a:pt x="304770" y="185738"/>
                  <a:pt x="292894" y="185738"/>
                </a:cubicBezTo>
                <a:close/>
              </a:path>
            </a:pathLst>
          </a:custGeom>
          <a:solidFill>
            <a:srgbClr val="00D4FF"/>
          </a:solidFill>
          <a:ln/>
        </p:spPr>
      </p:sp>
      <p:sp>
        <p:nvSpPr>
          <p:cNvPr id="13" name="Text 10"/>
          <p:cNvSpPr/>
          <p:nvPr/>
        </p:nvSpPr>
        <p:spPr>
          <a:xfrm>
            <a:off x="6731000" y="18415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Remove Trusted Devices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Delete unused paired devices from your phone</a:t>
            </a:r>
            <a:endParaRPr lang="en-US" sz="1600" dirty="0"/>
          </a:p>
        </p:txBody>
      </p:sp>
      <p:sp>
        <p:nvSpPr>
          <p:cNvPr id="14" name="Shape 11"/>
          <p:cNvSpPr/>
          <p:nvPr/>
        </p:nvSpPr>
        <p:spPr>
          <a:xfrm>
            <a:off x="10795000" y="15875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5" name="Shape 12"/>
          <p:cNvSpPr/>
          <p:nvPr/>
        </p:nvSpPr>
        <p:spPr>
          <a:xfrm>
            <a:off x="11169650" y="1968500"/>
            <a:ext cx="342900" cy="457200"/>
          </a:xfrm>
          <a:custGeom>
            <a:avLst/>
            <a:gdLst/>
            <a:ahLst/>
            <a:cxnLst/>
            <a:rect l="l" t="t" r="r" b="b"/>
            <a:pathLst>
              <a:path w="342900" h="457200">
                <a:moveTo>
                  <a:pt x="114300" y="85725"/>
                </a:moveTo>
                <a:lnTo>
                  <a:pt x="114300" y="142875"/>
                </a:lnTo>
                <a:lnTo>
                  <a:pt x="228600" y="142875"/>
                </a:lnTo>
                <a:lnTo>
                  <a:pt x="228600" y="85725"/>
                </a:lnTo>
                <a:cubicBezTo>
                  <a:pt x="228600" y="54203"/>
                  <a:pt x="202972" y="28575"/>
                  <a:pt x="171450" y="28575"/>
                </a:cubicBezTo>
                <a:cubicBezTo>
                  <a:pt x="139928" y="28575"/>
                  <a:pt x="114300" y="54203"/>
                  <a:pt x="114300" y="85725"/>
                </a:cubicBezTo>
                <a:close/>
                <a:moveTo>
                  <a:pt x="57150" y="142875"/>
                </a:moveTo>
                <a:lnTo>
                  <a:pt x="57150" y="85725"/>
                </a:lnTo>
                <a:cubicBezTo>
                  <a:pt x="57150" y="22592"/>
                  <a:pt x="108317" y="-28575"/>
                  <a:pt x="171450" y="-28575"/>
                </a:cubicBezTo>
                <a:cubicBezTo>
                  <a:pt x="234583" y="-28575"/>
                  <a:pt x="285750" y="22592"/>
                  <a:pt x="285750" y="85725"/>
                </a:cubicBezTo>
                <a:lnTo>
                  <a:pt x="285750" y="142875"/>
                </a:lnTo>
                <a:cubicBezTo>
                  <a:pt x="317272" y="142875"/>
                  <a:pt x="342900" y="168503"/>
                  <a:pt x="342900" y="200025"/>
                </a:cubicBezTo>
                <a:lnTo>
                  <a:pt x="342900" y="400050"/>
                </a:lnTo>
                <a:cubicBezTo>
                  <a:pt x="342900" y="431572"/>
                  <a:pt x="317272" y="457200"/>
                  <a:pt x="285750" y="457200"/>
                </a:cubicBezTo>
                <a:lnTo>
                  <a:pt x="57150" y="457200"/>
                </a:lnTo>
                <a:cubicBezTo>
                  <a:pt x="25628" y="457200"/>
                  <a:pt x="0" y="431572"/>
                  <a:pt x="0" y="400050"/>
                </a:cubicBezTo>
                <a:lnTo>
                  <a:pt x="0" y="200025"/>
                </a:lnTo>
                <a:cubicBezTo>
                  <a:pt x="0" y="168503"/>
                  <a:pt x="25628" y="142875"/>
                  <a:pt x="57150" y="142875"/>
                </a:cubicBezTo>
                <a:close/>
              </a:path>
            </a:pathLst>
          </a:custGeom>
          <a:solidFill>
            <a:srgbClr val="00D4FF"/>
          </a:solidFill>
          <a:ln/>
        </p:spPr>
      </p:sp>
      <p:sp>
        <p:nvSpPr>
          <p:cNvPr id="16" name="Text 13"/>
          <p:cNvSpPr/>
          <p:nvPr/>
        </p:nvSpPr>
        <p:spPr>
          <a:xfrm>
            <a:off x="11747500" y="18415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Restrict MAP Permissions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Limit Message Access Profile permissions</a:t>
            </a:r>
            <a:endParaRPr lang="en-US" sz="1600" dirty="0"/>
          </a:p>
        </p:txBody>
      </p:sp>
      <p:sp>
        <p:nvSpPr>
          <p:cNvPr id="17" name="Shape 14"/>
          <p:cNvSpPr/>
          <p:nvPr/>
        </p:nvSpPr>
        <p:spPr>
          <a:xfrm>
            <a:off x="762000" y="35560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18" name="Shape 15"/>
          <p:cNvSpPr/>
          <p:nvPr/>
        </p:nvSpPr>
        <p:spPr>
          <a:xfrm>
            <a:off x="1136650" y="3937000"/>
            <a:ext cx="342900" cy="457200"/>
          </a:xfrm>
          <a:custGeom>
            <a:avLst/>
            <a:gdLst/>
            <a:ahLst/>
            <a:cxnLst/>
            <a:rect l="l" t="t" r="r" b="b"/>
            <a:pathLst>
              <a:path w="342900" h="457200">
                <a:moveTo>
                  <a:pt x="14288" y="57150"/>
                </a:moveTo>
                <a:cubicBezTo>
                  <a:pt x="14288" y="25628"/>
                  <a:pt x="39916" y="0"/>
                  <a:pt x="71438" y="0"/>
                </a:cubicBezTo>
                <a:lnTo>
                  <a:pt x="271463" y="0"/>
                </a:lnTo>
                <a:cubicBezTo>
                  <a:pt x="302984" y="0"/>
                  <a:pt x="328613" y="25628"/>
                  <a:pt x="328613" y="57150"/>
                </a:cubicBezTo>
                <a:lnTo>
                  <a:pt x="328613" y="400050"/>
                </a:lnTo>
                <a:cubicBezTo>
                  <a:pt x="328613" y="431572"/>
                  <a:pt x="302984" y="457200"/>
                  <a:pt x="271463" y="457200"/>
                </a:cubicBezTo>
                <a:lnTo>
                  <a:pt x="71438" y="457200"/>
                </a:lnTo>
                <a:cubicBezTo>
                  <a:pt x="39916" y="457200"/>
                  <a:pt x="14288" y="431572"/>
                  <a:pt x="14288" y="400050"/>
                </a:cubicBezTo>
                <a:lnTo>
                  <a:pt x="14288" y="57150"/>
                </a:lnTo>
                <a:close/>
                <a:moveTo>
                  <a:pt x="71438" y="57150"/>
                </a:moveTo>
                <a:lnTo>
                  <a:pt x="71438" y="328613"/>
                </a:lnTo>
                <a:lnTo>
                  <a:pt x="271463" y="328613"/>
                </a:lnTo>
                <a:lnTo>
                  <a:pt x="271463" y="57150"/>
                </a:lnTo>
                <a:lnTo>
                  <a:pt x="71438" y="57150"/>
                </a:lnTo>
                <a:close/>
                <a:moveTo>
                  <a:pt x="171450" y="421481"/>
                </a:moveTo>
                <a:cubicBezTo>
                  <a:pt x="187256" y="421481"/>
                  <a:pt x="200025" y="408712"/>
                  <a:pt x="200025" y="392906"/>
                </a:cubicBezTo>
                <a:cubicBezTo>
                  <a:pt x="200025" y="377101"/>
                  <a:pt x="187256" y="364331"/>
                  <a:pt x="171450" y="364331"/>
                </a:cubicBezTo>
                <a:cubicBezTo>
                  <a:pt x="155644" y="364331"/>
                  <a:pt x="142875" y="377101"/>
                  <a:pt x="142875" y="392906"/>
                </a:cubicBezTo>
                <a:cubicBezTo>
                  <a:pt x="142875" y="408712"/>
                  <a:pt x="155644" y="421481"/>
                  <a:pt x="171450" y="421481"/>
                </a:cubicBezTo>
                <a:close/>
              </a:path>
            </a:pathLst>
          </a:custGeom>
          <a:solidFill>
            <a:srgbClr val="00E5A0"/>
          </a:solidFill>
          <a:ln/>
        </p:spPr>
      </p:sp>
      <p:sp>
        <p:nvSpPr>
          <p:cNvPr id="19" name="Text 16"/>
          <p:cNvSpPr/>
          <p:nvPr/>
        </p:nvSpPr>
        <p:spPr>
          <a:xfrm>
            <a:off x="1714500" y="38100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Use Authenticator Apps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Replace SMS OTP with app-based 2FA</a:t>
            </a:r>
            <a:endParaRPr lang="en-US" sz="1600" dirty="0"/>
          </a:p>
        </p:txBody>
      </p:sp>
      <p:sp>
        <p:nvSpPr>
          <p:cNvPr id="20" name="Shape 17"/>
          <p:cNvSpPr/>
          <p:nvPr/>
        </p:nvSpPr>
        <p:spPr>
          <a:xfrm>
            <a:off x="5778500" y="35560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1" name="Shape 18"/>
          <p:cNvSpPr/>
          <p:nvPr/>
        </p:nvSpPr>
        <p:spPr>
          <a:xfrm>
            <a:off x="6096000" y="39370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E5A0"/>
          </a:solidFill>
          <a:ln/>
        </p:spPr>
      </p:sp>
      <p:sp>
        <p:nvSpPr>
          <p:cNvPr id="22" name="Text 19"/>
          <p:cNvSpPr/>
          <p:nvPr/>
        </p:nvSpPr>
        <p:spPr>
          <a:xfrm>
            <a:off x="6731000" y="38100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Hardware Security Keys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Use physical keys for critical accounts</a:t>
            </a:r>
            <a:endParaRPr lang="en-US" sz="1600" dirty="0"/>
          </a:p>
        </p:txBody>
      </p:sp>
      <p:sp>
        <p:nvSpPr>
          <p:cNvPr id="23" name="Shape 20"/>
          <p:cNvSpPr/>
          <p:nvPr/>
        </p:nvSpPr>
        <p:spPr>
          <a:xfrm>
            <a:off x="10795000" y="35560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4" name="Shape 21"/>
          <p:cNvSpPr/>
          <p:nvPr/>
        </p:nvSpPr>
        <p:spPr>
          <a:xfrm>
            <a:off x="11112500" y="39370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00E5A0"/>
          </a:solidFill>
          <a:ln/>
        </p:spPr>
      </p:sp>
      <p:sp>
        <p:nvSpPr>
          <p:cNvPr id="25" name="Text 22"/>
          <p:cNvSpPr/>
          <p:nvPr/>
        </p:nvSpPr>
        <p:spPr>
          <a:xfrm>
            <a:off x="11747500" y="38100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Stronger MFA</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Implement multi-factor beyond SMS</a:t>
            </a:r>
            <a:endParaRPr lang="en-US" sz="1600" dirty="0"/>
          </a:p>
        </p:txBody>
      </p:sp>
      <p:sp>
        <p:nvSpPr>
          <p:cNvPr id="26" name="Shape 23"/>
          <p:cNvSpPr/>
          <p:nvPr/>
        </p:nvSpPr>
        <p:spPr>
          <a:xfrm>
            <a:off x="3263900" y="55245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27" name="Shape 24"/>
          <p:cNvSpPr/>
          <p:nvPr/>
        </p:nvSpPr>
        <p:spPr>
          <a:xfrm>
            <a:off x="3524250" y="5905500"/>
            <a:ext cx="571500" cy="457200"/>
          </a:xfrm>
          <a:custGeom>
            <a:avLst/>
            <a:gdLst/>
            <a:ahLst/>
            <a:cxnLst/>
            <a:rect l="l" t="t" r="r" b="b"/>
            <a:pathLst>
              <a:path w="571500" h="457200">
                <a:moveTo>
                  <a:pt x="285750" y="14288"/>
                </a:moveTo>
                <a:cubicBezTo>
                  <a:pt x="337006" y="14288"/>
                  <a:pt x="378619" y="55901"/>
                  <a:pt x="378619" y="107156"/>
                </a:cubicBezTo>
                <a:cubicBezTo>
                  <a:pt x="378619" y="158412"/>
                  <a:pt x="337006" y="200025"/>
                  <a:pt x="285750" y="200025"/>
                </a:cubicBezTo>
                <a:cubicBezTo>
                  <a:pt x="234494" y="200025"/>
                  <a:pt x="192881" y="158412"/>
                  <a:pt x="192881" y="107156"/>
                </a:cubicBezTo>
                <a:cubicBezTo>
                  <a:pt x="192881" y="55901"/>
                  <a:pt x="234494" y="14288"/>
                  <a:pt x="285750" y="14288"/>
                </a:cubicBezTo>
                <a:close/>
                <a:moveTo>
                  <a:pt x="85725" y="78581"/>
                </a:moveTo>
                <a:cubicBezTo>
                  <a:pt x="121210" y="78581"/>
                  <a:pt x="150019" y="107390"/>
                  <a:pt x="150019" y="142875"/>
                </a:cubicBezTo>
                <a:cubicBezTo>
                  <a:pt x="150019" y="178360"/>
                  <a:pt x="121210" y="207169"/>
                  <a:pt x="85725" y="207169"/>
                </a:cubicBezTo>
                <a:cubicBezTo>
                  <a:pt x="50240" y="207169"/>
                  <a:pt x="21431" y="178360"/>
                  <a:pt x="21431" y="142875"/>
                </a:cubicBezTo>
                <a:cubicBezTo>
                  <a:pt x="21431" y="107390"/>
                  <a:pt x="50240" y="78581"/>
                  <a:pt x="85725" y="78581"/>
                </a:cubicBezTo>
                <a:close/>
                <a:moveTo>
                  <a:pt x="0" y="371475"/>
                </a:moveTo>
                <a:cubicBezTo>
                  <a:pt x="0" y="308342"/>
                  <a:pt x="51167" y="257175"/>
                  <a:pt x="114300" y="257175"/>
                </a:cubicBezTo>
                <a:cubicBezTo>
                  <a:pt x="125730" y="257175"/>
                  <a:pt x="136803" y="258872"/>
                  <a:pt x="147251" y="261997"/>
                </a:cubicBezTo>
                <a:cubicBezTo>
                  <a:pt x="117872" y="294858"/>
                  <a:pt x="100013" y="338257"/>
                  <a:pt x="100013" y="385763"/>
                </a:cubicBezTo>
                <a:lnTo>
                  <a:pt x="100013" y="400050"/>
                </a:lnTo>
                <a:cubicBezTo>
                  <a:pt x="100013" y="410230"/>
                  <a:pt x="102156" y="419874"/>
                  <a:pt x="105995" y="428625"/>
                </a:cubicBezTo>
                <a:lnTo>
                  <a:pt x="28575" y="428625"/>
                </a:lnTo>
                <a:cubicBezTo>
                  <a:pt x="12769" y="428625"/>
                  <a:pt x="0" y="415856"/>
                  <a:pt x="0" y="400050"/>
                </a:cubicBezTo>
                <a:lnTo>
                  <a:pt x="0" y="371475"/>
                </a:lnTo>
                <a:close/>
                <a:moveTo>
                  <a:pt x="465505" y="428625"/>
                </a:moveTo>
                <a:cubicBezTo>
                  <a:pt x="469344" y="419874"/>
                  <a:pt x="471488" y="410230"/>
                  <a:pt x="471488" y="400050"/>
                </a:cubicBezTo>
                <a:lnTo>
                  <a:pt x="471488" y="385763"/>
                </a:lnTo>
                <a:cubicBezTo>
                  <a:pt x="471488" y="338257"/>
                  <a:pt x="453628" y="294858"/>
                  <a:pt x="424249" y="261997"/>
                </a:cubicBezTo>
                <a:cubicBezTo>
                  <a:pt x="434697" y="258872"/>
                  <a:pt x="445770" y="257175"/>
                  <a:pt x="457200" y="257175"/>
                </a:cubicBezTo>
                <a:cubicBezTo>
                  <a:pt x="520333" y="257175"/>
                  <a:pt x="571500" y="308342"/>
                  <a:pt x="571500" y="371475"/>
                </a:cubicBezTo>
                <a:lnTo>
                  <a:pt x="571500" y="400050"/>
                </a:lnTo>
                <a:cubicBezTo>
                  <a:pt x="571500" y="415856"/>
                  <a:pt x="558731" y="428625"/>
                  <a:pt x="542925" y="428625"/>
                </a:cubicBezTo>
                <a:lnTo>
                  <a:pt x="465505" y="428625"/>
                </a:lnTo>
                <a:close/>
                <a:moveTo>
                  <a:pt x="421481" y="142875"/>
                </a:moveTo>
                <a:cubicBezTo>
                  <a:pt x="421481" y="107390"/>
                  <a:pt x="450290" y="78581"/>
                  <a:pt x="485775" y="78581"/>
                </a:cubicBezTo>
                <a:cubicBezTo>
                  <a:pt x="521260" y="78581"/>
                  <a:pt x="550069" y="107390"/>
                  <a:pt x="550069" y="142875"/>
                </a:cubicBezTo>
                <a:cubicBezTo>
                  <a:pt x="550069" y="178360"/>
                  <a:pt x="521260" y="207169"/>
                  <a:pt x="485775" y="207169"/>
                </a:cubicBezTo>
                <a:cubicBezTo>
                  <a:pt x="450290" y="207169"/>
                  <a:pt x="421481" y="178360"/>
                  <a:pt x="421481" y="142875"/>
                </a:cubicBezTo>
                <a:close/>
                <a:moveTo>
                  <a:pt x="142875" y="385763"/>
                </a:moveTo>
                <a:cubicBezTo>
                  <a:pt x="142875" y="306824"/>
                  <a:pt x="206812" y="242888"/>
                  <a:pt x="285750" y="242888"/>
                </a:cubicBezTo>
                <a:cubicBezTo>
                  <a:pt x="364688" y="242888"/>
                  <a:pt x="428625" y="306824"/>
                  <a:pt x="428625" y="385763"/>
                </a:cubicBezTo>
                <a:lnTo>
                  <a:pt x="428625" y="400050"/>
                </a:lnTo>
                <a:cubicBezTo>
                  <a:pt x="428625" y="415856"/>
                  <a:pt x="415856" y="428625"/>
                  <a:pt x="400050" y="428625"/>
                </a:cubicBezTo>
                <a:lnTo>
                  <a:pt x="171450" y="428625"/>
                </a:lnTo>
                <a:cubicBezTo>
                  <a:pt x="155644" y="428625"/>
                  <a:pt x="142875" y="415856"/>
                  <a:pt x="142875" y="400050"/>
                </a:cubicBezTo>
                <a:lnTo>
                  <a:pt x="142875" y="385763"/>
                </a:lnTo>
                <a:close/>
              </a:path>
            </a:pathLst>
          </a:custGeom>
          <a:solidFill>
            <a:srgbClr val="FF9F43"/>
          </a:solidFill>
          <a:ln/>
        </p:spPr>
      </p:sp>
      <p:sp>
        <p:nvSpPr>
          <p:cNvPr id="28" name="Text 25"/>
          <p:cNvSpPr/>
          <p:nvPr/>
        </p:nvSpPr>
        <p:spPr>
          <a:xfrm>
            <a:off x="4216400" y="57785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User Awareness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Educate users about Bluetooth security risks</a:t>
            </a:r>
            <a:endParaRPr lang="en-US" sz="1600" dirty="0"/>
          </a:p>
        </p:txBody>
      </p:sp>
      <p:sp>
        <p:nvSpPr>
          <p:cNvPr id="29" name="Shape 26"/>
          <p:cNvSpPr/>
          <p:nvPr/>
        </p:nvSpPr>
        <p:spPr>
          <a:xfrm>
            <a:off x="8280400" y="5524500"/>
            <a:ext cx="4699000" cy="1651000"/>
          </a:xfrm>
          <a:prstGeom prst="roundRect">
            <a:avLst>
              <a:gd name="adj" fmla="val 8000"/>
            </a:avLst>
          </a:prstGeom>
          <a:solidFill>
            <a:srgbClr val="0D1E45">
              <a:alpha val="37647"/>
            </a:srgbClr>
          </a:solidFill>
          <a:ln w="12700">
            <a:solidFill>
              <a:srgbClr val="00D4FF">
                <a:alpha val="18824"/>
              </a:srgbClr>
            </a:solidFill>
            <a:prstDash val="solid"/>
          </a:ln>
        </p:spPr>
      </p:sp>
      <p:sp>
        <p:nvSpPr>
          <p:cNvPr id="30" name="Shape 27"/>
          <p:cNvSpPr/>
          <p:nvPr/>
        </p:nvSpPr>
        <p:spPr>
          <a:xfrm>
            <a:off x="8597900" y="5905500"/>
            <a:ext cx="457200" cy="457200"/>
          </a:xfrm>
          <a:custGeom>
            <a:avLst/>
            <a:gdLst/>
            <a:ahLst/>
            <a:cxnLst/>
            <a:rect l="l" t="t" r="r" b="b"/>
            <a:pathLst>
              <a:path w="457200" h="457200">
                <a:moveTo>
                  <a:pt x="428714" y="171450"/>
                </a:moveTo>
                <a:lnTo>
                  <a:pt x="435769" y="171450"/>
                </a:lnTo>
                <a:cubicBezTo>
                  <a:pt x="447645" y="171450"/>
                  <a:pt x="457200" y="161895"/>
                  <a:pt x="457200" y="150019"/>
                </a:cubicBezTo>
                <a:lnTo>
                  <a:pt x="457200" y="21431"/>
                </a:lnTo>
                <a:cubicBezTo>
                  <a:pt x="457200" y="12769"/>
                  <a:pt x="452021" y="4911"/>
                  <a:pt x="443984" y="1607"/>
                </a:cubicBezTo>
                <a:cubicBezTo>
                  <a:pt x="435947" y="-1697"/>
                  <a:pt x="426750" y="179"/>
                  <a:pt x="420588" y="6251"/>
                </a:cubicBezTo>
                <a:lnTo>
                  <a:pt x="374422" y="52507"/>
                </a:lnTo>
                <a:cubicBezTo>
                  <a:pt x="334863" y="19735"/>
                  <a:pt x="283964" y="0"/>
                  <a:pt x="228600" y="0"/>
                </a:cubicBezTo>
                <a:cubicBezTo>
                  <a:pt x="113407" y="0"/>
                  <a:pt x="18127" y="85189"/>
                  <a:pt x="2322" y="196007"/>
                </a:cubicBezTo>
                <a:cubicBezTo>
                  <a:pt x="89" y="211634"/>
                  <a:pt x="10894" y="226100"/>
                  <a:pt x="26521" y="228332"/>
                </a:cubicBezTo>
                <a:cubicBezTo>
                  <a:pt x="42148" y="230565"/>
                  <a:pt x="56614" y="219670"/>
                  <a:pt x="58847" y="204133"/>
                </a:cubicBezTo>
                <a:cubicBezTo>
                  <a:pt x="70723" y="120997"/>
                  <a:pt x="142250" y="57150"/>
                  <a:pt x="228600" y="57150"/>
                </a:cubicBezTo>
                <a:cubicBezTo>
                  <a:pt x="268248" y="57150"/>
                  <a:pt x="304681" y="70545"/>
                  <a:pt x="333702" y="93137"/>
                </a:cubicBezTo>
                <a:lnTo>
                  <a:pt x="292001" y="134838"/>
                </a:lnTo>
                <a:cubicBezTo>
                  <a:pt x="285839" y="141000"/>
                  <a:pt x="284053" y="150197"/>
                  <a:pt x="287357" y="158234"/>
                </a:cubicBezTo>
                <a:cubicBezTo>
                  <a:pt x="290661" y="166271"/>
                  <a:pt x="298519" y="171450"/>
                  <a:pt x="307181" y="171450"/>
                </a:cubicBezTo>
                <a:lnTo>
                  <a:pt x="428714" y="171450"/>
                </a:lnTo>
                <a:close/>
                <a:moveTo>
                  <a:pt x="454968" y="261193"/>
                </a:moveTo>
                <a:cubicBezTo>
                  <a:pt x="457200" y="245566"/>
                  <a:pt x="446306" y="231100"/>
                  <a:pt x="430768" y="228868"/>
                </a:cubicBezTo>
                <a:cubicBezTo>
                  <a:pt x="415230" y="226635"/>
                  <a:pt x="400675" y="237530"/>
                  <a:pt x="398443" y="253067"/>
                </a:cubicBezTo>
                <a:cubicBezTo>
                  <a:pt x="386566" y="336113"/>
                  <a:pt x="315039" y="399961"/>
                  <a:pt x="228689" y="399961"/>
                </a:cubicBezTo>
                <a:cubicBezTo>
                  <a:pt x="189041" y="399961"/>
                  <a:pt x="152608" y="386566"/>
                  <a:pt x="123587" y="363974"/>
                </a:cubicBezTo>
                <a:lnTo>
                  <a:pt x="165199" y="322362"/>
                </a:lnTo>
                <a:cubicBezTo>
                  <a:pt x="171361" y="316200"/>
                  <a:pt x="173147" y="307003"/>
                  <a:pt x="169843" y="298966"/>
                </a:cubicBezTo>
                <a:cubicBezTo>
                  <a:pt x="166539" y="290929"/>
                  <a:pt x="158681" y="285750"/>
                  <a:pt x="150019" y="285750"/>
                </a:cubicBezTo>
                <a:lnTo>
                  <a:pt x="21431" y="285750"/>
                </a:lnTo>
                <a:cubicBezTo>
                  <a:pt x="9555" y="285750"/>
                  <a:pt x="0" y="295305"/>
                  <a:pt x="0" y="307181"/>
                </a:cubicBezTo>
                <a:lnTo>
                  <a:pt x="0" y="435769"/>
                </a:lnTo>
                <a:cubicBezTo>
                  <a:pt x="0" y="444431"/>
                  <a:pt x="5179" y="452289"/>
                  <a:pt x="13216" y="455593"/>
                </a:cubicBezTo>
                <a:cubicBezTo>
                  <a:pt x="21253" y="458897"/>
                  <a:pt x="30450" y="457021"/>
                  <a:pt x="36612" y="450949"/>
                </a:cubicBezTo>
                <a:lnTo>
                  <a:pt x="82867" y="404693"/>
                </a:lnTo>
                <a:cubicBezTo>
                  <a:pt x="122337" y="437465"/>
                  <a:pt x="173236" y="457200"/>
                  <a:pt x="228600" y="457200"/>
                </a:cubicBezTo>
                <a:cubicBezTo>
                  <a:pt x="343793" y="457200"/>
                  <a:pt x="439073" y="372011"/>
                  <a:pt x="454878" y="261193"/>
                </a:cubicBezTo>
                <a:close/>
              </a:path>
            </a:pathLst>
          </a:custGeom>
          <a:solidFill>
            <a:srgbClr val="FF9F43"/>
          </a:solidFill>
          <a:ln/>
        </p:spPr>
      </p:sp>
      <p:sp>
        <p:nvSpPr>
          <p:cNvPr id="31" name="Text 28"/>
          <p:cNvSpPr/>
          <p:nvPr/>
        </p:nvSpPr>
        <p:spPr>
          <a:xfrm>
            <a:off x="9232900" y="5778500"/>
            <a:ext cx="3492500" cy="1143000"/>
          </a:xfrm>
          <a:prstGeom prst="rect">
            <a:avLst/>
          </a:prstGeom>
          <a:noFill/>
          <a:ln/>
        </p:spPr>
        <p:txBody>
          <a:bodyPr wrap="square" lIns="0" tIns="0" rIns="0" bIns="0" rtlCol="0" anchor="t"/>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Regular Audits</a:t>
            </a:r>
            <a:endParaRPr lang="en-US" sz="1600" dirty="0"/>
          </a:p>
          <a:p>
            <a:pPr>
              <a:lnSpc>
                <a:spcPct val="150000"/>
              </a:lnSpc>
            </a:pPr>
            <a:r>
              <a:rPr lang="en-US" sz="1600" dirty="0">
                <a:solidFill>
                  <a:srgbClr val="E8EDF5"/>
                </a:solidFill>
                <a:latin typeface="Quattrocento Sans" pitchFamily="34" charset="0"/>
                <a:ea typeface="Quattrocento Sans" pitchFamily="34" charset="-122"/>
                <a:cs typeface="Quattrocento Sans" pitchFamily="34" charset="-120"/>
              </a:rPr>
              <a:t>Periodically review Bluetooth pairings</a:t>
            </a:r>
            <a:endParaRPr lang="en-US" sz="1600" dirty="0"/>
          </a:p>
        </p:txBody>
      </p:sp>
      <p:sp>
        <p:nvSpPr>
          <p:cNvPr id="32" name="Shape 29"/>
          <p:cNvSpPr/>
          <p:nvPr/>
        </p:nvSpPr>
        <p:spPr>
          <a:xfrm>
            <a:off x="762000" y="8382000"/>
            <a:ext cx="14732000" cy="12700"/>
          </a:xfrm>
          <a:prstGeom prst="rect">
            <a:avLst/>
          </a:prstGeom>
          <a:solidFill>
            <a:srgbClr val="1E3A6E"/>
          </a:solidFill>
          <a:ln/>
        </p:spPr>
      </p:sp>
      <p:sp>
        <p:nvSpPr>
          <p:cNvPr id="33" name="Text 30"/>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4" name="Text 31"/>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16 / 18</a:t>
            </a:r>
            <a:endParaRPr lang="en-US" sz="1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D1F"/>
        </a:solidFill>
        <a:effectLst/>
      </p:bgPr>
    </p:bg>
    <p:spTree>
      <p:nvGrpSpPr>
        <p:cNvPr id="1" name=""/>
        <p:cNvGrpSpPr/>
        <p:nvPr/>
      </p:nvGrpSpPr>
      <p:grpSpPr>
        <a:xfrm>
          <a:off x="0" y="0"/>
          <a:ext cx="0" cy="0"/>
          <a:chOff x="0" y="0"/>
          <a:chExt cx="0" cy="0"/>
        </a:xfrm>
      </p:grpSpPr>
      <p:sp>
        <p:nvSpPr>
          <p:cNvPr id="3" name="Shape 0"/>
          <p:cNvSpPr/>
          <p:nvPr/>
        </p:nvSpPr>
        <p:spPr>
          <a:xfrm>
            <a:off x="0" y="0"/>
            <a:ext cx="16256000" cy="508000"/>
          </a:xfrm>
          <a:prstGeom prst="rect">
            <a:avLst/>
          </a:prstGeom>
          <a:solidFill>
            <a:srgbClr val="0A1628"/>
          </a:solidFill>
          <a:ln/>
        </p:spPr>
      </p:sp>
      <p:sp>
        <p:nvSpPr>
          <p:cNvPr id="4" name="Shape 1"/>
          <p:cNvSpPr/>
          <p:nvPr/>
        </p:nvSpPr>
        <p:spPr>
          <a:xfrm>
            <a:off x="11188700" y="0"/>
            <a:ext cx="1016000" cy="38100"/>
          </a:xfrm>
          <a:prstGeom prst="rect">
            <a:avLst/>
          </a:prstGeom>
          <a:solidFill>
            <a:srgbClr val="00D4FF"/>
          </a:solidFill>
          <a:ln/>
        </p:spPr>
      </p:sp>
      <p:sp>
        <p:nvSpPr>
          <p:cNvPr id="5" name="Text 2"/>
          <p:cNvSpPr/>
          <p:nvPr/>
        </p:nvSpPr>
        <p:spPr>
          <a:xfrm>
            <a:off x="762000" y="101600"/>
            <a:ext cx="14732000" cy="304800"/>
          </a:xfrm>
          <a:prstGeom prst="rect">
            <a:avLst/>
          </a:prstGeom>
          <a:noFill/>
          <a:ln/>
        </p:spPr>
        <p:txBody>
          <a:bodyPr wrap="none" lIns="0" tIns="0" rIns="0" bIns="0" rtlCol="0" anchor="ctr"/>
          <a:lstStyle/>
          <a:p>
            <a:pPr algn="ctr">
              <a:lnSpc>
                <a:spcPct val="100000"/>
              </a:lnSpc>
            </a:pPr>
            <a:r>
              <a:rPr lang="en-US" sz="1200" kern="0" spc="100" dirty="0">
                <a:solidFill>
                  <a:srgbClr val="8B9DC3"/>
                </a:solidFill>
                <a:latin typeface="Liter" pitchFamily="34" charset="0"/>
                <a:ea typeface="Liter" pitchFamily="34" charset="-122"/>
                <a:cs typeface="Liter" pitchFamily="34" charset="-120"/>
              </a:rPr>
              <a:t>TEAM | INTRODUCTION | OBJECTIVES | OVERVIEW | ARCHITECTURE | PHASES | CHALLENGES | SECURITY | </a:t>
            </a:r>
            <a:r>
              <a:rPr lang="en-US" sz="1200" kern="0" spc="100" dirty="0">
                <a:solidFill>
                  <a:srgbClr val="00D4FF"/>
                </a:solidFill>
                <a:latin typeface="Liter" pitchFamily="34" charset="0"/>
                <a:ea typeface="Liter" pitchFamily="34" charset="-122"/>
                <a:cs typeface="Liter" pitchFamily="34" charset="-120"/>
              </a:rPr>
              <a:t>RESULTS</a:t>
            </a:r>
            <a:endParaRPr lang="en-US" sz="1200" dirty="0"/>
          </a:p>
        </p:txBody>
      </p:sp>
      <p:sp>
        <p:nvSpPr>
          <p:cNvPr id="6" name="Text 3"/>
          <p:cNvSpPr/>
          <p:nvPr/>
        </p:nvSpPr>
        <p:spPr>
          <a:xfrm>
            <a:off x="762000" y="698500"/>
            <a:ext cx="6350000" cy="508000"/>
          </a:xfrm>
          <a:prstGeom prst="rect">
            <a:avLst/>
          </a:prstGeom>
          <a:noFill/>
          <a:ln/>
        </p:spPr>
        <p:txBody>
          <a:bodyPr wrap="none" lIns="0" tIns="0" rIns="0" bIns="0" rtlCol="0" anchor="ctr"/>
          <a:lstStyle/>
          <a:p>
            <a:pPr>
              <a:lnSpc>
                <a:spcPct val="130000"/>
              </a:lnSpc>
            </a:pPr>
            <a:r>
              <a:rPr lang="en-US" sz="3000" dirty="0">
                <a:solidFill>
                  <a:srgbClr val="FFFFFF"/>
                </a:solidFill>
                <a:latin typeface="Liter" pitchFamily="34" charset="0"/>
                <a:ea typeface="Liter" pitchFamily="34" charset="-122"/>
                <a:cs typeface="Liter" pitchFamily="34" charset="-120"/>
              </a:rPr>
              <a:t>Results Achieved</a:t>
            </a:r>
            <a:endParaRPr lang="en-US" sz="3000" dirty="0"/>
          </a:p>
        </p:txBody>
      </p:sp>
      <p:sp>
        <p:nvSpPr>
          <p:cNvPr id="7" name="Shape 4"/>
          <p:cNvSpPr/>
          <p:nvPr/>
        </p:nvSpPr>
        <p:spPr>
          <a:xfrm>
            <a:off x="762000" y="1270000"/>
            <a:ext cx="1016000" cy="38100"/>
          </a:xfrm>
          <a:prstGeom prst="rect">
            <a:avLst/>
          </a:prstGeom>
          <a:solidFill>
            <a:srgbClr val="00D4FF"/>
          </a:solidFill>
          <a:ln/>
        </p:spPr>
      </p:sp>
      <p:sp>
        <p:nvSpPr>
          <p:cNvPr id="8" name="Shape 5"/>
          <p:cNvSpPr/>
          <p:nvPr/>
        </p:nvSpPr>
        <p:spPr>
          <a:xfrm>
            <a:off x="762000" y="1651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9" name="Shape 6"/>
          <p:cNvSpPr/>
          <p:nvPr/>
        </p:nvSpPr>
        <p:spPr>
          <a:xfrm>
            <a:off x="1079500" y="2032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10" name="Text 7"/>
          <p:cNvSpPr/>
          <p:nvPr/>
        </p:nvSpPr>
        <p:spPr>
          <a:xfrm>
            <a:off x="1778000" y="1841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Bluetooth Device Pairing</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Successful pairing between Kali Linux and Android</a:t>
            </a:r>
            <a:endParaRPr lang="en-US" sz="1600" dirty="0"/>
          </a:p>
        </p:txBody>
      </p:sp>
      <p:sp>
        <p:nvSpPr>
          <p:cNvPr id="11" name="Shape 8"/>
          <p:cNvSpPr/>
          <p:nvPr/>
        </p:nvSpPr>
        <p:spPr>
          <a:xfrm>
            <a:off x="8382000" y="1651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12" name="Shape 9"/>
          <p:cNvSpPr/>
          <p:nvPr/>
        </p:nvSpPr>
        <p:spPr>
          <a:xfrm>
            <a:off x="8699500" y="2032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13" name="Text 10"/>
          <p:cNvSpPr/>
          <p:nvPr/>
        </p:nvSpPr>
        <p:spPr>
          <a:xfrm>
            <a:off x="9398000" y="1841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MAP Service Discovery</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Located and identified MAP service on target</a:t>
            </a:r>
            <a:endParaRPr lang="en-US" sz="1600" dirty="0"/>
          </a:p>
        </p:txBody>
      </p:sp>
      <p:sp>
        <p:nvSpPr>
          <p:cNvPr id="14" name="Shape 11"/>
          <p:cNvSpPr/>
          <p:nvPr/>
        </p:nvSpPr>
        <p:spPr>
          <a:xfrm>
            <a:off x="762000" y="3302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15" name="Shape 12"/>
          <p:cNvSpPr/>
          <p:nvPr/>
        </p:nvSpPr>
        <p:spPr>
          <a:xfrm>
            <a:off x="1079500" y="3683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16" name="Text 13"/>
          <p:cNvSpPr/>
          <p:nvPr/>
        </p:nvSpPr>
        <p:spPr>
          <a:xfrm>
            <a:off x="1778000" y="3492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Bluetooth Communication</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Established stable MAP protocol connection</a:t>
            </a:r>
            <a:endParaRPr lang="en-US" sz="1600" dirty="0"/>
          </a:p>
        </p:txBody>
      </p:sp>
      <p:sp>
        <p:nvSpPr>
          <p:cNvPr id="17" name="Shape 14"/>
          <p:cNvSpPr/>
          <p:nvPr/>
        </p:nvSpPr>
        <p:spPr>
          <a:xfrm>
            <a:off x="8382000" y="3302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18" name="Shape 15"/>
          <p:cNvSpPr/>
          <p:nvPr/>
        </p:nvSpPr>
        <p:spPr>
          <a:xfrm>
            <a:off x="8699500" y="3683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19" name="Text 16"/>
          <p:cNvSpPr/>
          <p:nvPr/>
        </p:nvSpPr>
        <p:spPr>
          <a:xfrm>
            <a:off x="9398000" y="3492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SMS Event Monitoring</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Real-time message interception achieved</a:t>
            </a:r>
            <a:endParaRPr lang="en-US" sz="1600" dirty="0"/>
          </a:p>
        </p:txBody>
      </p:sp>
      <p:sp>
        <p:nvSpPr>
          <p:cNvPr id="20" name="Shape 17"/>
          <p:cNvSpPr/>
          <p:nvPr/>
        </p:nvSpPr>
        <p:spPr>
          <a:xfrm>
            <a:off x="762000" y="4953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21" name="Shape 18"/>
          <p:cNvSpPr/>
          <p:nvPr/>
        </p:nvSpPr>
        <p:spPr>
          <a:xfrm>
            <a:off x="1079500" y="5334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22" name="Text 19"/>
          <p:cNvSpPr/>
          <p:nvPr/>
        </p:nvSpPr>
        <p:spPr>
          <a:xfrm>
            <a:off x="1778000" y="5143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Dashboard Integration</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Flask dashboard with live event display</a:t>
            </a:r>
            <a:endParaRPr lang="en-US" sz="1600" dirty="0"/>
          </a:p>
        </p:txBody>
      </p:sp>
      <p:sp>
        <p:nvSpPr>
          <p:cNvPr id="23" name="Shape 20"/>
          <p:cNvSpPr/>
          <p:nvPr/>
        </p:nvSpPr>
        <p:spPr>
          <a:xfrm>
            <a:off x="8382000" y="4953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24" name="Shape 21"/>
          <p:cNvSpPr/>
          <p:nvPr/>
        </p:nvSpPr>
        <p:spPr>
          <a:xfrm>
            <a:off x="8699500" y="5334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25" name="Text 22"/>
          <p:cNvSpPr/>
          <p:nvPr/>
        </p:nvSpPr>
        <p:spPr>
          <a:xfrm>
            <a:off x="9398000" y="5143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Firebase OTP Authentication</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Complete OTP simulation system</a:t>
            </a:r>
            <a:endParaRPr lang="en-US" sz="1600" dirty="0"/>
          </a:p>
        </p:txBody>
      </p:sp>
      <p:sp>
        <p:nvSpPr>
          <p:cNvPr id="26" name="Shape 23"/>
          <p:cNvSpPr/>
          <p:nvPr/>
        </p:nvSpPr>
        <p:spPr>
          <a:xfrm>
            <a:off x="762000" y="6604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27" name="Shape 24"/>
          <p:cNvSpPr/>
          <p:nvPr/>
        </p:nvSpPr>
        <p:spPr>
          <a:xfrm>
            <a:off x="1079500" y="6985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28" name="Text 25"/>
          <p:cNvSpPr/>
          <p:nvPr/>
        </p:nvSpPr>
        <p:spPr>
          <a:xfrm>
            <a:off x="1778000" y="6794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Real-Time Visualization</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Live data display and security metrics</a:t>
            </a:r>
            <a:endParaRPr lang="en-US" sz="1600" dirty="0"/>
          </a:p>
        </p:txBody>
      </p:sp>
      <p:sp>
        <p:nvSpPr>
          <p:cNvPr id="29" name="Shape 26"/>
          <p:cNvSpPr/>
          <p:nvPr/>
        </p:nvSpPr>
        <p:spPr>
          <a:xfrm>
            <a:off x="8382000" y="6604000"/>
            <a:ext cx="7112000" cy="1397000"/>
          </a:xfrm>
          <a:prstGeom prst="roundRect">
            <a:avLst>
              <a:gd name="adj" fmla="val 8000"/>
            </a:avLst>
          </a:prstGeom>
          <a:solidFill>
            <a:srgbClr val="0D1E45">
              <a:alpha val="37647"/>
            </a:srgbClr>
          </a:solidFill>
          <a:ln w="12700">
            <a:solidFill>
              <a:srgbClr val="00E5A0">
                <a:alpha val="25098"/>
              </a:srgbClr>
            </a:solidFill>
            <a:prstDash val="solid"/>
          </a:ln>
        </p:spPr>
      </p:sp>
      <p:sp>
        <p:nvSpPr>
          <p:cNvPr id="30" name="Shape 27"/>
          <p:cNvSpPr/>
          <p:nvPr/>
        </p:nvSpPr>
        <p:spPr>
          <a:xfrm>
            <a:off x="8699500" y="6985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00E5A0"/>
          </a:solidFill>
          <a:ln/>
        </p:spPr>
      </p:sp>
      <p:sp>
        <p:nvSpPr>
          <p:cNvPr id="31" name="Text 28"/>
          <p:cNvSpPr/>
          <p:nvPr/>
        </p:nvSpPr>
        <p:spPr>
          <a:xfrm>
            <a:off x="9398000" y="6794500"/>
            <a:ext cx="5842000" cy="1016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Wireless Security Demo</a:t>
            </a:r>
            <a:endParaRPr lang="en-US" sz="1600" dirty="0"/>
          </a:p>
          <a:p>
            <a:pPr>
              <a:lnSpc>
                <a:spcPct val="150000"/>
              </a:lnSpc>
            </a:pPr>
            <a:r>
              <a:rPr lang="en-US" sz="1800" dirty="0">
                <a:solidFill>
                  <a:srgbClr val="E8EDF5"/>
                </a:solidFill>
                <a:latin typeface="Quattrocento Sans" pitchFamily="34" charset="0"/>
                <a:ea typeface="Quattrocento Sans" pitchFamily="34" charset="-122"/>
                <a:cs typeface="Quattrocento Sans" pitchFamily="34" charset="-120"/>
              </a:rPr>
              <a:t>Complete end-to-end attack demonstration</a:t>
            </a:r>
            <a:endParaRPr lang="en-US" sz="1600" dirty="0"/>
          </a:p>
        </p:txBody>
      </p:sp>
      <p:sp>
        <p:nvSpPr>
          <p:cNvPr id="32" name="Shape 29"/>
          <p:cNvSpPr/>
          <p:nvPr/>
        </p:nvSpPr>
        <p:spPr>
          <a:xfrm>
            <a:off x="762000" y="8382000"/>
            <a:ext cx="14732000" cy="12700"/>
          </a:xfrm>
          <a:prstGeom prst="rect">
            <a:avLst/>
          </a:prstGeom>
          <a:solidFill>
            <a:srgbClr val="1E3A6E"/>
          </a:solidFill>
          <a:ln/>
        </p:spPr>
      </p:sp>
      <p:sp>
        <p:nvSpPr>
          <p:cNvPr id="33" name="Text 30"/>
          <p:cNvSpPr/>
          <p:nvPr/>
        </p:nvSpPr>
        <p:spPr>
          <a:xfrm>
            <a:off x="762000" y="8509000"/>
            <a:ext cx="5080000" cy="304800"/>
          </a:xfrm>
          <a:prstGeom prst="rect">
            <a:avLst/>
          </a:prstGeom>
          <a:noFill/>
          <a:ln/>
        </p:spPr>
        <p:txBody>
          <a:bodyPr wrap="none" lIns="0" tIns="0" rIns="0" bIns="0" rtlCol="0" anchor="ctr"/>
          <a:lstStyle/>
          <a:p>
            <a:pPr algn="ctr"/>
            <a:r>
              <a:rPr lang="en-US" sz="1400" dirty="0">
                <a:solidFill>
                  <a:srgbClr val="8B9DC3"/>
                </a:solidFill>
                <a:effectLst/>
                <a:latin typeface="QuattrocentoSans"/>
              </a:rPr>
              <a:t> University Of Wah</a:t>
            </a:r>
            <a:endParaRPr lang="en-US" sz="1400" dirty="0">
              <a:effectLst/>
            </a:endParaRPr>
          </a:p>
        </p:txBody>
      </p:sp>
      <p:sp>
        <p:nvSpPr>
          <p:cNvPr id="34" name="Text 31"/>
          <p:cNvSpPr/>
          <p:nvPr/>
        </p:nvSpPr>
        <p:spPr>
          <a:xfrm>
            <a:off x="14478000" y="8509000"/>
            <a:ext cx="1016000" cy="304800"/>
          </a:xfrm>
          <a:prstGeom prst="rect">
            <a:avLst/>
          </a:prstGeom>
          <a:noFill/>
          <a:ln/>
        </p:spPr>
        <p:txBody>
          <a:bodyPr wrap="none" lIns="0" tIns="0" rIns="0" bIns="0" rtlCol="0" anchor="ctr"/>
          <a:lstStyle/>
          <a:p>
            <a:pPr algn="r">
              <a:lnSpc>
                <a:spcPct val="140000"/>
              </a:lnSpc>
            </a:pPr>
            <a:r>
              <a:rPr lang="en-US" sz="1400" dirty="0">
                <a:solidFill>
                  <a:srgbClr val="8B9DC3"/>
                </a:solidFill>
                <a:latin typeface="QuattrocentoSans" pitchFamily="34" charset="0"/>
                <a:ea typeface="QuattrocentoSans" pitchFamily="34" charset="-122"/>
                <a:cs typeface="QuattrocentoSans" pitchFamily="34" charset="-120"/>
              </a:rPr>
              <a:t>17 / 18</a:t>
            </a:r>
            <a:endParaRPr lang="en-US" sz="14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D1F"/>
        </a:solidFill>
        <a:effectLst/>
      </p:bgPr>
    </p:bg>
    <p:spTree>
      <p:nvGrpSpPr>
        <p:cNvPr id="1" name=""/>
        <p:cNvGrpSpPr/>
        <p:nvPr/>
      </p:nvGrpSpPr>
      <p:grpSpPr>
        <a:xfrm>
          <a:off x="0" y="0"/>
          <a:ext cx="0" cy="0"/>
          <a:chOff x="0" y="0"/>
          <a:chExt cx="0" cy="0"/>
        </a:xfrm>
      </p:grpSpPr>
      <p:pic>
        <p:nvPicPr>
          <p:cNvPr id="3" name="Image 0" descr="https://kimi-img.moonshot.cn/pub/slides/okc/ofj3fxaw5mk46/mnt/agents/output/bluetooth-security/images/4_Abstract_concepts_of_cybersecurity.png"/>
          <p:cNvPicPr>
            <a:picLocks noChangeAspect="1"/>
          </p:cNvPicPr>
          <p:nvPr/>
        </p:nvPicPr>
        <p:blipFill>
          <a:blip r:embed="rId3">
            <a:alphaModFix amt="20000"/>
          </a:blip>
          <a:srcRect l="44" r="44"/>
          <a:stretch/>
        </p:blipFill>
        <p:spPr>
          <a:xfrm>
            <a:off x="0" y="0"/>
            <a:ext cx="16256000" cy="9144000"/>
          </a:xfrm>
          <a:prstGeom prst="rect">
            <a:avLst/>
          </a:prstGeom>
        </p:spPr>
      </p:pic>
      <p:sp>
        <p:nvSpPr>
          <p:cNvPr id="4" name="Shape 0"/>
          <p:cNvSpPr/>
          <p:nvPr/>
        </p:nvSpPr>
        <p:spPr>
          <a:xfrm>
            <a:off x="0" y="0"/>
            <a:ext cx="16256000" cy="9144000"/>
          </a:xfrm>
          <a:prstGeom prst="rect">
            <a:avLst/>
          </a:prstGeom>
          <a:gradFill flip="none" rotWithShape="1">
            <a:gsLst>
              <a:gs pos="0">
                <a:srgbClr val="060D1F">
                  <a:alpha val="0"/>
                </a:srgbClr>
              </a:gs>
              <a:gs pos="40000">
                <a:srgbClr val="060D1F">
                  <a:alpha val="80000"/>
                </a:srgbClr>
              </a:gs>
              <a:gs pos="100000">
                <a:srgbClr val="060D1F"/>
              </a:gs>
            </a:gsLst>
            <a:lin ang="10800000" scaled="1"/>
          </a:gradFill>
          <a:ln/>
        </p:spPr>
        <p:txBody>
          <a:bodyPr/>
          <a:lstStyle/>
          <a:p>
            <a:endParaRPr lang="en-US" dirty="0"/>
          </a:p>
        </p:txBody>
      </p:sp>
      <p:sp>
        <p:nvSpPr>
          <p:cNvPr id="5" name="Shape 1"/>
          <p:cNvSpPr/>
          <p:nvPr/>
        </p:nvSpPr>
        <p:spPr>
          <a:xfrm>
            <a:off x="1869440" y="1092200"/>
            <a:ext cx="2540000" cy="38100"/>
          </a:xfrm>
          <a:prstGeom prst="rect">
            <a:avLst/>
          </a:prstGeom>
          <a:solidFill>
            <a:srgbClr val="00D4FF"/>
          </a:solidFill>
          <a:ln/>
        </p:spPr>
      </p:sp>
      <p:sp>
        <p:nvSpPr>
          <p:cNvPr id="6" name="Text 2"/>
          <p:cNvSpPr/>
          <p:nvPr/>
        </p:nvSpPr>
        <p:spPr>
          <a:xfrm>
            <a:off x="-3464560" y="1308100"/>
            <a:ext cx="13208000" cy="1016000"/>
          </a:xfrm>
          <a:prstGeom prst="rect">
            <a:avLst/>
          </a:prstGeom>
          <a:noFill/>
          <a:ln/>
        </p:spPr>
        <p:txBody>
          <a:bodyPr wrap="none" lIns="0" tIns="0" rIns="0" bIns="0" rtlCol="0" anchor="ctr"/>
          <a:lstStyle/>
          <a:p>
            <a:pPr algn="ctr">
              <a:lnSpc>
                <a:spcPct val="100000"/>
              </a:lnSpc>
            </a:pPr>
            <a:r>
              <a:rPr lang="en-US" sz="5600" b="1" dirty="0">
                <a:solidFill>
                  <a:srgbClr val="FFFFFF"/>
                </a:solidFill>
                <a:latin typeface="Liter" pitchFamily="34" charset="0"/>
                <a:ea typeface="Liter" pitchFamily="34" charset="-122"/>
                <a:cs typeface="Liter" pitchFamily="34" charset="-120"/>
              </a:rPr>
              <a:t>Thank You</a:t>
            </a:r>
            <a:endParaRPr lang="en-US" sz="1600" dirty="0"/>
          </a:p>
        </p:txBody>
      </p:sp>
      <p:sp>
        <p:nvSpPr>
          <p:cNvPr id="7" name="Shape 3"/>
          <p:cNvSpPr/>
          <p:nvPr/>
        </p:nvSpPr>
        <p:spPr>
          <a:xfrm>
            <a:off x="1869440" y="2815590"/>
            <a:ext cx="2540000" cy="38100"/>
          </a:xfrm>
          <a:prstGeom prst="rect">
            <a:avLst/>
          </a:prstGeom>
          <a:solidFill>
            <a:srgbClr val="00D4FF"/>
          </a:solidFill>
          <a:ln/>
        </p:spPr>
      </p:sp>
      <p:sp>
        <p:nvSpPr>
          <p:cNvPr id="8" name="Text 4"/>
          <p:cNvSpPr/>
          <p:nvPr/>
        </p:nvSpPr>
        <p:spPr>
          <a:xfrm>
            <a:off x="-670560" y="2212340"/>
            <a:ext cx="7620000" cy="508000"/>
          </a:xfrm>
          <a:prstGeom prst="rect">
            <a:avLst/>
          </a:prstGeom>
          <a:noFill/>
          <a:ln/>
        </p:spPr>
        <p:txBody>
          <a:bodyPr wrap="none" lIns="0" tIns="0" rIns="0" bIns="0" rtlCol="0" anchor="ctr"/>
          <a:lstStyle/>
          <a:p>
            <a:pPr algn="ctr">
              <a:lnSpc>
                <a:spcPct val="100000"/>
              </a:lnSpc>
            </a:pPr>
            <a:r>
              <a:rPr lang="en-US" sz="2400" kern="0" spc="400" dirty="0">
                <a:solidFill>
                  <a:srgbClr val="00D4FF"/>
                </a:solidFill>
                <a:latin typeface="Liter" pitchFamily="34" charset="0"/>
                <a:ea typeface="Liter" pitchFamily="34" charset="-122"/>
                <a:cs typeface="Liter" pitchFamily="34" charset="-120"/>
              </a:rPr>
              <a:t>QUESTIONS &amp; ANSWERS</a:t>
            </a:r>
            <a:endParaRPr lang="en-US" sz="1600" dirty="0"/>
          </a:p>
        </p:txBody>
      </p:sp>
      <p:sp>
        <p:nvSpPr>
          <p:cNvPr id="9" name="Shape 5"/>
          <p:cNvSpPr/>
          <p:nvPr/>
        </p:nvSpPr>
        <p:spPr>
          <a:xfrm>
            <a:off x="1524000" y="3556000"/>
            <a:ext cx="7309104" cy="2540000"/>
          </a:xfrm>
          <a:prstGeom prst="roundRect">
            <a:avLst>
              <a:gd name="adj" fmla="val 8000"/>
            </a:avLst>
          </a:prstGeom>
          <a:solidFill>
            <a:srgbClr val="0D1E45">
              <a:alpha val="56471"/>
            </a:srgbClr>
          </a:solidFill>
          <a:ln w="12700">
            <a:solidFill>
              <a:srgbClr val="00D4FF">
                <a:alpha val="18824"/>
              </a:srgbClr>
            </a:solidFill>
            <a:prstDash val="solid"/>
          </a:ln>
        </p:spPr>
      </p:sp>
      <p:sp>
        <p:nvSpPr>
          <p:cNvPr id="10" name="Shape 6"/>
          <p:cNvSpPr/>
          <p:nvPr/>
        </p:nvSpPr>
        <p:spPr>
          <a:xfrm>
            <a:off x="2025650" y="3873500"/>
            <a:ext cx="342900" cy="457200"/>
          </a:xfrm>
          <a:custGeom>
            <a:avLst/>
            <a:gdLst/>
            <a:ahLst/>
            <a:cxnLst/>
            <a:rect l="l" t="t" r="r" b="b"/>
            <a:pathLst>
              <a:path w="342900" h="457200">
                <a:moveTo>
                  <a:pt x="278070" y="28575"/>
                </a:moveTo>
                <a:lnTo>
                  <a:pt x="285750" y="28575"/>
                </a:lnTo>
                <a:cubicBezTo>
                  <a:pt x="317272" y="28575"/>
                  <a:pt x="342900" y="54203"/>
                  <a:pt x="342900" y="85725"/>
                </a:cubicBezTo>
                <a:lnTo>
                  <a:pt x="342900" y="400050"/>
                </a:lnTo>
                <a:cubicBezTo>
                  <a:pt x="342900" y="431572"/>
                  <a:pt x="317272" y="457200"/>
                  <a:pt x="285750" y="457200"/>
                </a:cubicBezTo>
                <a:lnTo>
                  <a:pt x="57150" y="457200"/>
                </a:lnTo>
                <a:cubicBezTo>
                  <a:pt x="25628" y="457200"/>
                  <a:pt x="0" y="431572"/>
                  <a:pt x="0" y="400050"/>
                </a:cubicBezTo>
                <a:lnTo>
                  <a:pt x="0" y="85725"/>
                </a:lnTo>
                <a:cubicBezTo>
                  <a:pt x="0" y="54203"/>
                  <a:pt x="25628" y="28575"/>
                  <a:pt x="57150" y="28575"/>
                </a:cubicBezTo>
                <a:lnTo>
                  <a:pt x="64830" y="28575"/>
                </a:lnTo>
                <a:cubicBezTo>
                  <a:pt x="74652" y="11519"/>
                  <a:pt x="93137" y="0"/>
                  <a:pt x="114300" y="0"/>
                </a:cubicBezTo>
                <a:lnTo>
                  <a:pt x="228600" y="0"/>
                </a:lnTo>
                <a:cubicBezTo>
                  <a:pt x="249763" y="0"/>
                  <a:pt x="268248" y="11519"/>
                  <a:pt x="278070" y="28575"/>
                </a:cubicBezTo>
                <a:close/>
                <a:moveTo>
                  <a:pt x="221456" y="100013"/>
                </a:moveTo>
                <a:cubicBezTo>
                  <a:pt x="233333" y="100013"/>
                  <a:pt x="242888" y="90458"/>
                  <a:pt x="242888" y="78581"/>
                </a:cubicBezTo>
                <a:cubicBezTo>
                  <a:pt x="242888" y="66705"/>
                  <a:pt x="233333" y="57150"/>
                  <a:pt x="221456" y="57150"/>
                </a:cubicBezTo>
                <a:lnTo>
                  <a:pt x="121444" y="57150"/>
                </a:lnTo>
                <a:cubicBezTo>
                  <a:pt x="109567" y="57150"/>
                  <a:pt x="100013" y="66705"/>
                  <a:pt x="100013" y="78581"/>
                </a:cubicBezTo>
                <a:cubicBezTo>
                  <a:pt x="100013" y="90458"/>
                  <a:pt x="109567" y="100013"/>
                  <a:pt x="121444" y="100013"/>
                </a:cubicBezTo>
                <a:lnTo>
                  <a:pt x="221456" y="100013"/>
                </a:lnTo>
                <a:close/>
                <a:moveTo>
                  <a:pt x="246817" y="232797"/>
                </a:moveTo>
                <a:cubicBezTo>
                  <a:pt x="253067" y="222796"/>
                  <a:pt x="250031" y="209580"/>
                  <a:pt x="240030" y="203240"/>
                </a:cubicBezTo>
                <a:cubicBezTo>
                  <a:pt x="230029" y="196900"/>
                  <a:pt x="216813" y="200025"/>
                  <a:pt x="210473" y="210026"/>
                </a:cubicBezTo>
                <a:lnTo>
                  <a:pt x="155644" y="297805"/>
                </a:lnTo>
                <a:lnTo>
                  <a:pt x="131534" y="265658"/>
                </a:lnTo>
                <a:cubicBezTo>
                  <a:pt x="124391" y="256193"/>
                  <a:pt x="110996" y="254228"/>
                  <a:pt x="101531" y="261372"/>
                </a:cubicBezTo>
                <a:cubicBezTo>
                  <a:pt x="92065" y="268516"/>
                  <a:pt x="90101" y="281910"/>
                  <a:pt x="97244" y="291376"/>
                </a:cubicBezTo>
                <a:lnTo>
                  <a:pt x="140107" y="348526"/>
                </a:lnTo>
                <a:cubicBezTo>
                  <a:pt x="144304" y="354151"/>
                  <a:pt x="151090" y="357366"/>
                  <a:pt x="158145" y="357098"/>
                </a:cubicBezTo>
                <a:cubicBezTo>
                  <a:pt x="165199" y="356830"/>
                  <a:pt x="171629" y="353080"/>
                  <a:pt x="175379" y="347008"/>
                </a:cubicBezTo>
                <a:lnTo>
                  <a:pt x="246817" y="232708"/>
                </a:lnTo>
                <a:close/>
              </a:path>
            </a:pathLst>
          </a:custGeom>
          <a:solidFill>
            <a:srgbClr val="00D4FF"/>
          </a:solidFill>
          <a:ln/>
        </p:spPr>
      </p:sp>
      <p:sp>
        <p:nvSpPr>
          <p:cNvPr id="11" name="Text 7"/>
          <p:cNvSpPr/>
          <p:nvPr/>
        </p:nvSpPr>
        <p:spPr>
          <a:xfrm>
            <a:off x="2603500" y="3810000"/>
            <a:ext cx="3810000" cy="457200"/>
          </a:xfrm>
          <a:prstGeom prst="rect">
            <a:avLst/>
          </a:prstGeom>
          <a:noFill/>
          <a:ln/>
        </p:spPr>
        <p:txBody>
          <a:bodyPr wrap="none" lIns="0" tIns="0" rIns="0" bIns="0" rtlCol="0" anchor="ctr"/>
          <a:lstStyle/>
          <a:p>
            <a:pPr>
              <a:lnSpc>
                <a:spcPct val="100000"/>
              </a:lnSpc>
            </a:pPr>
            <a:r>
              <a:rPr lang="en-US" sz="2400" dirty="0">
                <a:solidFill>
                  <a:schemeClr val="bg1"/>
                </a:solidFill>
                <a:latin typeface="Quattrocento Sans" panose="020B0502050000020003" pitchFamily="34" charset="0"/>
              </a:rPr>
              <a:t>Friendly notice:</a:t>
            </a:r>
            <a:endParaRPr lang="en-US" sz="1600" dirty="0"/>
          </a:p>
        </p:txBody>
      </p:sp>
      <p:sp>
        <p:nvSpPr>
          <p:cNvPr id="12" name="Text 8"/>
          <p:cNvSpPr>
            <a:spLocks noGrp="1" noRot="1" noMove="1" noResize="1" noEditPoints="1" noAdjustHandles="1" noChangeArrowheads="1" noChangeShapeType="1"/>
          </p:cNvSpPr>
          <p:nvPr/>
        </p:nvSpPr>
        <p:spPr>
          <a:xfrm>
            <a:off x="1968500" y="4445000"/>
            <a:ext cx="12319000" cy="1397000"/>
          </a:xfrm>
          <a:prstGeom prst="rect">
            <a:avLst/>
          </a:prstGeom>
          <a:noFill/>
          <a:ln/>
        </p:spPr>
        <p:txBody>
          <a:bodyPr wrap="square" lIns="0" tIns="0" rIns="0" bIns="0" rtlCol="0" anchor="t"/>
          <a:lstStyle/>
          <a:p>
            <a:r>
              <a:rPr lang="en-US" sz="1700" dirty="0">
                <a:solidFill>
                  <a:schemeClr val="bg1"/>
                </a:solidFill>
                <a:latin typeface="Quattrocento Sans" panose="020B0502050000020003" pitchFamily="34" charset="0"/>
              </a:rPr>
              <a:t>My friend has Down syndrome and gets super excited </a:t>
            </a:r>
          </a:p>
          <a:p>
            <a:r>
              <a:rPr lang="en-US" sz="1700" dirty="0">
                <a:solidFill>
                  <a:schemeClr val="bg1"/>
                </a:solidFill>
                <a:latin typeface="Quattrocento Sans" panose="020B0502050000020003" pitchFamily="34" charset="0"/>
              </a:rPr>
              <a:t>when people start asking him lots of questions.</a:t>
            </a:r>
          </a:p>
          <a:p>
            <a:r>
              <a:rPr lang="en-US" sz="1700" dirty="0">
                <a:solidFill>
                  <a:schemeClr val="bg1"/>
                </a:solidFill>
                <a:latin typeface="Quattrocento Sans" panose="020B0502050000020003" pitchFamily="34" charset="0"/>
              </a:rPr>
              <a:t> If you ask him one question, be prepared for a full TED Talk! 😄</a:t>
            </a:r>
          </a:p>
          <a:p>
            <a:r>
              <a:rPr lang="en-US" sz="1700" dirty="0">
                <a:solidFill>
                  <a:schemeClr val="bg1"/>
                </a:solidFill>
                <a:latin typeface="Quattrocento Sans" panose="020B0502050000020003" pitchFamily="34" charset="0"/>
              </a:rPr>
              <a:t>So please go easy on the questions and let him enjoy</a:t>
            </a:r>
          </a:p>
          <a:p>
            <a:r>
              <a:rPr lang="en-US" sz="1700" dirty="0">
                <a:solidFill>
                  <a:schemeClr val="bg1"/>
                </a:solidFill>
                <a:latin typeface="Quattrocento Sans" panose="020B0502050000020003" pitchFamily="34" charset="0"/>
              </a:rPr>
              <a:t> the session comfortably. Thanks for understanding!</a:t>
            </a:r>
          </a:p>
        </p:txBody>
      </p:sp>
      <p:sp>
        <p:nvSpPr>
          <p:cNvPr id="13" name="Text 9"/>
          <p:cNvSpPr/>
          <p:nvPr/>
        </p:nvSpPr>
        <p:spPr>
          <a:xfrm>
            <a:off x="2540000" y="6477000"/>
            <a:ext cx="11176000" cy="381000"/>
          </a:xfrm>
          <a:prstGeom prst="rect">
            <a:avLst/>
          </a:prstGeom>
          <a:noFill/>
          <a:ln/>
        </p:spPr>
        <p:txBody>
          <a:bodyPr wrap="none" lIns="0" tIns="0" rIns="0" bIns="0" rtlCol="0" anchor="ctr"/>
          <a:lstStyle/>
          <a:p>
            <a:pPr algn="ctr">
              <a:lnSpc>
                <a:spcPct val="100000"/>
              </a:lnSpc>
            </a:pPr>
            <a:endParaRPr lang="en-US" sz="1600" dirty="0"/>
          </a:p>
        </p:txBody>
      </p:sp>
      <p:sp>
        <p:nvSpPr>
          <p:cNvPr id="14" name="Text 10"/>
          <p:cNvSpPr/>
          <p:nvPr/>
        </p:nvSpPr>
        <p:spPr>
          <a:xfrm>
            <a:off x="2566416" y="7073900"/>
            <a:ext cx="11176000" cy="355600"/>
          </a:xfrm>
          <a:prstGeom prst="rect">
            <a:avLst/>
          </a:prstGeom>
          <a:noFill/>
          <a:ln/>
        </p:spPr>
        <p:txBody>
          <a:bodyPr wrap="none" lIns="0" tIns="0" rIns="0" bIns="0" rtlCol="0" anchor="ctr"/>
          <a:lstStyle/>
          <a:p>
            <a:pPr algn="ctr"/>
            <a:r>
              <a:rPr lang="en-US" sz="1600" dirty="0">
                <a:solidFill>
                  <a:srgbClr val="8B9DC3"/>
                </a:solidFill>
                <a:effectLst/>
                <a:latin typeface="QuattrocentoSans"/>
              </a:rPr>
              <a:t> University Of Wah</a:t>
            </a:r>
            <a:r>
              <a:rPr lang="en-US" sz="1600" dirty="0"/>
              <a:t>  </a:t>
            </a:r>
            <a:r>
              <a:rPr lang="en-US" sz="1500" dirty="0">
                <a:solidFill>
                  <a:srgbClr val="8B9DC3"/>
                </a:solidFill>
                <a:latin typeface="Quattrocento Sans" pitchFamily="34" charset="0"/>
                <a:ea typeface="Quattrocento Sans" pitchFamily="34" charset="-122"/>
                <a:cs typeface="Quattrocento Sans" pitchFamily="34" charset="-120"/>
              </a:rPr>
              <a:t>| Wireless and Mobile Security</a:t>
            </a:r>
            <a:endParaRPr lang="en-US" sz="1600" dirty="0"/>
          </a:p>
        </p:txBody>
      </p:sp>
      <p:sp>
        <p:nvSpPr>
          <p:cNvPr id="15" name="Shape 11"/>
          <p:cNvSpPr/>
          <p:nvPr/>
        </p:nvSpPr>
        <p:spPr>
          <a:xfrm>
            <a:off x="7670800" y="7493000"/>
            <a:ext cx="914400" cy="914400"/>
          </a:xfrm>
          <a:custGeom>
            <a:avLst/>
            <a:gdLst/>
            <a:ahLst/>
            <a:cxnLst/>
            <a:rect l="l" t="t" r="r" b="b"/>
            <a:pathLst>
              <a:path w="914400" h="914400">
                <a:moveTo>
                  <a:pt x="457200" y="0"/>
                </a:moveTo>
                <a:cubicBezTo>
                  <a:pt x="465415" y="0"/>
                  <a:pt x="473631" y="1786"/>
                  <a:pt x="481132" y="5179"/>
                </a:cubicBezTo>
                <a:lnTo>
                  <a:pt x="817602" y="147876"/>
                </a:lnTo>
                <a:cubicBezTo>
                  <a:pt x="856893" y="164485"/>
                  <a:pt x="886182" y="203240"/>
                  <a:pt x="886004" y="250031"/>
                </a:cubicBezTo>
                <a:cubicBezTo>
                  <a:pt x="885111" y="427196"/>
                  <a:pt x="812244" y="751344"/>
                  <a:pt x="504527" y="898684"/>
                </a:cubicBezTo>
                <a:cubicBezTo>
                  <a:pt x="474702" y="912971"/>
                  <a:pt x="440055" y="912971"/>
                  <a:pt x="410230" y="898684"/>
                </a:cubicBezTo>
                <a:cubicBezTo>
                  <a:pt x="102334" y="751344"/>
                  <a:pt x="29647" y="427196"/>
                  <a:pt x="28754" y="250031"/>
                </a:cubicBezTo>
                <a:cubicBezTo>
                  <a:pt x="28575" y="203240"/>
                  <a:pt x="57864" y="164485"/>
                  <a:pt x="97155" y="147876"/>
                </a:cubicBezTo>
                <a:lnTo>
                  <a:pt x="433447" y="5179"/>
                </a:lnTo>
                <a:cubicBezTo>
                  <a:pt x="440948" y="1786"/>
                  <a:pt x="448985" y="0"/>
                  <a:pt x="457200" y="0"/>
                </a:cubicBezTo>
                <a:close/>
                <a:moveTo>
                  <a:pt x="457200" y="119301"/>
                </a:moveTo>
                <a:lnTo>
                  <a:pt x="457200" y="794564"/>
                </a:lnTo>
                <a:cubicBezTo>
                  <a:pt x="703659" y="675263"/>
                  <a:pt x="769918" y="410944"/>
                  <a:pt x="771525" y="252710"/>
                </a:cubicBezTo>
                <a:lnTo>
                  <a:pt x="457200" y="119479"/>
                </a:lnTo>
                <a:lnTo>
                  <a:pt x="457200" y="119479"/>
                </a:lnTo>
                <a:close/>
              </a:path>
            </a:pathLst>
          </a:custGeom>
          <a:solidFill>
            <a:srgbClr val="00D4FF">
              <a:alpha val="40000"/>
            </a:srgbClr>
          </a:solidFill>
          <a:ln/>
        </p:spPr>
      </p:sp>
      <p:sp>
        <p:nvSpPr>
          <p:cNvPr id="16" name="Shape 12"/>
          <p:cNvSpPr/>
          <p:nvPr/>
        </p:nvSpPr>
        <p:spPr>
          <a:xfrm>
            <a:off x="0" y="8890000"/>
            <a:ext cx="16256000" cy="254000"/>
          </a:xfrm>
          <a:prstGeom prst="rect">
            <a:avLst/>
          </a:prstGeom>
          <a:gradFill flip="none" rotWithShape="1">
            <a:gsLst>
              <a:gs pos="0">
                <a:srgbClr val="00D4FF">
                  <a:alpha val="0"/>
                </a:srgbClr>
              </a:gs>
              <a:gs pos="50000">
                <a:srgbClr val="00D4FF"/>
              </a:gs>
              <a:gs pos="100000">
                <a:srgbClr val="00D4FF">
                  <a:alpha val="0"/>
                </a:srgbClr>
              </a:gs>
            </a:gsLst>
            <a:lin ang="0" scaled="1"/>
          </a:gradFill>
          <a:ln/>
        </p:spPr>
      </p:sp>
      <p:pic>
        <p:nvPicPr>
          <p:cNvPr id="20" name="Picture 19">
            <a:extLst>
              <a:ext uri="{FF2B5EF4-FFF2-40B4-BE49-F238E27FC236}">
                <a16:creationId xmlns:a16="http://schemas.microsoft.com/office/drawing/2014/main" id="{74D98148-6537-A069-1C5D-10571A1D8E63}"/>
              </a:ext>
            </a:extLst>
          </p:cNvPr>
          <p:cNvPicPr>
            <a:picLocks noChangeAspect="1"/>
          </p:cNvPicPr>
          <p:nvPr/>
        </p:nvPicPr>
        <p:blipFill>
          <a:blip r:embed="rId4"/>
          <a:stretch>
            <a:fillRect/>
          </a:stretch>
        </p:blipFill>
        <p:spPr>
          <a:xfrm>
            <a:off x="9800336" y="212725"/>
            <a:ext cx="7053580" cy="8718550"/>
          </a:xfrm>
          <a:prstGeom prst="rect">
            <a:avLst/>
          </a:prstGeom>
        </p:spPr>
      </p:pic>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3245</Words>
  <Application>Microsoft Office PowerPoint</Application>
  <PresentationFormat>Custom</PresentationFormat>
  <Paragraphs>384</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QuattrocentoSans</vt:lpstr>
      <vt:lpstr>Arial</vt:lpstr>
      <vt:lpstr>Liter</vt:lpstr>
      <vt:lpstr>Quattrocento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Bluetooth MAP-Based SMS Monitoring and OTP Authentication Security Analysis</dc:title>
  <dc:subject>Bluetooth MAP-Based SMS Monitoring and OTP Authentication Security Analysis</dc:subject>
  <dc:creator>Kimi</dc:creator>
  <cp:lastModifiedBy>MEMEHSN ..</cp:lastModifiedBy>
  <cp:revision>3</cp:revision>
  <dcterms:created xsi:type="dcterms:W3CDTF">2026-06-08T00:36:57Z</dcterms:created>
  <dcterms:modified xsi:type="dcterms:W3CDTF">2026-06-08T01:08:41Z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{"Label":"Bluetooth MAP-Based SMS Monitoring and OTP Authentication Security Analysis","ContentProducer":"001191110108MACG2KBH8F10000","ProduceID":"19ea4a2a-73b2-87db-8000-0000d0a777ce","ReservedCode1":"","ContentPropagator":"001191110108MACG2KBH8F20000","PropagateID":"19ea4a2a-73b2-87db-8000-0000d0a777ce","ReservedCode2":""}</vt:lpwstr>
  </property>
</Properties>
</file>